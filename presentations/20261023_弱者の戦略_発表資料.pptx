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発表資料" id="{1a563e09-269e-5fe6-fe97-0ddce81762a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3年間・10物件（万円）</a:t>
            </a:r>
          </a:p>
        </c:rich>
      </c:tx>
      <c:layout/>
      <c:overlay val="0"/>
    </c:title>
    <c:autoTitleDeleted val="0"/>
    <c:plotArea>
      <c:layout/>
      <c:barChart>
        <c:barDir val="col"/>
        <c:grouping val="clustered"/>
        <c:varyColors val="0"/>
        <c:ser>
          <c:idx val="0"/>
          <c:order val="0"/>
          <c:tx>
            <c:strRef>
              <c:f>Sheet1!$B$1</c:f>
              <c:strCache>
                <c:ptCount val="1"/>
                <c:pt idx="0">
                  <c:v>金額（万円）</c:v>
                </c:pt>
              </c:strCache>
            </c:strRef>
          </c:tx>
          <c:spPr>
            <a:solidFill>
              <a:srgbClr val="6B7A90"/>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6B7A90"/>
              </a:solidFill>
              <a:effectLst/>
            </c:spPr>
          </c:dPt>
          <c:dPt>
            <c:idx val="1"/>
            <c:invertIfNegative val="0"/>
            <c:bubble3D val="0"/>
            <c:spPr>
              <a:solidFill>
                <a:srgbClr val="2E7D6B"/>
              </a:solidFill>
              <a:effectLst/>
            </c:spPr>
          </c:dPt>
          <c:cat>
            <c:multiLvlStrRef>
              <c:f>Sheet1!$A$2:$A$3</c:f>
              <c:multiLvlStrCache>
                <c:ptCount val="2"/>
                <c:lvl>
                  <c:pt idx="0">
                    <c:v>購入価格の合計</c:v>
                  </c:pt>
                  <c:pt idx="1">
                    <c:v>融資額の合計</c:v>
                  </c:pt>
                </c:lvl>
              </c:multiLvlStrCache>
            </c:multiLvlStrRef>
          </c:cat>
          <c:val>
            <c:numRef>
              <c:f>Sheet1!$B$2:$B$3</c:f>
              <c:numCache>
                <c:formatCode>General</c:formatCode>
                <c:ptCount val="2"/>
                <c:pt idx="0">
                  <c:v>121200</c:v>
                </c:pt>
                <c:pt idx="1">
                  <c:v>121700</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445"/>
                </a:solidFill>
                <a:latin typeface="+mn-lt"/>
              </a:defRPr>
            </a:pPr>
            <a:endParaRPr lang="en-US"/>
          </a:p>
        </c:txPr>
        <c:crossAx val="2094734552"/>
        <c:crosses val="autoZero"/>
        <c:auto val="1"/>
        <c:lblAlgn val="ctr"/>
        <c:noMultiLvlLbl val="1"/>
      </c:catAx>
      <c:valAx>
        <c:axId val="2094734552"/>
        <c:scaling>
          <c:orientation val="minMax"/>
          <c:max val="150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購入価格と担保評価（万円）</a:t>
            </a:r>
          </a:p>
        </c:rich>
      </c:tx>
      <c:layout/>
      <c:overlay val="0"/>
    </c:title>
    <c:autoTitleDeleted val="0"/>
    <c:plotArea>
      <c:layout/>
      <c:barChart>
        <c:barDir val="col"/>
        <c:grouping val="clustered"/>
        <c:varyColors val="0"/>
        <c:ser>
          <c:idx val="0"/>
          <c:order val="0"/>
          <c:tx>
            <c:strRef>
              <c:f>Sheet1!$B$1</c:f>
              <c:strCache>
                <c:ptCount val="1"/>
                <c:pt idx="0">
                  <c:v>金額（万円）</c:v>
                </c:pt>
              </c:strCache>
            </c:strRef>
          </c:tx>
          <c:spPr>
            <a:solidFill>
              <a:srgbClr val="6B7A90"/>
            </a:solidFill>
            <a:effectLst/>
          </c:spPr>
          <c:invertIfNegative val="0"/>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6B7A90"/>
              </a:solidFill>
              <a:effectLst/>
            </c:spPr>
          </c:dPt>
          <c:dPt>
            <c:idx val="1"/>
            <c:invertIfNegative val="0"/>
            <c:bubble3D val="0"/>
            <c:spPr>
              <a:solidFill>
                <a:srgbClr val="2E7D6B"/>
              </a:solidFill>
              <a:effectLst/>
            </c:spPr>
          </c:dPt>
          <c:dPt>
            <c:idx val="2"/>
            <c:invertIfNegative val="0"/>
            <c:bubble3D val="0"/>
            <c:spPr>
              <a:solidFill>
                <a:srgbClr val="E0A030"/>
              </a:solidFill>
              <a:effectLst/>
            </c:spPr>
          </c:dPt>
          <c:cat>
            <c:multiLvlStrRef>
              <c:f>Sheet1!$A$2:$A$4</c:f>
              <c:multiLvlStrCache>
                <c:ptCount val="3"/>
                <c:lvl>
                  <c:pt idx="0">
                    <c:v>購入価格</c:v>
                  </c:pt>
                  <c:pt idx="1">
                    <c:v>近隣事例評価</c:v>
                  </c:pt>
                  <c:pt idx="2">
                    <c:v>収益還元評価</c:v>
                  </c:pt>
                </c:lvl>
              </c:multiLvlStrCache>
            </c:multiLvlStrRef>
          </c:cat>
          <c:val>
            <c:numRef>
              <c:f>Sheet1!$B$2:$B$4</c:f>
              <c:numCache>
                <c:formatCode>General</c:formatCode>
                <c:ptCount val="3"/>
                <c:pt idx="0">
                  <c:v>25000</c:v>
                </c:pt>
                <c:pt idx="1">
                  <c:v>52683</c:v>
                </c:pt>
                <c:pt idx="2">
                  <c:v>70658</c:v>
                </c:pt>
              </c:numCache>
            </c:numRef>
          </c:val>
        </c:ser>
        <c:dLbls>
          <c:numFmt formatCode="#,##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3445"/>
                </a:solidFill>
                <a:latin typeface="+mn-lt"/>
              </a:defRPr>
            </a:pPr>
            <a:endParaRPr lang="en-US"/>
          </a:p>
        </c:txPr>
        <c:crossAx val="2094734552"/>
        <c:crosses val="autoZero"/>
        <c:auto val="1"/>
        <c:lblAlgn val="ctr"/>
        <c:noMultiLvlLbl val="1"/>
      </c:catAx>
      <c:valAx>
        <c:axId val="2094734552"/>
        <c:scaling>
          <c:orientation val="minMax"/>
          <c:max val="80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A"/>
                </a:solidFill>
                <a:latin typeface="+mn-lt"/>
              </a:defRPr>
            </a:pPr>
            <a:r>
              <a:rPr sz="1400" b="0" i="0" u="none" strike="noStrike">
                <a:solidFill>
                  <a:srgbClr val="1B1F2A"/>
                </a:solidFill>
                <a:latin typeface="+mn-lt"/>
              </a:rPr>
              <a:t>融資額 ÷ 購入価格（%）</a:t>
            </a:r>
          </a:p>
        </c:rich>
      </c:tx>
      <c:layout/>
      <c:overlay val="0"/>
    </c:title>
    <c:autoTitleDeleted val="0"/>
    <c:plotArea>
      <c:layout/>
      <c:barChart>
        <c:barDir val="col"/>
        <c:grouping val="clustered"/>
        <c:varyColors val="0"/>
        <c:ser>
          <c:idx val="0"/>
          <c:order val="0"/>
          <c:tx>
            <c:strRef>
              <c:f>Sheet1!$B$1</c:f>
              <c:strCache>
                <c:ptCount val="1"/>
                <c:pt idx="0">
                  <c:v>融資比率（%）</c:v>
                </c:pt>
              </c:strCache>
            </c:strRef>
          </c:tx>
          <c:spPr>
            <a:solidFill>
              <a:srgbClr val="6B7A90"/>
            </a:solidFill>
            <a:effectLst/>
          </c:spPr>
          <c:invertIfNegative val="0"/>
          <c:dLbls>
            <c:numFmt formatCode="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6B7A90"/>
              </a:solidFill>
              <a:effectLst/>
            </c:spPr>
          </c:dPt>
          <c:dPt>
            <c:idx val="1"/>
            <c:invertIfNegative val="0"/>
            <c:bubble3D val="0"/>
            <c:spPr>
              <a:solidFill>
                <a:srgbClr val="6B7A90"/>
              </a:solidFill>
              <a:effectLst/>
            </c:spPr>
          </c:dPt>
          <c:dPt>
            <c:idx val="2"/>
            <c:invertIfNegative val="0"/>
            <c:bubble3D val="0"/>
            <c:spPr>
              <a:solidFill>
                <a:srgbClr val="2E7D6B"/>
              </a:solidFill>
              <a:effectLst/>
            </c:spPr>
          </c:dPt>
          <c:dPt>
            <c:idx val="3"/>
            <c:invertIfNegative val="0"/>
            <c:bubble3D val="0"/>
            <c:spPr>
              <a:solidFill>
                <a:srgbClr val="2E7D6B"/>
              </a:solidFill>
              <a:effectLst/>
            </c:spPr>
          </c:dPt>
          <c:dPt>
            <c:idx val="4"/>
            <c:invertIfNegative val="0"/>
            <c:bubble3D val="0"/>
            <c:spPr>
              <a:solidFill>
                <a:srgbClr val="2E7D6B"/>
              </a:solidFill>
              <a:effectLst/>
            </c:spPr>
          </c:dPt>
          <c:dPt>
            <c:idx val="5"/>
            <c:invertIfNegative val="0"/>
            <c:bubble3D val="0"/>
            <c:spPr>
              <a:solidFill>
                <a:srgbClr val="2E7D6B"/>
              </a:solidFill>
              <a:effectLst/>
            </c:spPr>
          </c:dPt>
          <c:dPt>
            <c:idx val="6"/>
            <c:invertIfNegative val="0"/>
            <c:bubble3D val="0"/>
            <c:spPr>
              <a:solidFill>
                <a:srgbClr val="2E7D6B"/>
              </a:solidFill>
              <a:effectLst/>
            </c:spPr>
          </c:dPt>
          <c:dPt>
            <c:idx val="7"/>
            <c:invertIfNegative val="0"/>
            <c:bubble3D val="0"/>
            <c:spPr>
              <a:solidFill>
                <a:srgbClr val="2E7D6B"/>
              </a:solidFill>
              <a:effectLst/>
            </c:spPr>
          </c:dPt>
          <c:dPt>
            <c:idx val="8"/>
            <c:invertIfNegative val="0"/>
            <c:bubble3D val="0"/>
            <c:spPr>
              <a:solidFill>
                <a:srgbClr val="6B7A90"/>
              </a:solidFill>
              <a:effectLst/>
            </c:spPr>
          </c:dPt>
          <c:dPt>
            <c:idx val="9"/>
            <c:invertIfNegative val="0"/>
            <c:bubble3D val="0"/>
            <c:spPr>
              <a:solidFill>
                <a:srgbClr val="2E7D6B"/>
              </a:solidFill>
              <a:effectLst/>
            </c:spPr>
          </c:dPt>
          <c:dPt>
            <c:idx val="10"/>
            <c:invertIfNegative val="0"/>
            <c:bubble3D val="0"/>
            <c:spPr>
              <a:solidFill>
                <a:srgbClr val="2E7D6B"/>
              </a:solidFill>
              <a:effectLst/>
            </c:spPr>
          </c:dPt>
          <c:cat>
            <c:multiLvlStrRef>
              <c:f>Sheet1!$A$2:$A$12</c:f>
              <c:multiLvlStrCache>
                <c:ptCount val="11"/>
                <c:lvl>
                  <c:pt idx="0">
                    <c:v>市原</c:v>
                  </c:pt>
                  <c:pt idx="1">
                    <c:v>鹿沼</c:v>
                  </c:pt>
                  <c:pt idx="2">
                    <c:v>美濃加茂</c:v>
                  </c:pt>
                  <c:pt idx="3">
                    <c:v>松山</c:v>
                  </c:pt>
                  <c:pt idx="4">
                    <c:v>池田</c:v>
                  </c:pt>
                  <c:pt idx="5">
                    <c:v>岐阜</c:v>
                  </c:pt>
                  <c:pt idx="6">
                    <c:v>可児</c:v>
                  </c:pt>
                  <c:pt idx="7">
                    <c:v>北方A</c:v>
                  </c:pt>
                  <c:pt idx="8">
                    <c:v>北方B</c:v>
                  </c:pt>
                  <c:pt idx="9">
                    <c:v>瑞穂</c:v>
                  </c:pt>
                  <c:pt idx="10">
                    <c:v>亀山</c:v>
                  </c:pt>
                </c:lvl>
              </c:multiLvlStrCache>
            </c:multiLvlStrRef>
          </c:cat>
          <c:val>
            <c:numRef>
              <c:f>Sheet1!$B$2:$B$12</c:f>
              <c:numCache>
                <c:formatCode>General</c:formatCode>
                <c:ptCount val="11"/>
                <c:pt idx="0">
                  <c:v>87.5</c:v>
                </c:pt>
                <c:pt idx="1">
                  <c:v>92.6</c:v>
                </c:pt>
                <c:pt idx="2">
                  <c:v>108.4</c:v>
                </c:pt>
                <c:pt idx="3">
                  <c:v>100</c:v>
                </c:pt>
                <c:pt idx="4">
                  <c:v>100</c:v>
                </c:pt>
                <c:pt idx="5">
                  <c:v>104.8</c:v>
                </c:pt>
                <c:pt idx="6">
                  <c:v>105.5</c:v>
                </c:pt>
                <c:pt idx="7">
                  <c:v>106.7</c:v>
                </c:pt>
                <c:pt idx="8">
                  <c:v>96</c:v>
                </c:pt>
                <c:pt idx="9">
                  <c:v>125</c:v>
                </c:pt>
                <c:pt idx="10">
                  <c:v>100</c:v>
                </c:pt>
              </c:numCache>
            </c:numRef>
          </c:val>
        </c:ser>
        <c:dLbls>
          <c:numFmt formatCode="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445"/>
                </a:solidFill>
                <a:latin typeface="+mn-lt"/>
              </a:defRPr>
            </a:pPr>
            <a:endParaRPr lang="en-US"/>
          </a:p>
        </c:txPr>
        <c:crossAx val="2094734552"/>
        <c:crosses val="autoZero"/>
        <c:auto val="1"/>
        <c:lblAlgn val="ctr"/>
        <c:noMultiLvlLbl val="1"/>
      </c:catAx>
      <c:valAx>
        <c:axId val="2094734552"/>
        <c:scaling>
          <c:orientation val="minMax"/>
          <c:max val="1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 1分】今日は、お金も信用もない人間が、最初の3年間で年間家賃収入1億円をつくった方法をお話しします。現在は約1.44億円です。考え方はMDさんから学んだものと同じロジックです。すべてを貫くテーマは一つ、いかにお金を使わずに物件を増やすか。そして自力がついたら、再生と新築という次の段階に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2021年6月から2024年12月までの約3年間で10物件を購入しました。購入価格の合計は12.12億円。これに対して引いた融資の合計は12.17億円で、購入価格の100.4%です。瑞穂市の物件では、公庫から1,500万円の追加融資も引いています。つまり、購入価格の全額を融資でまかない、さらに上回っています。個別に見ても、価格と同額以上の融資が付いた物件が8つあります。この物件群の年間家賃は約1.3億円。その後、2025年11月の亀山を加えて、現在は約1.44億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歌舞伎町生まれ、歌舞伎町育ちの酒屋の息子です。曽祖父は戦後の歌舞伎町復興の実行委員として動き、歌舞伎町振興組合の発足や歌舞伎座の誘致に関わりました。実家はこの街のビルです。商売と街づくりを間近で見て育ち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【1分】歌舞伎町の祭りでは今も神輿を担いでいます。この街の人と商売に育ててもらったことが、人との縁で物件を買い進める今のスタイルにもつながっています。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大学卒業後は銀行、その後は総合商社のプラント営業で海外を飛び回りました。お金の流れと融資の考え方、交渉の基本はこの時代に学んでいます。その後、実家の事業をのれん分けしてコンビニ会社をスター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一番増やしたときは14店舗。現在は7店舗まで集約しています。数字を見るほど、人手不足と過当競争で収益性が悪化していくのを肌で感じました。10年後の収益予想が全店舗赤字になった夜の怖さが、次の一歩の原動力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コンビニの収益悪化を感じながら、再びいくつか事業にトライしました。エニタイムフィットネス、ブルーボトルコーヒー、八百屋、コーヒーショップ、コインランドリー。それぞれ学びがありましたが、最終的に残ったのはどれも『自分の時間と人手を食う』という共通点でした。（※ここは発表前にご自身の言葉に直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【2分】G's Academyでプログラミングを学び、コンビニのアルバイトスタッフをシェアするアプリProShiftを開発して、2019年のGlobal Geek Auditionで優勝しました。同期の仲間と作ったものです。数字と根拠で説明する経験が、のちの融資交渉にもつながっています。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【2分】コンビニもアプリも、人と時間を使う事業でした。不動産は、仕組みを作れば人手がほとんどいらない。しかも銀行が融資という形で背中を押してくれる。ここから『弱者の戦略』が始まります。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今日の話は、この3段階で貫いています。1段階目は、お金を使わずに物件を増やす。積算が価格を上回る物件を、フルローンやオーバーローンで買う。10物件の購入価格に対して、融資は100.4%でした。2段階目は、自力をつける。満室で返済し、決算書を整えて、追加融資を引き続ける。3段階目は、自力がついてから、再生と新築に進む。この順番がMDさん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の考え方は、MDさんの戦略と同じロジックです。弱者とは、自己資金も属性も強くない人のことです。強者は都心の一等地を現金や大きな信用で買えますが、私たちはそうではない。だから別のルールで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【3分】この4つが揃う物件だけを集中して買ってきました。逆に、1つでも欠けたら買いません。築20年で利回り9〜10%の物件が多いです。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【4分】銀行は、物件を担保として見ます。積算価格が売買価格より高ければ、銀行から見て担保が十分あることになる。だから自己資金を多く求められにくい。家賃収入で返済できることが大前提です。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実際に融資をお願いしたときの事業計画書の数字です（概要）。購入価格2.5億円に対し、収益還元法の評価は約7.07億円、近隣売買事例からの評価は約5.27億円。評価が購入価格を大きく上回るため、頭金1,000万円で2.4億円の融資を受けました。※評価額は融資申込時の事業計画書の概算値で、実際とは一部異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買う前の調査は3段階です。まず仲介会社に聞く。謄本で借入額と経過年数から売主の残債を割り出せば、指値の材料になります。検査済証の有無も確認します。次に現地。地盤、越境、接道、外壁のクラック、屋上防水、雨漏り跡、そしてレントロール通りに人が住んでいるか。メーターや郵便受けまで見ます。最後に客付け会社に聞く。賃貸需要はあるか、近隣のライバル物件と家賃はどうか、10年後の家賃下落はどの程度か。一社ごとにチェックシートを埋め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これが弱者の戦略の核心です。購入価格に対する融資額の比率を並べました。100%を超える物件、つまり諸費用まで含めて融資が付いた物件が8つあります。物件の積算と収益力が評価され、自己資金をほとんど入れずに買えています。※比率は融資額÷購入価格（頭金控除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これまでに購入した11物件です。ほぼ全てが築20年前後のRCで、利回りは8.5〜11.6%。融資は価格と同額か、それを超える物件が多いのが特徴です。市原の1棟目は売却済みで、現在は10棟、178室とテナント4で運営しています。瑞穂市は築39年ですが利回り30%の物件で、金利と期間は短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2021年6月に、千葉県市原市の軽量鉄骨アパートを個人で購入。頭金500万円でした。同じ年の年末に入会して、2022年3月から地方RCを一気に買い進めます。2024年12月までの約3年で年間家賃は1億円を超え、約1.3億円になりました。そして2025年11月に三重県亀山市を満額融資で購入し、現在は年間家賃約1.44億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決算書は税理士さんに丸投げせず、今期どこに着地させれば銀行に評価されるかを自分で決めて、税理士さんと形にします。確定前に主要銀行と話して微修正することもあります。見るのは3つ。貸借対照表は純資産がプラスで前期より増えていること。損益計算書は経常利益がプラス。物件を買った期は取得費が特別損失になって純利益が赤字でも、経常利益を黒字にして、翌期は黒字化すると説明できます。最後に簡易キャッシュフロー、税引後利益に減価償却を足して元本返済を引いた額がプラスであること。信用金庫さんは特にここを見ます。（決算書の肝の資料よ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債務償還年数は、借入の実質的な返済にあと何年かかるかを見る指標です。目標は、各物件の残債で加重平均した融資の残り年数以内。経験則では、都銀は耐用年数残以内、地銀は25〜27年、信金は30年以内くらいです。ほかに流動比率、固定長期適合率、インタレストカバレッジレシオを見ます。そして大事な注意点。フルローン、オーバーローンは規模を広げる段階では有効ですが、いつまでも正解ではありません。余裕が出たら頭金を入れて負債を減らし、債務償還年数を縮めることが、次の融資を引き続ける手になります。（決算書の肝の資料よ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空室を埋めるときの考え方です。MDさんから教わった、サラリーマン大家TWさんの資料から学びました。築40年、30室中18室が空室だった小田原の物件を、約8か月で満室にして利回り20%超にした実例です。5つの関門は、選ばれる理由を作る、一人でも多くの人に知ってもらう、内覧に行きたいと思ってもらう、内覧で住みたいと思ってもらう、引っ越しのハードルを下げる。競合は、同じ家賃帯の他の物件。その中で相対的に価値が高ければ選ばれます。（出典：MDさんから学んだ、サラリーマン大家TWさんの2013年の奮闘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私の物件の実例です。静岡県富士市のRCマンション。賃料49,800円で、広告料3か月、敷金礼金ゼロ、ネットとケーブルテレビ無料、駐車場2台無料という条件にして、募集内容をFAXで客付け会社に届けました。大事なのは、条件を整えることと、客付け会社に動いてもら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お金を使わずに買った物件が、満室の家賃で返済しながら現金を残していく。決算書が整うので次の融資が通る。この繰り返しで自力がつきます。そして自力がついたら、再生と新築という次の段階に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自力がついたら、まず再生です。岐阜市のRCマンション、ラーク21の例です。高圧洗浄のあと、下塗り・中塗り・上塗りと外壁を塗り替え、鉄部、駐輪場、ガス庫も塗装し、雨樋も交換しました。写真のとおり、外観の第一印象が大きく変わります。物件の見た目が変わると、募集のときの強み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分】工事が終わると、同じ建物とは思えない外観になります。鹿沼市のRCマンションでも、高圧洗浄、フェンス新設、共用部の塗装などを行い、入居者さまから好評をいただきました。静岡県富士市では、内装を新しくして、ネット無料などの条件を整えて募集しました。再生は、少ないお金で物件の価値と募集力を上げる方法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【3分】地方は買いやすく、インカムも厚い。ただ、出口と資産性の面で都心には敵わない。持ってよし、売ってよしの資産を持ちたい。それが東京に戻る理由です。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【3分】西武新宿線の武蔵関駅から徒歩10分。土地は242㎡、約73坪。壁式RC造、地下1階・地上3階建てで、17戸の計画です。建物は設計着手済みで、設計は岐阜の希望社さんにお願いしています。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2026年10月に設計着手、2027年5月に設計完了の予定。その後、確認申請、ゼネコン選定を経て着工。工期は約10か月を想定し、竣工は2028年3月ごろを目標にしています。総事業費は4.2億円で進めていますが、積算で確定させ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【3分】新築は地方中古と違い、判断を間違うと取り返しがつきません。だから自分の基準を持っています。区ごとのワンルーム条例も必ず照合し、抵触する場合は設計を変更します。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【4分】強い話ばかりしても信用されませんので、リスクもお話しします。空室、金利、建築費、出口。それぞれに備えを持っています。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【3分】2026〜2028年は関町南の新築を軸に、他の新築計画も進めていきます。地方は維持しつつ、徐々に都市部の比率を上げていきます。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私は何も持っていない状態から始めました。特別な才能ではなく、MDさんの考え方どおり、条件を絞り、お金を使わずに買い、インカムで自力をつけただけです。自力がついたら、再生と新築へ進めば大丈夫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【クロージング＋Q&amp;A】最後に一言。強い人と同じ戦い方をしなくていい。条件を絞って、数字で説明して、積み上げれば、4年で景色は変わります。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11887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image" Target="../media/image-24-4.jp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b="1" dirty="0">
                <a:solidFill>
                  <a:schemeClr val="accent1"/>
                </a:solidFill>
              </a:rPr>
              <a:t>不動産投資 発表資料</a:t>
            </a:r>
            <a:endParaRPr lang="en-US" sz="1400" dirty="0"/>
          </a:p>
        </p:txBody>
      </p:sp>
      <p:sp>
        <p:nvSpPr>
          <p:cNvPr id="3" name="Text 1"/>
          <p:cNvSpPr txBox="1"/>
          <p:nvPr/>
        </p:nvSpPr>
        <p:spPr>
          <a:xfrm>
            <a:off x="731520" y="1280160"/>
            <a:ext cx="7680960" cy="1737360"/>
          </a:xfrm>
          <a:prstGeom prst="rect">
            <a:avLst/>
          </a:prstGeom>
          <a:noFill/>
          <a:ln/>
        </p:spPr>
        <p:txBody>
          <a:bodyPr wrap="square" lIns="0" tIns="0" rIns="0" bIns="0" rtlCol="0" anchor="ctr"/>
          <a:lstStyle/>
          <a:p>
            <a:pPr indent="0" marL="0">
              <a:buNone/>
            </a:pPr>
            <a:r>
              <a:rPr lang="en-US" sz="4400" b="1" dirty="0">
                <a:solidFill>
                  <a:schemeClr val="bg1"/>
                </a:solidFill>
              </a:rPr>
              <a:t>3年間で、年間家賃収入</a:t>
            </a:r>
            <a:endParaRPr lang="en-US" sz="4400" dirty="0"/>
          </a:p>
          <a:p>
            <a:pPr indent="0" marL="0">
              <a:buNone/>
            </a:pPr>
            <a:r>
              <a:rPr lang="en-US" sz="4400" b="1" dirty="0">
                <a:solidFill>
                  <a:schemeClr val="bg1"/>
                </a:solidFill>
              </a:rPr>
              <a:t>1億円をつくる方法</a:t>
            </a:r>
            <a:endParaRPr lang="en-US" sz="4400" dirty="0"/>
          </a:p>
        </p:txBody>
      </p:sp>
      <p:sp>
        <p:nvSpPr>
          <p:cNvPr id="4" name="Text 2"/>
          <p:cNvSpPr txBox="1"/>
          <p:nvPr/>
        </p:nvSpPr>
        <p:spPr>
          <a:xfrm>
            <a:off x="731520" y="3200400"/>
            <a:ext cx="7680960" cy="731520"/>
          </a:xfrm>
          <a:prstGeom prst="rect">
            <a:avLst/>
          </a:prstGeom>
          <a:noFill/>
          <a:ln/>
        </p:spPr>
        <p:txBody>
          <a:bodyPr wrap="square" lIns="0" tIns="0" rIns="0" bIns="0" rtlCol="0" anchor="t"/>
          <a:lstStyle/>
          <a:p>
            <a:pPr indent="0" marL="0">
              <a:buNone/>
            </a:pPr>
            <a:r>
              <a:rPr lang="en-US" sz="1800" dirty="0">
                <a:solidFill>
                  <a:schemeClr val="accent6"/>
                </a:solidFill>
              </a:rPr>
              <a:t>弱者の戦略 ― お金を使わずに物件を増やし、自力をつけ、次の段階へ</a:t>
            </a:r>
            <a:endParaRPr lang="en-US" sz="1800" dirty="0"/>
          </a:p>
        </p:txBody>
      </p:sp>
      <p:sp>
        <p:nvSpPr>
          <p:cNvPr id="5" name="Text 3"/>
          <p:cNvSpPr txBox="1"/>
          <p:nvPr/>
        </p:nvSpPr>
        <p:spPr>
          <a:xfrm>
            <a:off x="731520" y="4297680"/>
            <a:ext cx="7680960" cy="365760"/>
          </a:xfrm>
          <a:prstGeom prst="rect">
            <a:avLst/>
          </a:prstGeom>
          <a:noFill/>
          <a:ln/>
        </p:spPr>
        <p:txBody>
          <a:bodyPr wrap="square" lIns="0" tIns="0" rIns="0" bIns="0" rtlCol="0" anchor="t"/>
          <a:lstStyle/>
          <a:p>
            <a:pPr indent="0" marL="0">
              <a:buNone/>
            </a:pPr>
            <a:r>
              <a:rPr lang="en-US" sz="1400" dirty="0">
                <a:solidFill>
                  <a:schemeClr val="bg2"/>
                </a:solidFill>
              </a:rPr>
              <a:t>今宮 大介（株式会社mizunoya / 合同会社ベルフラワー）</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結論：購入価格を上回る融資で、家賃1億円超へ</a:t>
            </a:r>
            <a:endParaRPr lang="en-US" sz="2600" dirty="0"/>
          </a:p>
        </p:txBody>
      </p:sp>
      <p:graphicFrame>
        <p:nvGraphicFramePr>
          <p:cNvPr id="4" name="Chart 0" descr=""/>
          <p:cNvGraphicFramePr/>
          <p:nvPr/>
        </p:nvGraphicFramePr>
        <p:xfrm>
          <a:off x="365760" y="118872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5120640" y="1234440"/>
            <a:ext cx="3566160" cy="960120"/>
          </a:xfrm>
          <a:prstGeom prst="roundRect">
            <a:avLst>
              <a:gd name="adj" fmla="val 7619"/>
            </a:avLst>
          </a:prstGeom>
          <a:solidFill>
            <a:schemeClr val="bg2"/>
          </a:solidFill>
          <a:ln/>
        </p:spPr>
      </p:sp>
      <p:sp>
        <p:nvSpPr>
          <p:cNvPr id="6" name="Text 2"/>
          <p:cNvSpPr txBox="1"/>
          <p:nvPr/>
        </p:nvSpPr>
        <p:spPr>
          <a:xfrm>
            <a:off x="5303520" y="1280160"/>
            <a:ext cx="1554480" cy="868680"/>
          </a:xfrm>
          <a:prstGeom prst="rect">
            <a:avLst/>
          </a:prstGeom>
          <a:noFill/>
          <a:ln/>
        </p:spPr>
        <p:txBody>
          <a:bodyPr wrap="square" lIns="0" tIns="0" rIns="0" bIns="0" rtlCol="0" anchor="ctr"/>
          <a:lstStyle/>
          <a:p>
            <a:pPr indent="0" marL="0">
              <a:buNone/>
            </a:pPr>
            <a:r>
              <a:rPr lang="en-US" sz="2400" b="1" dirty="0">
                <a:solidFill>
                  <a:schemeClr val="accent3"/>
                </a:solidFill>
              </a:rPr>
              <a:t>100.4%</a:t>
            </a:r>
            <a:endParaRPr lang="en-US" sz="2400" dirty="0"/>
          </a:p>
        </p:txBody>
      </p:sp>
      <p:sp>
        <p:nvSpPr>
          <p:cNvPr id="7" name="Text 3"/>
          <p:cNvSpPr txBox="1"/>
          <p:nvPr/>
        </p:nvSpPr>
        <p:spPr>
          <a:xfrm>
            <a:off x="6858000" y="1280160"/>
            <a:ext cx="1783080" cy="868680"/>
          </a:xfrm>
          <a:prstGeom prst="rect">
            <a:avLst/>
          </a:prstGeom>
          <a:noFill/>
          <a:ln/>
        </p:spPr>
        <p:txBody>
          <a:bodyPr wrap="square" lIns="0" tIns="0" rIns="0" bIns="0" rtlCol="0" anchor="ctr"/>
          <a:lstStyle/>
          <a:p>
            <a:pPr indent="0" marL="0">
              <a:buNone/>
            </a:pPr>
            <a:r>
              <a:rPr lang="en-US" sz="1100" dirty="0">
                <a:solidFill>
                  <a:schemeClr val="tx2"/>
                </a:solidFill>
              </a:rPr>
              <a:t>購入価格に対する</a:t>
            </a:r>
            <a:endParaRPr lang="en-US" sz="1100" dirty="0"/>
          </a:p>
          <a:p>
            <a:pPr indent="0" marL="0">
              <a:buNone/>
            </a:pPr>
            <a:r>
              <a:rPr lang="en-US" sz="1100" dirty="0">
                <a:solidFill>
                  <a:schemeClr val="tx2"/>
                </a:solidFill>
              </a:rPr>
              <a:t>融資額の割合</a:t>
            </a:r>
            <a:endParaRPr lang="en-US" sz="1100" dirty="0"/>
          </a:p>
        </p:txBody>
      </p:sp>
      <p:sp>
        <p:nvSpPr>
          <p:cNvPr id="8" name="card"/>
          <p:cNvSpPr/>
          <p:nvPr/>
        </p:nvSpPr>
        <p:spPr>
          <a:xfrm>
            <a:off x="5120640" y="2331720"/>
            <a:ext cx="3566160" cy="960120"/>
          </a:xfrm>
          <a:prstGeom prst="roundRect">
            <a:avLst>
              <a:gd name="adj" fmla="val 7619"/>
            </a:avLst>
          </a:prstGeom>
          <a:solidFill>
            <a:schemeClr val="bg2"/>
          </a:solidFill>
          <a:ln/>
        </p:spPr>
      </p:sp>
      <p:sp>
        <p:nvSpPr>
          <p:cNvPr id="9" name="Text 5"/>
          <p:cNvSpPr txBox="1"/>
          <p:nvPr/>
        </p:nvSpPr>
        <p:spPr>
          <a:xfrm>
            <a:off x="5303520" y="2377440"/>
            <a:ext cx="1554480" cy="868680"/>
          </a:xfrm>
          <a:prstGeom prst="rect">
            <a:avLst/>
          </a:prstGeom>
          <a:noFill/>
          <a:ln/>
        </p:spPr>
        <p:txBody>
          <a:bodyPr wrap="square" lIns="0" tIns="0" rIns="0" bIns="0" rtlCol="0" anchor="ctr"/>
          <a:lstStyle/>
          <a:p>
            <a:pPr indent="0" marL="0">
              <a:buNone/>
            </a:pPr>
            <a:r>
              <a:rPr lang="en-US" sz="2400" b="1" dirty="0">
                <a:solidFill>
                  <a:schemeClr val="accent2"/>
                </a:solidFill>
              </a:rPr>
              <a:t>1億円超</a:t>
            </a:r>
            <a:endParaRPr lang="en-US" sz="2400" dirty="0"/>
          </a:p>
        </p:txBody>
      </p:sp>
      <p:sp>
        <p:nvSpPr>
          <p:cNvPr id="10" name="Text 6"/>
          <p:cNvSpPr txBox="1"/>
          <p:nvPr/>
        </p:nvSpPr>
        <p:spPr>
          <a:xfrm>
            <a:off x="6858000" y="2377440"/>
            <a:ext cx="1783080" cy="868680"/>
          </a:xfrm>
          <a:prstGeom prst="rect">
            <a:avLst/>
          </a:prstGeom>
          <a:noFill/>
          <a:ln/>
        </p:spPr>
        <p:txBody>
          <a:bodyPr wrap="square" lIns="0" tIns="0" rIns="0" bIns="0" rtlCol="0" anchor="ctr"/>
          <a:lstStyle/>
          <a:p>
            <a:pPr indent="0" marL="0">
              <a:buNone/>
            </a:pPr>
            <a:r>
              <a:rPr lang="en-US" sz="1100" dirty="0">
                <a:solidFill>
                  <a:schemeClr val="tx2"/>
                </a:solidFill>
              </a:rPr>
              <a:t>3年間でつくった</a:t>
            </a:r>
            <a:endParaRPr lang="en-US" sz="1100" dirty="0"/>
          </a:p>
          <a:p>
            <a:pPr indent="0" marL="0">
              <a:buNone/>
            </a:pPr>
            <a:r>
              <a:rPr lang="en-US" sz="1100" dirty="0">
                <a:solidFill>
                  <a:schemeClr val="tx2"/>
                </a:solidFill>
              </a:rPr>
              <a:t>年間家賃収入（約1.3億円）</a:t>
            </a:r>
            <a:endParaRPr lang="en-US" sz="1100" dirty="0"/>
          </a:p>
        </p:txBody>
      </p:sp>
      <p:sp>
        <p:nvSpPr>
          <p:cNvPr id="11" name="card"/>
          <p:cNvSpPr/>
          <p:nvPr/>
        </p:nvSpPr>
        <p:spPr>
          <a:xfrm>
            <a:off x="5120640" y="3429000"/>
            <a:ext cx="3566160" cy="960120"/>
          </a:xfrm>
          <a:prstGeom prst="roundRect">
            <a:avLst>
              <a:gd name="adj" fmla="val 7619"/>
            </a:avLst>
          </a:prstGeom>
          <a:solidFill>
            <a:schemeClr val="bg2"/>
          </a:solidFill>
          <a:ln/>
        </p:spPr>
      </p:sp>
      <p:sp>
        <p:nvSpPr>
          <p:cNvPr id="12" name="Text 8"/>
          <p:cNvSpPr txBox="1"/>
          <p:nvPr/>
        </p:nvSpPr>
        <p:spPr>
          <a:xfrm>
            <a:off x="5303520" y="3474720"/>
            <a:ext cx="1554480" cy="868680"/>
          </a:xfrm>
          <a:prstGeom prst="rect">
            <a:avLst/>
          </a:prstGeom>
          <a:noFill/>
          <a:ln/>
        </p:spPr>
        <p:txBody>
          <a:bodyPr wrap="square" lIns="0" tIns="0" rIns="0" bIns="0" rtlCol="0" anchor="ctr"/>
          <a:lstStyle/>
          <a:p>
            <a:pPr indent="0" marL="0">
              <a:buNone/>
            </a:pPr>
            <a:r>
              <a:rPr lang="en-US" sz="2400" b="1" dirty="0">
                <a:solidFill>
                  <a:schemeClr val="accent2"/>
                </a:solidFill>
              </a:rPr>
              <a:t>1.44億円</a:t>
            </a:r>
            <a:endParaRPr lang="en-US" sz="2400" dirty="0"/>
          </a:p>
        </p:txBody>
      </p:sp>
      <p:sp>
        <p:nvSpPr>
          <p:cNvPr id="13" name="Text 9"/>
          <p:cNvSpPr txBox="1"/>
          <p:nvPr/>
        </p:nvSpPr>
        <p:spPr>
          <a:xfrm>
            <a:off x="6858000" y="3474720"/>
            <a:ext cx="1783080" cy="868680"/>
          </a:xfrm>
          <a:prstGeom prst="rect">
            <a:avLst/>
          </a:prstGeom>
          <a:noFill/>
          <a:ln/>
        </p:spPr>
        <p:txBody>
          <a:bodyPr wrap="square" lIns="0" tIns="0" rIns="0" bIns="0" rtlCol="0" anchor="ctr"/>
          <a:lstStyle/>
          <a:p>
            <a:pPr indent="0" marL="0">
              <a:buNone/>
            </a:pPr>
            <a:r>
              <a:rPr lang="en-US" sz="1100" dirty="0">
                <a:solidFill>
                  <a:schemeClr val="tx2"/>
                </a:solidFill>
              </a:rPr>
              <a:t>現在の年間家賃収入</a:t>
            </a:r>
            <a:endParaRPr lang="en-US" sz="1100" dirty="0"/>
          </a:p>
          <a:p>
            <a:pPr indent="0" marL="0">
              <a:buNone/>
            </a:pPr>
            <a:r>
              <a:rPr lang="en-US" sz="1100" dirty="0">
                <a:solidFill>
                  <a:schemeClr val="tx2"/>
                </a:solidFill>
              </a:rPr>
              <a:t>（2025年11月の亀山を加えて）</a:t>
            </a:r>
            <a:endParaRPr lang="en-US" sz="1100" dirty="0"/>
          </a:p>
        </p:txBody>
      </p:sp>
      <p:sp>
        <p:nvSpPr>
          <p:cNvPr id="14" name="Text 10"/>
          <p:cNvSpPr txBox="1"/>
          <p:nvPr/>
        </p:nvSpPr>
        <p:spPr>
          <a:xfrm>
            <a:off x="457200" y="4617720"/>
            <a:ext cx="8046720" cy="274320"/>
          </a:xfrm>
          <a:prstGeom prst="rect">
            <a:avLst/>
          </a:prstGeom>
          <a:noFill/>
          <a:ln/>
        </p:spPr>
        <p:txBody>
          <a:bodyPr wrap="square" lIns="0" tIns="0" rIns="0" bIns="0" rtlCol="0" anchor="t"/>
          <a:lstStyle/>
          <a:p>
            <a:pPr indent="0" marL="0">
              <a:buNone/>
            </a:pPr>
            <a:r>
              <a:rPr lang="en-US" sz="1000" dirty="0">
                <a:solidFill>
                  <a:schemeClr val="accent4"/>
                </a:solidFill>
              </a:rPr>
              <a:t>※2021年6月〜2024年12月の10物件（市原を含む）。融資額は瑞穂市の公庫追加融資1,500万円を含む。年間家賃は市原を除く。現在の1.44億円は14,415万円</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人生のスタートは、新宿・歌舞伎町の酒屋</a:t>
            </a:r>
            <a:endParaRPr lang="en-US" sz="2600" dirty="0"/>
          </a:p>
        </p:txBody>
      </p:sp>
      <p:sp>
        <p:nvSpPr>
          <p:cNvPr id="4" name="card"/>
          <p:cNvSpPr/>
          <p:nvPr/>
        </p:nvSpPr>
        <p:spPr>
          <a:xfrm>
            <a:off x="457200" y="1280160"/>
            <a:ext cx="3291840" cy="3200400"/>
          </a:xfrm>
          <a:prstGeom prst="roundRect">
            <a:avLst>
              <a:gd name="adj" fmla="val 2286"/>
            </a:avLst>
          </a:prstGeom>
          <a:solidFill>
            <a:schemeClr val="tx1"/>
          </a:solidFill>
          <a:ln/>
        </p:spPr>
      </p:sp>
      <p:sp>
        <p:nvSpPr>
          <p:cNvPr id="5" name="Text 2"/>
          <p:cNvSpPr txBox="1"/>
          <p:nvPr/>
        </p:nvSpPr>
        <p:spPr>
          <a:xfrm>
            <a:off x="685800" y="1554480"/>
            <a:ext cx="2834640" cy="1188720"/>
          </a:xfrm>
          <a:prstGeom prst="rect">
            <a:avLst/>
          </a:prstGeom>
          <a:noFill/>
          <a:ln/>
        </p:spPr>
        <p:txBody>
          <a:bodyPr wrap="square" lIns="0" tIns="0" rIns="0" bIns="0" rtlCol="0" anchor="ctr"/>
          <a:lstStyle/>
          <a:p>
            <a:pPr indent="0" marL="0">
              <a:buNone/>
            </a:pPr>
            <a:r>
              <a:rPr lang="en-US" sz="2400" b="1" dirty="0">
                <a:solidFill>
                  <a:schemeClr val="bg1"/>
                </a:solidFill>
              </a:rPr>
              <a:t>環境は選べない。</a:t>
            </a:r>
            <a:endParaRPr lang="en-US" sz="2400" dirty="0"/>
          </a:p>
          <a:p>
            <a:pPr indent="0" marL="0">
              <a:buNone/>
            </a:pPr>
            <a:r>
              <a:rPr lang="en-US" sz="2400" b="1" dirty="0">
                <a:solidFill>
                  <a:schemeClr val="bg1"/>
                </a:solidFill>
              </a:rPr>
              <a:t>だが未来は選べる。</a:t>
            </a:r>
            <a:endParaRPr lang="en-US" sz="2400" dirty="0"/>
          </a:p>
        </p:txBody>
      </p:sp>
      <p:sp>
        <p:nvSpPr>
          <p:cNvPr id="6" name="Text 3"/>
          <p:cNvSpPr txBox="1"/>
          <p:nvPr/>
        </p:nvSpPr>
        <p:spPr>
          <a:xfrm>
            <a:off x="685800" y="3017520"/>
            <a:ext cx="2834640" cy="822960"/>
          </a:xfrm>
          <a:prstGeom prst="rect">
            <a:avLst/>
          </a:prstGeom>
          <a:noFill/>
          <a:ln/>
        </p:spPr>
        <p:txBody>
          <a:bodyPr wrap="square" lIns="0" tIns="0" rIns="0" bIns="0" rtlCol="0" anchor="t"/>
          <a:lstStyle/>
          <a:p>
            <a:pPr indent="0" marL="0">
              <a:buNone/>
            </a:pPr>
            <a:r>
              <a:rPr lang="en-US" sz="1400" dirty="0">
                <a:solidFill>
                  <a:schemeClr val="accent6"/>
                </a:solidFill>
              </a:rPr>
              <a:t>歌舞伎町生まれ・歌舞伎町育ち</a:t>
            </a:r>
            <a:endParaRPr lang="en-US" sz="1400" dirty="0"/>
          </a:p>
          <a:p>
            <a:pPr indent="0" marL="0">
              <a:buNone/>
            </a:pPr>
            <a:r>
              <a:rPr lang="en-US" sz="1400" dirty="0">
                <a:solidFill>
                  <a:schemeClr val="accent6"/>
                </a:solidFill>
              </a:rPr>
              <a:t>実家は酒屋</a:t>
            </a:r>
            <a:endParaRPr lang="en-US" sz="1400" dirty="0"/>
          </a:p>
        </p:txBody>
      </p:sp>
      <p:pic>
        <p:nvPicPr>
          <p:cNvPr id="7" name="photo family building" descr="/tmp/claude-0/-home-user-avatars1/ff7ac518-1ad5-5c32-bb06-c962a98e323e/scratchpad/p4.png">    </p:cNvPr>
          <p:cNvPicPr>
            <a:picLocks noChangeAspect="1"/>
          </p:cNvPicPr>
          <p:nvPr/>
        </p:nvPicPr>
        <p:blipFill>
          <a:blip r:embed="rId1"/>
          <a:srcRect l="0" r="0" t="0" b="0"/>
          <a:stretch/>
        </p:blipFill>
        <p:spPr>
          <a:xfrm>
            <a:off x="3977640" y="1280160"/>
            <a:ext cx="2331720" cy="2514600"/>
          </a:xfrm>
          <a:prstGeom prst="rect">
            <a:avLst/>
          </a:prstGeom>
        </p:spPr>
      </p:pic>
      <p:pic>
        <p:nvPicPr>
          <p:cNvPr id="8" name="photo great-grandfather" descr="/tmp/claude-0/-home-user-avatars1/ff7ac518-1ad5-5c32-bb06-c962a98e323e/images/3.png">    </p:cNvPr>
          <p:cNvPicPr>
            <a:picLocks noChangeAspect="1"/>
          </p:cNvPicPr>
          <p:nvPr/>
        </p:nvPicPr>
        <p:blipFill>
          <a:blip r:embed="rId2"/>
          <a:srcRect l="0" r="0" t="0" b="0"/>
          <a:stretch/>
        </p:blipFill>
        <p:spPr>
          <a:xfrm>
            <a:off x="6492240" y="1280160"/>
            <a:ext cx="2194560" cy="2514600"/>
          </a:xfrm>
          <a:prstGeom prst="rect">
            <a:avLst/>
          </a:prstGeom>
        </p:spPr>
      </p:pic>
      <p:sp>
        <p:nvSpPr>
          <p:cNvPr id="9" name="Text 4"/>
          <p:cNvSpPr txBox="1"/>
          <p:nvPr/>
        </p:nvSpPr>
        <p:spPr>
          <a:xfrm>
            <a:off x="3977640" y="3886200"/>
            <a:ext cx="2331720" cy="548640"/>
          </a:xfrm>
          <a:prstGeom prst="rect">
            <a:avLst/>
          </a:prstGeom>
          <a:noFill/>
          <a:ln/>
        </p:spPr>
        <p:txBody>
          <a:bodyPr wrap="square" lIns="0" tIns="0" rIns="0" bIns="0" rtlCol="0" anchor="t"/>
          <a:lstStyle/>
          <a:p>
            <a:pPr indent="0" marL="0">
              <a:buNone/>
            </a:pPr>
            <a:r>
              <a:rPr lang="en-US" sz="1100" dirty="0">
                <a:solidFill>
                  <a:schemeClr val="accent4"/>
                </a:solidFill>
              </a:rPr>
              <a:t>実家のビル（歌舞伎町さくら通り）</a:t>
            </a:r>
            <a:endParaRPr lang="en-US" sz="1100" dirty="0"/>
          </a:p>
        </p:txBody>
      </p:sp>
      <p:sp>
        <p:nvSpPr>
          <p:cNvPr id="10" name="Text 5"/>
          <p:cNvSpPr txBox="1"/>
          <p:nvPr/>
        </p:nvSpPr>
        <p:spPr>
          <a:xfrm>
            <a:off x="6492240" y="3886200"/>
            <a:ext cx="2194560" cy="640080"/>
          </a:xfrm>
          <a:prstGeom prst="rect">
            <a:avLst/>
          </a:prstGeom>
          <a:noFill/>
          <a:ln/>
        </p:spPr>
        <p:txBody>
          <a:bodyPr wrap="square" lIns="0" tIns="0" rIns="0" bIns="0" rtlCol="0" anchor="t"/>
          <a:lstStyle/>
          <a:p>
            <a:pPr indent="0" marL="0">
              <a:buNone/>
            </a:pPr>
            <a:r>
              <a:rPr lang="en-US" sz="1100" dirty="0">
                <a:solidFill>
                  <a:schemeClr val="accent4"/>
                </a:solidFill>
              </a:rPr>
              <a:t>曽祖父（復興協力会の実行委員）。歌舞伎町振興組合の発足、歌舞伎座の誘致に関わる</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いまも、街の祭りで神輿を担ぐ</a:t>
            </a:r>
            <a:endParaRPr lang="en-US" sz="2600" dirty="0"/>
          </a:p>
        </p:txBody>
      </p:sp>
      <p:pic>
        <p:nvPicPr>
          <p:cNvPr id="4" name="photo festival group" descr="/tmp/claude-0/-home-user-avatars1/ff7ac518-1ad5-5c32-bb06-c962a98e323e/images/1.jpg">    </p:cNvPr>
          <p:cNvPicPr>
            <a:picLocks noChangeAspect="1"/>
          </p:cNvPicPr>
          <p:nvPr/>
        </p:nvPicPr>
        <p:blipFill>
          <a:blip r:embed="rId1"/>
          <a:srcRect l="0" r="0" t="0" b="0"/>
          <a:stretch/>
        </p:blipFill>
        <p:spPr>
          <a:xfrm>
            <a:off x="457200" y="1280160"/>
            <a:ext cx="4023360" cy="2743200"/>
          </a:xfrm>
          <a:prstGeom prst="rect">
            <a:avLst/>
          </a:prstGeom>
        </p:spPr>
      </p:pic>
      <p:pic>
        <p:nvPicPr>
          <p:cNvPr id="5" name="photo festival sakura-dori" descr="/tmp/claude-0/-home-user-avatars1/ff7ac518-1ad5-5c32-bb06-c962a98e323e/images/2.jpg">    </p:cNvPr>
          <p:cNvPicPr>
            <a:picLocks noChangeAspect="1"/>
          </p:cNvPicPr>
          <p:nvPr/>
        </p:nvPicPr>
        <p:blipFill>
          <a:blip r:embed="rId2"/>
          <a:srcRect l="0" r="0" t="0" b="0"/>
          <a:stretch/>
        </p:blipFill>
        <p:spPr>
          <a:xfrm>
            <a:off x="4663440" y="1280160"/>
            <a:ext cx="4023360" cy="2743200"/>
          </a:xfrm>
          <a:prstGeom prst="rect">
            <a:avLst/>
          </a:prstGeom>
        </p:spPr>
      </p:pic>
      <p:sp>
        <p:nvSpPr>
          <p:cNvPr id="6" name="Text 1"/>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b="1" dirty="0">
                <a:solidFill>
                  <a:schemeClr val="tx1"/>
                </a:solidFill>
              </a:rPr>
              <a:t>歌舞伎町 さくら通りで。商売も街も、人の縁で動いている。</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銀行・商社、そして実家のコンビニ会社へ</a:t>
            </a:r>
            <a:endParaRPr lang="en-US" sz="2600" dirty="0"/>
          </a:p>
        </p:txBody>
      </p:sp>
      <p:sp>
        <p:nvSpPr>
          <p:cNvPr id="4" name="card"/>
          <p:cNvSpPr/>
          <p:nvPr/>
        </p:nvSpPr>
        <p:spPr>
          <a:xfrm>
            <a:off x="457200" y="1371600"/>
            <a:ext cx="2651760" cy="2926080"/>
          </a:xfrm>
          <a:prstGeom prst="roundRect">
            <a:avLst>
              <a:gd name="adj" fmla="val 2759"/>
            </a:avLst>
          </a:prstGeom>
          <a:solidFill>
            <a:schemeClr val="bg2"/>
          </a:solidFill>
          <a:ln/>
        </p:spPr>
      </p:sp>
      <p:sp>
        <p:nvSpPr>
          <p:cNvPr id="5" name="badge"/>
          <p:cNvSpPr/>
          <p:nvPr/>
        </p:nvSpPr>
        <p:spPr>
          <a:xfrm>
            <a:off x="640080" y="1554480"/>
            <a:ext cx="640080" cy="640080"/>
          </a:xfrm>
          <a:prstGeom prst="ellipse">
            <a:avLst/>
          </a:prstGeom>
          <a:solidFill>
            <a:schemeClr val="accent1"/>
          </a:solidFill>
          <a:ln/>
        </p:spPr>
      </p:sp>
      <p:sp>
        <p:nvSpPr>
          <p:cNvPr id="6" name="Text 3"/>
          <p:cNvSpPr txBox="1"/>
          <p:nvPr/>
        </p:nvSpPr>
        <p:spPr>
          <a:xfrm>
            <a:off x="640080" y="155448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20代</a:t>
            </a:r>
            <a:endParaRPr lang="en-US" sz="1800" dirty="0"/>
          </a:p>
        </p:txBody>
      </p:sp>
      <p:sp>
        <p:nvSpPr>
          <p:cNvPr id="7" name="Text 4"/>
          <p:cNvSpPr txBox="1"/>
          <p:nvPr/>
        </p:nvSpPr>
        <p:spPr>
          <a:xfrm>
            <a:off x="640080" y="2377440"/>
            <a:ext cx="2286000" cy="731520"/>
          </a:xfrm>
          <a:prstGeom prst="rect">
            <a:avLst/>
          </a:prstGeom>
          <a:noFill/>
          <a:ln/>
        </p:spPr>
        <p:txBody>
          <a:bodyPr wrap="square" lIns="0" tIns="0" rIns="0" bIns="0" rtlCol="0" anchor="t"/>
          <a:lstStyle/>
          <a:p>
            <a:pPr indent="0" marL="0">
              <a:buNone/>
            </a:pPr>
            <a:r>
              <a:rPr lang="en-US" sz="1800" b="1" dirty="0">
                <a:solidFill>
                  <a:schemeClr val="tx1"/>
                </a:solidFill>
              </a:rPr>
              <a:t>銀行・商社</a:t>
            </a:r>
            <a:endParaRPr lang="en-US" sz="1800" dirty="0"/>
          </a:p>
          <a:p>
            <a:pPr indent="0" marL="0">
              <a:buNone/>
            </a:pPr>
            <a:r>
              <a:rPr lang="en-US" sz="1800" b="1" dirty="0">
                <a:solidFill>
                  <a:schemeClr val="tx1"/>
                </a:solidFill>
              </a:rPr>
              <a:t>プラント営業</a:t>
            </a:r>
            <a:endParaRPr lang="en-US" sz="1800" dirty="0"/>
          </a:p>
        </p:txBody>
      </p:sp>
      <p:sp>
        <p:nvSpPr>
          <p:cNvPr id="8" name="Text 5"/>
          <p:cNvSpPr txBox="1"/>
          <p:nvPr/>
        </p:nvSpPr>
        <p:spPr>
          <a:xfrm>
            <a:off x="640080" y="3200400"/>
            <a:ext cx="2286000" cy="914400"/>
          </a:xfrm>
          <a:prstGeom prst="rect">
            <a:avLst/>
          </a:prstGeom>
          <a:noFill/>
          <a:ln/>
        </p:spPr>
        <p:txBody>
          <a:bodyPr wrap="square" lIns="0" tIns="0" rIns="0" bIns="0" rtlCol="0" anchor="t"/>
          <a:lstStyle/>
          <a:p>
            <a:pPr indent="0" marL="0">
              <a:buNone/>
            </a:pPr>
            <a:r>
              <a:rPr lang="en-US" sz="1400" dirty="0">
                <a:solidFill>
                  <a:schemeClr val="accent4"/>
                </a:solidFill>
              </a:rPr>
              <a:t>海外を飛び回る</a:t>
            </a:r>
            <a:endParaRPr lang="en-US" sz="1400" dirty="0"/>
          </a:p>
          <a:p>
            <a:pPr indent="0" marL="0">
              <a:buNone/>
            </a:pPr>
            <a:r>
              <a:rPr lang="en-US" sz="1400" dirty="0">
                <a:solidFill>
                  <a:schemeClr val="accent4"/>
                </a:solidFill>
              </a:rPr>
              <a:t>融資と契約の基礎</a:t>
            </a:r>
            <a:endParaRPr lang="en-US" sz="1400" dirty="0"/>
          </a:p>
        </p:txBody>
      </p:sp>
      <p:sp>
        <p:nvSpPr>
          <p:cNvPr id="9" name="card"/>
          <p:cNvSpPr/>
          <p:nvPr/>
        </p:nvSpPr>
        <p:spPr>
          <a:xfrm>
            <a:off x="3291840" y="1371600"/>
            <a:ext cx="2651760" cy="2926080"/>
          </a:xfrm>
          <a:prstGeom prst="roundRect">
            <a:avLst>
              <a:gd name="adj" fmla="val 2759"/>
            </a:avLst>
          </a:prstGeom>
          <a:solidFill>
            <a:schemeClr val="bg2"/>
          </a:solidFill>
          <a:ln/>
        </p:spPr>
      </p:sp>
      <p:sp>
        <p:nvSpPr>
          <p:cNvPr id="10" name="badge"/>
          <p:cNvSpPr/>
          <p:nvPr/>
        </p:nvSpPr>
        <p:spPr>
          <a:xfrm>
            <a:off x="3474720" y="1554480"/>
            <a:ext cx="640080" cy="640080"/>
          </a:xfrm>
          <a:prstGeom prst="ellipse">
            <a:avLst/>
          </a:prstGeom>
          <a:solidFill>
            <a:schemeClr val="accent1"/>
          </a:solidFill>
          <a:ln/>
        </p:spPr>
      </p:sp>
      <p:sp>
        <p:nvSpPr>
          <p:cNvPr id="11" name="Text 8"/>
          <p:cNvSpPr txBox="1"/>
          <p:nvPr/>
        </p:nvSpPr>
        <p:spPr>
          <a:xfrm>
            <a:off x="3474720" y="155448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30代</a:t>
            </a:r>
            <a:endParaRPr lang="en-US" sz="1800" dirty="0"/>
          </a:p>
        </p:txBody>
      </p:sp>
      <p:sp>
        <p:nvSpPr>
          <p:cNvPr id="12" name="Text 9"/>
          <p:cNvSpPr txBox="1"/>
          <p:nvPr/>
        </p:nvSpPr>
        <p:spPr>
          <a:xfrm>
            <a:off x="3474720" y="2377440"/>
            <a:ext cx="2286000" cy="731520"/>
          </a:xfrm>
          <a:prstGeom prst="rect">
            <a:avLst/>
          </a:prstGeom>
          <a:noFill/>
          <a:ln/>
        </p:spPr>
        <p:txBody>
          <a:bodyPr wrap="square" lIns="0" tIns="0" rIns="0" bIns="0" rtlCol="0" anchor="t"/>
          <a:lstStyle/>
          <a:p>
            <a:pPr indent="0" marL="0">
              <a:buNone/>
            </a:pPr>
            <a:r>
              <a:rPr lang="en-US" sz="1800" b="1" dirty="0">
                <a:solidFill>
                  <a:schemeClr val="tx1"/>
                </a:solidFill>
              </a:rPr>
              <a:t>コンビニ会社</a:t>
            </a:r>
            <a:endParaRPr lang="en-US" sz="1800" dirty="0"/>
          </a:p>
          <a:p>
            <a:pPr indent="0" marL="0">
              <a:buNone/>
            </a:pPr>
            <a:r>
              <a:rPr lang="en-US" sz="1800" b="1" dirty="0">
                <a:solidFill>
                  <a:schemeClr val="tx1"/>
                </a:solidFill>
              </a:rPr>
              <a:t>のれん分けで独立</a:t>
            </a:r>
            <a:endParaRPr lang="en-US" sz="1800" dirty="0"/>
          </a:p>
        </p:txBody>
      </p:sp>
      <p:sp>
        <p:nvSpPr>
          <p:cNvPr id="13" name="Text 10"/>
          <p:cNvSpPr txBox="1"/>
          <p:nvPr/>
        </p:nvSpPr>
        <p:spPr>
          <a:xfrm>
            <a:off x="3474720" y="3200400"/>
            <a:ext cx="2286000" cy="914400"/>
          </a:xfrm>
          <a:prstGeom prst="rect">
            <a:avLst/>
          </a:prstGeom>
          <a:noFill/>
          <a:ln/>
        </p:spPr>
        <p:txBody>
          <a:bodyPr wrap="square" lIns="0" tIns="0" rIns="0" bIns="0" rtlCol="0" anchor="t"/>
          <a:lstStyle/>
          <a:p>
            <a:pPr indent="0" marL="0">
              <a:buNone/>
            </a:pPr>
            <a:r>
              <a:rPr lang="en-US" sz="1400" dirty="0">
                <a:solidFill>
                  <a:schemeClr val="accent4"/>
                </a:solidFill>
              </a:rPr>
              <a:t>最大14店舗まで拡大</a:t>
            </a:r>
            <a:endParaRPr lang="en-US" sz="1400" dirty="0"/>
          </a:p>
        </p:txBody>
      </p:sp>
      <p:sp>
        <p:nvSpPr>
          <p:cNvPr id="14" name="card"/>
          <p:cNvSpPr/>
          <p:nvPr/>
        </p:nvSpPr>
        <p:spPr>
          <a:xfrm>
            <a:off x="6126480" y="1371600"/>
            <a:ext cx="2651760" cy="2926080"/>
          </a:xfrm>
          <a:prstGeom prst="roundRect">
            <a:avLst>
              <a:gd name="adj" fmla="val 2759"/>
            </a:avLst>
          </a:prstGeom>
          <a:solidFill>
            <a:schemeClr val="bg2"/>
          </a:solidFill>
          <a:ln/>
        </p:spPr>
      </p:sp>
      <p:sp>
        <p:nvSpPr>
          <p:cNvPr id="15" name="badge"/>
          <p:cNvSpPr/>
          <p:nvPr/>
        </p:nvSpPr>
        <p:spPr>
          <a:xfrm>
            <a:off x="6309360" y="1554480"/>
            <a:ext cx="640080" cy="640080"/>
          </a:xfrm>
          <a:prstGeom prst="ellipse">
            <a:avLst/>
          </a:prstGeom>
          <a:solidFill>
            <a:schemeClr val="accent1"/>
          </a:solidFill>
          <a:ln/>
        </p:spPr>
      </p:sp>
      <p:sp>
        <p:nvSpPr>
          <p:cNvPr id="16" name="Text 13"/>
          <p:cNvSpPr txBox="1"/>
          <p:nvPr/>
        </p:nvSpPr>
        <p:spPr>
          <a:xfrm>
            <a:off x="6309360" y="155448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40代</a:t>
            </a:r>
            <a:endParaRPr lang="en-US" sz="1800" dirty="0"/>
          </a:p>
        </p:txBody>
      </p:sp>
      <p:sp>
        <p:nvSpPr>
          <p:cNvPr id="17" name="Text 14"/>
          <p:cNvSpPr txBox="1"/>
          <p:nvPr/>
        </p:nvSpPr>
        <p:spPr>
          <a:xfrm>
            <a:off x="6309360" y="2377440"/>
            <a:ext cx="2286000" cy="731520"/>
          </a:xfrm>
          <a:prstGeom prst="rect">
            <a:avLst/>
          </a:prstGeom>
          <a:noFill/>
          <a:ln/>
        </p:spPr>
        <p:txBody>
          <a:bodyPr wrap="square" lIns="0" tIns="0" rIns="0" bIns="0" rtlCol="0" anchor="t"/>
          <a:lstStyle/>
          <a:p>
            <a:pPr indent="0" marL="0">
              <a:buNone/>
            </a:pPr>
            <a:r>
              <a:rPr lang="en-US" sz="1800" b="1" dirty="0">
                <a:solidFill>
                  <a:schemeClr val="tx1"/>
                </a:solidFill>
              </a:rPr>
              <a:t>新規事業の模索</a:t>
            </a:r>
            <a:endParaRPr lang="en-US" sz="1800" dirty="0"/>
          </a:p>
        </p:txBody>
      </p:sp>
      <p:sp>
        <p:nvSpPr>
          <p:cNvPr id="18" name="Text 15"/>
          <p:cNvSpPr txBox="1"/>
          <p:nvPr/>
        </p:nvSpPr>
        <p:spPr>
          <a:xfrm>
            <a:off x="6309360" y="3200400"/>
            <a:ext cx="2286000" cy="914400"/>
          </a:xfrm>
          <a:prstGeom prst="rect">
            <a:avLst/>
          </a:prstGeom>
          <a:noFill/>
          <a:ln/>
        </p:spPr>
        <p:txBody>
          <a:bodyPr wrap="square" lIns="0" tIns="0" rIns="0" bIns="0" rtlCol="0" anchor="t"/>
          <a:lstStyle/>
          <a:p>
            <a:pPr indent="0" marL="0">
              <a:buNone/>
            </a:pPr>
            <a:r>
              <a:rPr lang="en-US" sz="1400" dirty="0">
                <a:solidFill>
                  <a:schemeClr val="accent4"/>
                </a:solidFill>
              </a:rPr>
              <a:t>アプリ開発へ</a:t>
            </a:r>
            <a:endParaRPr lang="en-US" sz="1400" dirty="0"/>
          </a:p>
          <a:p>
            <a:pPr indent="0" marL="0">
              <a:buNone/>
            </a:pPr>
            <a:r>
              <a:rPr lang="en-US" sz="1400" dirty="0">
                <a:solidFill>
                  <a:schemeClr val="accent4"/>
                </a:solidFill>
              </a:rPr>
              <a:t>そして不動産へ</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コンビニ最大14店舗。そして危機感</a:t>
            </a:r>
            <a:endParaRPr lang="en-US" sz="2600" dirty="0"/>
          </a:p>
        </p:txBody>
      </p:sp>
      <p:sp>
        <p:nvSpPr>
          <p:cNvPr id="4" name="Text 1"/>
          <p:cNvSpPr txBox="1"/>
          <p:nvPr/>
        </p:nvSpPr>
        <p:spPr>
          <a:xfrm>
            <a:off x="548640" y="1280160"/>
            <a:ext cx="2103120" cy="822960"/>
          </a:xfrm>
          <a:prstGeom prst="rect">
            <a:avLst/>
          </a:prstGeom>
          <a:noFill/>
          <a:ln/>
        </p:spPr>
        <p:txBody>
          <a:bodyPr wrap="square" lIns="0" tIns="0" rIns="0" bIns="0" rtlCol="0" anchor="b"/>
          <a:lstStyle/>
          <a:p>
            <a:pPr indent="0" marL="0">
              <a:buNone/>
            </a:pPr>
            <a:r>
              <a:rPr lang="en-US" sz="2800" b="1" dirty="0">
                <a:solidFill>
                  <a:schemeClr val="accent1"/>
                </a:solidFill>
              </a:rPr>
              <a:t>14店舗</a:t>
            </a:r>
            <a:endParaRPr lang="en-US" sz="2800" dirty="0"/>
          </a:p>
        </p:txBody>
      </p:sp>
      <p:sp>
        <p:nvSpPr>
          <p:cNvPr id="5" name="Text 2"/>
          <p:cNvSpPr txBox="1"/>
          <p:nvPr/>
        </p:nvSpPr>
        <p:spPr>
          <a:xfrm>
            <a:off x="548640" y="2148840"/>
            <a:ext cx="2103120" cy="548640"/>
          </a:xfrm>
          <a:prstGeom prst="rect">
            <a:avLst/>
          </a:prstGeom>
          <a:noFill/>
          <a:ln/>
        </p:spPr>
        <p:txBody>
          <a:bodyPr wrap="square" lIns="0" tIns="0" rIns="0" bIns="0" rtlCol="0" anchor="t"/>
          <a:lstStyle/>
          <a:p>
            <a:pPr indent="0" marL="0">
              <a:buNone/>
            </a:pPr>
            <a:r>
              <a:rPr lang="en-US" sz="1300" dirty="0">
                <a:solidFill>
                  <a:schemeClr val="tx2"/>
                </a:solidFill>
              </a:rPr>
              <a:t>最大時</a:t>
            </a:r>
            <a:endParaRPr lang="en-US" sz="1300" dirty="0"/>
          </a:p>
        </p:txBody>
      </p:sp>
      <p:sp>
        <p:nvSpPr>
          <p:cNvPr id="6" name="Text 3"/>
          <p:cNvSpPr txBox="1"/>
          <p:nvPr/>
        </p:nvSpPr>
        <p:spPr>
          <a:xfrm>
            <a:off x="2743200" y="1737360"/>
            <a:ext cx="548640" cy="548640"/>
          </a:xfrm>
          <a:prstGeom prst="rect">
            <a:avLst/>
          </a:prstGeom>
          <a:noFill/>
          <a:ln/>
        </p:spPr>
        <p:txBody>
          <a:bodyPr wrap="square" lIns="0" tIns="0" rIns="0" bIns="0" rtlCol="0" anchor="t"/>
          <a:lstStyle/>
          <a:p>
            <a:pPr algn="ctr" indent="0" marL="0">
              <a:buNone/>
            </a:pPr>
            <a:r>
              <a:rPr lang="en-US" sz="3600" b="1" dirty="0">
                <a:solidFill>
                  <a:schemeClr val="accent4"/>
                </a:solidFill>
              </a:rPr>
              <a:t>→</a:t>
            </a:r>
            <a:endParaRPr lang="en-US" sz="3600" dirty="0"/>
          </a:p>
        </p:txBody>
      </p:sp>
      <p:sp>
        <p:nvSpPr>
          <p:cNvPr id="7" name="Text 4"/>
          <p:cNvSpPr txBox="1"/>
          <p:nvPr/>
        </p:nvSpPr>
        <p:spPr>
          <a:xfrm>
            <a:off x="3383280" y="1280160"/>
            <a:ext cx="2103120" cy="822960"/>
          </a:xfrm>
          <a:prstGeom prst="rect">
            <a:avLst/>
          </a:prstGeom>
          <a:noFill/>
          <a:ln/>
        </p:spPr>
        <p:txBody>
          <a:bodyPr wrap="square" lIns="0" tIns="0" rIns="0" bIns="0" rtlCol="0" anchor="b"/>
          <a:lstStyle/>
          <a:p>
            <a:pPr indent="0" marL="0">
              <a:buNone/>
            </a:pPr>
            <a:r>
              <a:rPr lang="en-US" sz="2800" b="1" dirty="0">
                <a:solidFill>
                  <a:schemeClr val="accent3"/>
                </a:solidFill>
              </a:rPr>
              <a:t>7店舗</a:t>
            </a:r>
            <a:endParaRPr lang="en-US" sz="2800" dirty="0"/>
          </a:p>
        </p:txBody>
      </p:sp>
      <p:sp>
        <p:nvSpPr>
          <p:cNvPr id="8" name="Text 5"/>
          <p:cNvSpPr txBox="1"/>
          <p:nvPr/>
        </p:nvSpPr>
        <p:spPr>
          <a:xfrm>
            <a:off x="3383280" y="2148840"/>
            <a:ext cx="2103120" cy="548640"/>
          </a:xfrm>
          <a:prstGeom prst="rect">
            <a:avLst/>
          </a:prstGeom>
          <a:noFill/>
          <a:ln/>
        </p:spPr>
        <p:txBody>
          <a:bodyPr wrap="square" lIns="0" tIns="0" rIns="0" bIns="0" rtlCol="0" anchor="t"/>
          <a:lstStyle/>
          <a:p>
            <a:pPr indent="0" marL="0">
              <a:buNone/>
            </a:pPr>
            <a:r>
              <a:rPr lang="en-US" sz="1300" dirty="0">
                <a:solidFill>
                  <a:schemeClr val="tx2"/>
                </a:solidFill>
              </a:rPr>
              <a:t>現在（集約）</a:t>
            </a:r>
            <a:endParaRPr lang="en-US" sz="1300" dirty="0"/>
          </a:p>
        </p:txBody>
      </p:sp>
      <p:sp>
        <p:nvSpPr>
          <p:cNvPr id="9" name="card"/>
          <p:cNvSpPr/>
          <p:nvPr/>
        </p:nvSpPr>
        <p:spPr>
          <a:xfrm>
            <a:off x="5760720" y="1188720"/>
            <a:ext cx="2926080" cy="3200400"/>
          </a:xfrm>
          <a:prstGeom prst="roundRect">
            <a:avLst>
              <a:gd name="adj" fmla="val 2500"/>
            </a:avLst>
          </a:prstGeom>
          <a:solidFill>
            <a:schemeClr val="tx1"/>
          </a:solidFill>
          <a:ln/>
        </p:spPr>
      </p:sp>
      <p:sp>
        <p:nvSpPr>
          <p:cNvPr id="10" name="Text 7"/>
          <p:cNvSpPr txBox="1"/>
          <p:nvPr/>
        </p:nvSpPr>
        <p:spPr>
          <a:xfrm>
            <a:off x="5989320" y="1371600"/>
            <a:ext cx="2468880" cy="365760"/>
          </a:xfrm>
          <a:prstGeom prst="rect">
            <a:avLst/>
          </a:prstGeom>
          <a:noFill/>
          <a:ln/>
        </p:spPr>
        <p:txBody>
          <a:bodyPr wrap="square" lIns="0" tIns="0" rIns="0" bIns="0" rtlCol="0" anchor="t"/>
          <a:lstStyle/>
          <a:p>
            <a:pPr indent="0" marL="0">
              <a:buNone/>
            </a:pPr>
            <a:r>
              <a:rPr lang="en-US" sz="1400" b="1" dirty="0">
                <a:solidFill>
                  <a:schemeClr val="accent1"/>
                </a:solidFill>
              </a:rPr>
              <a:t>本音</a:t>
            </a:r>
            <a:endParaRPr lang="en-US" sz="1400" dirty="0"/>
          </a:p>
        </p:txBody>
      </p:sp>
      <p:sp>
        <p:nvSpPr>
          <p:cNvPr id="11" name="Text 8"/>
          <p:cNvSpPr txBox="1"/>
          <p:nvPr/>
        </p:nvSpPr>
        <p:spPr>
          <a:xfrm>
            <a:off x="5989320" y="1783080"/>
            <a:ext cx="2514600" cy="2468880"/>
          </a:xfrm>
          <a:prstGeom prst="rect">
            <a:avLst/>
          </a:prstGeom>
          <a:noFill/>
          <a:ln/>
        </p:spPr>
        <p:txBody>
          <a:bodyPr wrap="square" lIns="0" tIns="0" rIns="0" bIns="0" rtlCol="0" anchor="t"/>
          <a:lstStyle/>
          <a:p>
            <a:pPr indent="0" marL="0">
              <a:buNone/>
            </a:pPr>
            <a:r>
              <a:rPr lang="en-US" sz="1500" dirty="0">
                <a:solidFill>
                  <a:schemeClr val="bg1"/>
                </a:solidFill>
              </a:rPr>
              <a:t>人手不足で社員が倒れていく。</a:t>
            </a:r>
            <a:endParaRPr lang="en-US" sz="1500" dirty="0"/>
          </a:p>
          <a:p>
            <a:pPr indent="0" marL="0">
              <a:buNone/>
            </a:pPr>
            <a:r>
              <a:rPr lang="en-US" sz="1500" dirty="0">
                <a:solidFill>
                  <a:schemeClr val="bg1"/>
                </a:solidFill>
              </a:rPr>
              <a:t>10年後の収益予想は、全店舗赤字。</a:t>
            </a:r>
            <a:endParaRPr lang="en-US" sz="1500" dirty="0"/>
          </a:p>
          <a:p>
            <a:pPr indent="0" marL="0">
              <a:buNone/>
            </a:pPr>
            <a:endParaRPr lang="en-US" sz="1500" dirty="0"/>
          </a:p>
          <a:p>
            <a:pPr indent="0" marL="0">
              <a:buNone/>
            </a:pPr>
            <a:r>
              <a:rPr lang="en-US" sz="1500" dirty="0">
                <a:solidFill>
                  <a:schemeClr val="bg1"/>
                </a:solidFill>
              </a:rPr>
              <a:t>眠れなかったあの夜の恐怖が、原動力になった。</a:t>
            </a:r>
            <a:endParaRPr lang="en-US" sz="1500" dirty="0"/>
          </a:p>
        </p:txBody>
      </p:sp>
      <p:sp>
        <p:nvSpPr>
          <p:cNvPr id="12" name="Text 9"/>
          <p:cNvSpPr txBox="1"/>
          <p:nvPr/>
        </p:nvSpPr>
        <p:spPr>
          <a:xfrm>
            <a:off x="548640" y="310896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人が足りない → 利益が出ない</a:t>
            </a:r>
            <a:endParaRPr lang="en-US" sz="1500" dirty="0"/>
          </a:p>
          <a:p>
            <a:pPr marL="342900" indent="-342900">
              <a:spcAft>
                <a:spcPts val="600"/>
              </a:spcAft>
              <a:buSzPct val="100000"/>
              <a:buChar char="•"/>
            </a:pPr>
            <a:r>
              <a:rPr lang="en-US" sz="1500" dirty="0">
                <a:solidFill>
                  <a:schemeClr val="tx1"/>
                </a:solidFill>
              </a:rPr>
              <a:t>自分が張り付かないと回らない</a:t>
            </a:r>
            <a:endParaRPr lang="en-US" sz="1500" dirty="0"/>
          </a:p>
          <a:p>
            <a:pPr marL="342900" indent="-342900">
              <a:spcAft>
                <a:spcPts val="600"/>
              </a:spcAft>
              <a:buSzPct val="100000"/>
              <a:buChar char="•"/>
            </a:pPr>
            <a:r>
              <a:rPr lang="en-US" sz="1500" dirty="0">
                <a:solidFill>
                  <a:schemeClr val="tx1"/>
                </a:solidFill>
              </a:rPr>
              <a:t>「人に頼らない収益」が欲しい</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そこから、いくつもの事業に挑戦した</a:t>
            </a:r>
            <a:endParaRPr lang="en-US" sz="2600" dirty="0"/>
          </a:p>
        </p:txBody>
      </p:sp>
      <p:sp>
        <p:nvSpPr>
          <p:cNvPr id="4" name="card"/>
          <p:cNvSpPr/>
          <p:nvPr/>
        </p:nvSpPr>
        <p:spPr>
          <a:xfrm>
            <a:off x="457200" y="1371600"/>
            <a:ext cx="1508760" cy="1188720"/>
          </a:xfrm>
          <a:prstGeom prst="roundRect">
            <a:avLst>
              <a:gd name="adj" fmla="val 6154"/>
            </a:avLst>
          </a:prstGeom>
          <a:solidFill>
            <a:schemeClr val="bg2"/>
          </a:solidFill>
          <a:ln/>
        </p:spPr>
      </p:sp>
      <p:sp>
        <p:nvSpPr>
          <p:cNvPr id="5" name="Text 2"/>
          <p:cNvSpPr txBox="1"/>
          <p:nvPr/>
        </p:nvSpPr>
        <p:spPr>
          <a:xfrm>
            <a:off x="457200" y="1371600"/>
            <a:ext cx="1508760" cy="1188720"/>
          </a:xfrm>
          <a:prstGeom prst="rect">
            <a:avLst/>
          </a:prstGeom>
          <a:noFill/>
          <a:ln/>
        </p:spPr>
        <p:txBody>
          <a:bodyPr wrap="square" lIns="0" tIns="0" rIns="0" bIns="0" rtlCol="0" anchor="ctr"/>
          <a:lstStyle/>
          <a:p>
            <a:pPr algn="ctr" indent="0" marL="0">
              <a:buNone/>
            </a:pPr>
            <a:r>
              <a:rPr lang="en-US" sz="1400" b="1" dirty="0">
                <a:solidFill>
                  <a:schemeClr val="tx1"/>
                </a:solidFill>
              </a:rPr>
              <a:t>エニタイム</a:t>
            </a:r>
            <a:endParaRPr lang="en-US" sz="1400" dirty="0"/>
          </a:p>
          <a:p>
            <a:pPr algn="ctr" indent="0" marL="0">
              <a:buNone/>
            </a:pPr>
            <a:r>
              <a:rPr lang="en-US" sz="1400" b="1" dirty="0">
                <a:solidFill>
                  <a:schemeClr val="tx1"/>
                </a:solidFill>
              </a:rPr>
              <a:t>フィットネス</a:t>
            </a:r>
            <a:endParaRPr lang="en-US" sz="1400" dirty="0"/>
          </a:p>
        </p:txBody>
      </p:sp>
      <p:sp>
        <p:nvSpPr>
          <p:cNvPr id="6" name="card"/>
          <p:cNvSpPr/>
          <p:nvPr/>
        </p:nvSpPr>
        <p:spPr>
          <a:xfrm>
            <a:off x="2103120" y="1371600"/>
            <a:ext cx="1508760" cy="1188720"/>
          </a:xfrm>
          <a:prstGeom prst="roundRect">
            <a:avLst>
              <a:gd name="adj" fmla="val 6154"/>
            </a:avLst>
          </a:prstGeom>
          <a:solidFill>
            <a:schemeClr val="bg2"/>
          </a:solidFill>
          <a:ln/>
        </p:spPr>
      </p:sp>
      <p:sp>
        <p:nvSpPr>
          <p:cNvPr id="7" name="Text 4"/>
          <p:cNvSpPr txBox="1"/>
          <p:nvPr/>
        </p:nvSpPr>
        <p:spPr>
          <a:xfrm>
            <a:off x="2103120" y="1371600"/>
            <a:ext cx="1508760" cy="1188720"/>
          </a:xfrm>
          <a:prstGeom prst="rect">
            <a:avLst/>
          </a:prstGeom>
          <a:noFill/>
          <a:ln/>
        </p:spPr>
        <p:txBody>
          <a:bodyPr wrap="square" lIns="0" tIns="0" rIns="0" bIns="0" rtlCol="0" anchor="ctr"/>
          <a:lstStyle/>
          <a:p>
            <a:pPr algn="ctr" indent="0" marL="0">
              <a:buNone/>
            </a:pPr>
            <a:r>
              <a:rPr lang="en-US" sz="1400" b="1" dirty="0">
                <a:solidFill>
                  <a:schemeClr val="tx1"/>
                </a:solidFill>
              </a:rPr>
              <a:t>ブルーボトル</a:t>
            </a:r>
            <a:endParaRPr lang="en-US" sz="1400" dirty="0"/>
          </a:p>
          <a:p>
            <a:pPr algn="ctr" indent="0" marL="0">
              <a:buNone/>
            </a:pPr>
            <a:r>
              <a:rPr lang="en-US" sz="1400" b="1" dirty="0">
                <a:solidFill>
                  <a:schemeClr val="tx1"/>
                </a:solidFill>
              </a:rPr>
              <a:t>コーヒー</a:t>
            </a:r>
            <a:endParaRPr lang="en-US" sz="1400" dirty="0"/>
          </a:p>
        </p:txBody>
      </p:sp>
      <p:sp>
        <p:nvSpPr>
          <p:cNvPr id="8" name="card"/>
          <p:cNvSpPr/>
          <p:nvPr/>
        </p:nvSpPr>
        <p:spPr>
          <a:xfrm>
            <a:off x="3749040" y="1371600"/>
            <a:ext cx="1508760" cy="1188720"/>
          </a:xfrm>
          <a:prstGeom prst="roundRect">
            <a:avLst>
              <a:gd name="adj" fmla="val 6154"/>
            </a:avLst>
          </a:prstGeom>
          <a:solidFill>
            <a:schemeClr val="bg2"/>
          </a:solidFill>
          <a:ln/>
        </p:spPr>
      </p:sp>
      <p:sp>
        <p:nvSpPr>
          <p:cNvPr id="9" name="Text 6"/>
          <p:cNvSpPr txBox="1"/>
          <p:nvPr/>
        </p:nvSpPr>
        <p:spPr>
          <a:xfrm>
            <a:off x="3749040" y="1371600"/>
            <a:ext cx="1508760" cy="1188720"/>
          </a:xfrm>
          <a:prstGeom prst="rect">
            <a:avLst/>
          </a:prstGeom>
          <a:noFill/>
          <a:ln/>
        </p:spPr>
        <p:txBody>
          <a:bodyPr wrap="square" lIns="0" tIns="0" rIns="0" bIns="0" rtlCol="0" anchor="ctr"/>
          <a:lstStyle/>
          <a:p>
            <a:pPr algn="ctr" indent="0" marL="0">
              <a:buNone/>
            </a:pPr>
            <a:r>
              <a:rPr lang="en-US" sz="1400" b="1" dirty="0">
                <a:solidFill>
                  <a:schemeClr val="tx1"/>
                </a:solidFill>
              </a:rPr>
              <a:t>八百屋</a:t>
            </a:r>
            <a:endParaRPr lang="en-US" sz="1400" dirty="0"/>
          </a:p>
        </p:txBody>
      </p:sp>
      <p:sp>
        <p:nvSpPr>
          <p:cNvPr id="10" name="card"/>
          <p:cNvSpPr/>
          <p:nvPr/>
        </p:nvSpPr>
        <p:spPr>
          <a:xfrm>
            <a:off x="5394960" y="1371600"/>
            <a:ext cx="1508760" cy="1188720"/>
          </a:xfrm>
          <a:prstGeom prst="roundRect">
            <a:avLst>
              <a:gd name="adj" fmla="val 6154"/>
            </a:avLst>
          </a:prstGeom>
          <a:solidFill>
            <a:schemeClr val="bg2"/>
          </a:solidFill>
          <a:ln/>
        </p:spPr>
      </p:sp>
      <p:sp>
        <p:nvSpPr>
          <p:cNvPr id="11" name="Text 8"/>
          <p:cNvSpPr txBox="1"/>
          <p:nvPr/>
        </p:nvSpPr>
        <p:spPr>
          <a:xfrm>
            <a:off x="5394960" y="1371600"/>
            <a:ext cx="1508760" cy="1188720"/>
          </a:xfrm>
          <a:prstGeom prst="rect">
            <a:avLst/>
          </a:prstGeom>
          <a:noFill/>
          <a:ln/>
        </p:spPr>
        <p:txBody>
          <a:bodyPr wrap="square" lIns="0" tIns="0" rIns="0" bIns="0" rtlCol="0" anchor="ctr"/>
          <a:lstStyle/>
          <a:p>
            <a:pPr algn="ctr" indent="0" marL="0">
              <a:buNone/>
            </a:pPr>
            <a:r>
              <a:rPr lang="en-US" sz="1400" b="1" dirty="0">
                <a:solidFill>
                  <a:schemeClr val="tx1"/>
                </a:solidFill>
              </a:rPr>
              <a:t>コーヒー</a:t>
            </a:r>
            <a:endParaRPr lang="en-US" sz="1400" dirty="0"/>
          </a:p>
          <a:p>
            <a:pPr algn="ctr" indent="0" marL="0">
              <a:buNone/>
            </a:pPr>
            <a:r>
              <a:rPr lang="en-US" sz="1400" b="1" dirty="0">
                <a:solidFill>
                  <a:schemeClr val="tx1"/>
                </a:solidFill>
              </a:rPr>
              <a:t>ショップ</a:t>
            </a:r>
            <a:endParaRPr lang="en-US" sz="1400" dirty="0"/>
          </a:p>
        </p:txBody>
      </p:sp>
      <p:sp>
        <p:nvSpPr>
          <p:cNvPr id="12" name="card"/>
          <p:cNvSpPr/>
          <p:nvPr/>
        </p:nvSpPr>
        <p:spPr>
          <a:xfrm>
            <a:off x="7040880" y="1371600"/>
            <a:ext cx="1508760" cy="1188720"/>
          </a:xfrm>
          <a:prstGeom prst="roundRect">
            <a:avLst>
              <a:gd name="adj" fmla="val 6154"/>
            </a:avLst>
          </a:prstGeom>
          <a:solidFill>
            <a:schemeClr val="bg2"/>
          </a:solidFill>
          <a:ln/>
        </p:spPr>
      </p:sp>
      <p:sp>
        <p:nvSpPr>
          <p:cNvPr id="13" name="Text 10"/>
          <p:cNvSpPr txBox="1"/>
          <p:nvPr/>
        </p:nvSpPr>
        <p:spPr>
          <a:xfrm>
            <a:off x="7040880" y="1371600"/>
            <a:ext cx="1508760" cy="1188720"/>
          </a:xfrm>
          <a:prstGeom prst="rect">
            <a:avLst/>
          </a:prstGeom>
          <a:noFill/>
          <a:ln/>
        </p:spPr>
        <p:txBody>
          <a:bodyPr wrap="square" lIns="0" tIns="0" rIns="0" bIns="0" rtlCol="0" anchor="ctr"/>
          <a:lstStyle/>
          <a:p>
            <a:pPr algn="ctr" indent="0" marL="0">
              <a:buNone/>
            </a:pPr>
            <a:r>
              <a:rPr lang="en-US" sz="1400" b="1" dirty="0">
                <a:solidFill>
                  <a:schemeClr val="tx1"/>
                </a:solidFill>
              </a:rPr>
              <a:t>コイン</a:t>
            </a:r>
            <a:endParaRPr lang="en-US" sz="1400" dirty="0"/>
          </a:p>
          <a:p>
            <a:pPr algn="ctr" indent="0" marL="0">
              <a:buNone/>
            </a:pPr>
            <a:r>
              <a:rPr lang="en-US" sz="1400" b="1" dirty="0">
                <a:solidFill>
                  <a:schemeClr val="tx1"/>
                </a:solidFill>
              </a:rPr>
              <a:t>ランドリー</a:t>
            </a:r>
            <a:endParaRPr lang="en-US" sz="1400" dirty="0"/>
          </a:p>
        </p:txBody>
      </p:sp>
      <p:sp>
        <p:nvSpPr>
          <p:cNvPr id="14" name="Text 11"/>
          <p:cNvSpPr txBox="1"/>
          <p:nvPr/>
        </p:nvSpPr>
        <p:spPr>
          <a:xfrm>
            <a:off x="457200" y="2926080"/>
            <a:ext cx="8229600" cy="365760"/>
          </a:xfrm>
          <a:prstGeom prst="rect">
            <a:avLst/>
          </a:prstGeom>
          <a:noFill/>
          <a:ln/>
        </p:spPr>
        <p:txBody>
          <a:bodyPr wrap="square" lIns="0" tIns="0" rIns="0" bIns="0" rtlCol="0" anchor="t"/>
          <a:lstStyle/>
          <a:p>
            <a:pPr indent="0" marL="0">
              <a:buNone/>
            </a:pPr>
            <a:r>
              <a:rPr lang="en-US" sz="1800" b="1" dirty="0">
                <a:solidFill>
                  <a:schemeClr val="tx1"/>
                </a:solidFill>
              </a:rPr>
              <a:t>挑戦から見えてきた「欲しい事業」の条件</a:t>
            </a:r>
            <a:endParaRPr lang="en-US" sz="1800" dirty="0"/>
          </a:p>
        </p:txBody>
      </p:sp>
      <p:sp>
        <p:nvSpPr>
          <p:cNvPr id="15" name="badge"/>
          <p:cNvSpPr/>
          <p:nvPr/>
        </p:nvSpPr>
        <p:spPr>
          <a:xfrm>
            <a:off x="457200" y="3474720"/>
            <a:ext cx="457200" cy="457200"/>
          </a:xfrm>
          <a:prstGeom prst="ellipse">
            <a:avLst/>
          </a:prstGeom>
          <a:solidFill>
            <a:schemeClr val="accent2"/>
          </a:solidFill>
          <a:ln/>
        </p:spPr>
      </p:sp>
      <p:sp>
        <p:nvSpPr>
          <p:cNvPr id="16" name="Text 13"/>
          <p:cNvSpPr txBox="1"/>
          <p:nvPr/>
        </p:nvSpPr>
        <p:spPr>
          <a:xfrm>
            <a:off x="45720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7" name="Text 14"/>
          <p:cNvSpPr txBox="1"/>
          <p:nvPr/>
        </p:nvSpPr>
        <p:spPr>
          <a:xfrm>
            <a:off x="1005840" y="3429000"/>
            <a:ext cx="2103120" cy="640080"/>
          </a:xfrm>
          <a:prstGeom prst="rect">
            <a:avLst/>
          </a:prstGeom>
          <a:noFill/>
          <a:ln/>
        </p:spPr>
        <p:txBody>
          <a:bodyPr wrap="square" lIns="0" tIns="0" rIns="0" bIns="0" rtlCol="0" anchor="ctr"/>
          <a:lstStyle/>
          <a:p>
            <a:pPr indent="0" marL="0">
              <a:buNone/>
            </a:pPr>
            <a:r>
              <a:rPr lang="en-US" sz="1400" dirty="0">
                <a:solidFill>
                  <a:schemeClr val="tx1"/>
                </a:solidFill>
              </a:rPr>
              <a:t>自分が張り付かなくても回る</a:t>
            </a:r>
            <a:endParaRPr lang="en-US" sz="1400" dirty="0"/>
          </a:p>
        </p:txBody>
      </p:sp>
      <p:sp>
        <p:nvSpPr>
          <p:cNvPr id="18" name="badge"/>
          <p:cNvSpPr/>
          <p:nvPr/>
        </p:nvSpPr>
        <p:spPr>
          <a:xfrm>
            <a:off x="3246120" y="3474720"/>
            <a:ext cx="457200" cy="457200"/>
          </a:xfrm>
          <a:prstGeom prst="ellipse">
            <a:avLst/>
          </a:prstGeom>
          <a:solidFill>
            <a:schemeClr val="accent2"/>
          </a:solidFill>
          <a:ln/>
        </p:spPr>
      </p:sp>
      <p:sp>
        <p:nvSpPr>
          <p:cNvPr id="19" name="Text 16"/>
          <p:cNvSpPr txBox="1"/>
          <p:nvPr/>
        </p:nvSpPr>
        <p:spPr>
          <a:xfrm>
            <a:off x="324612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3794760" y="3429000"/>
            <a:ext cx="2103120" cy="640080"/>
          </a:xfrm>
          <a:prstGeom prst="rect">
            <a:avLst/>
          </a:prstGeom>
          <a:noFill/>
          <a:ln/>
        </p:spPr>
        <p:txBody>
          <a:bodyPr wrap="square" lIns="0" tIns="0" rIns="0" bIns="0" rtlCol="0" anchor="ctr"/>
          <a:lstStyle/>
          <a:p>
            <a:pPr indent="0" marL="0">
              <a:buNone/>
            </a:pPr>
            <a:r>
              <a:rPr lang="en-US" sz="1400" dirty="0">
                <a:solidFill>
                  <a:schemeClr val="tx1"/>
                </a:solidFill>
              </a:rPr>
              <a:t>数字で説明でき、融資が使える</a:t>
            </a:r>
            <a:endParaRPr lang="en-US" sz="1400" dirty="0"/>
          </a:p>
        </p:txBody>
      </p:sp>
      <p:sp>
        <p:nvSpPr>
          <p:cNvPr id="21" name="badge"/>
          <p:cNvSpPr/>
          <p:nvPr/>
        </p:nvSpPr>
        <p:spPr>
          <a:xfrm>
            <a:off x="6035040" y="3474720"/>
            <a:ext cx="457200" cy="457200"/>
          </a:xfrm>
          <a:prstGeom prst="ellipse">
            <a:avLst/>
          </a:prstGeom>
          <a:solidFill>
            <a:schemeClr val="accent2"/>
          </a:solidFill>
          <a:ln/>
        </p:spPr>
      </p:sp>
      <p:sp>
        <p:nvSpPr>
          <p:cNvPr id="22" name="Text 19"/>
          <p:cNvSpPr txBox="1"/>
          <p:nvPr/>
        </p:nvSpPr>
        <p:spPr>
          <a:xfrm>
            <a:off x="6035040" y="34747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Text 20"/>
          <p:cNvSpPr txBox="1"/>
          <p:nvPr/>
        </p:nvSpPr>
        <p:spPr>
          <a:xfrm>
            <a:off x="6583680" y="3429000"/>
            <a:ext cx="2103120" cy="640080"/>
          </a:xfrm>
          <a:prstGeom prst="rect">
            <a:avLst/>
          </a:prstGeom>
          <a:noFill/>
          <a:ln/>
        </p:spPr>
        <p:txBody>
          <a:bodyPr wrap="square" lIns="0" tIns="0" rIns="0" bIns="0" rtlCol="0" anchor="ctr"/>
          <a:lstStyle/>
          <a:p>
            <a:pPr indent="0" marL="0">
              <a:buNone/>
            </a:pPr>
            <a:r>
              <a:rPr lang="en-US" sz="1400" dirty="0">
                <a:solidFill>
                  <a:schemeClr val="tx1"/>
                </a:solidFill>
              </a:rPr>
              <a:t>小さく始めて、積み上げられる</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アプリ開発で、投資家ピッチに優勝した</a:t>
            </a:r>
            <a:endParaRPr lang="en-US" sz="2600" dirty="0"/>
          </a:p>
        </p:txBody>
      </p:sp>
      <p:sp>
        <p:nvSpPr>
          <p:cNvPr id="4" name="card"/>
          <p:cNvSpPr/>
          <p:nvPr/>
        </p:nvSpPr>
        <p:spPr>
          <a:xfrm>
            <a:off x="457200" y="1280160"/>
            <a:ext cx="4023360" cy="3200400"/>
          </a:xfrm>
          <a:prstGeom prst="roundRect">
            <a:avLst>
              <a:gd name="adj" fmla="val 2286"/>
            </a:avLst>
          </a:prstGeom>
          <a:solidFill>
            <a:schemeClr val="tx1"/>
          </a:solidFill>
          <a:ln/>
        </p:spPr>
      </p:sp>
      <p:sp>
        <p:nvSpPr>
          <p:cNvPr id="5" name="Text 2"/>
          <p:cNvSpPr txBox="1"/>
          <p:nvPr/>
        </p:nvSpPr>
        <p:spPr>
          <a:xfrm>
            <a:off x="731520" y="1463040"/>
            <a:ext cx="3474720" cy="822960"/>
          </a:xfrm>
          <a:prstGeom prst="rect">
            <a:avLst/>
          </a:prstGeom>
          <a:noFill/>
          <a:ln/>
        </p:spPr>
        <p:txBody>
          <a:bodyPr wrap="square" lIns="0" tIns="0" rIns="0" bIns="0" rtlCol="0" anchor="t"/>
          <a:lstStyle/>
          <a:p>
            <a:pPr indent="0" marL="0">
              <a:buNone/>
            </a:pPr>
            <a:r>
              <a:rPr lang="en-US" sz="4400" b="1" dirty="0">
                <a:solidFill>
                  <a:schemeClr val="accent1"/>
                </a:solidFill>
              </a:rPr>
              <a:t>優勝</a:t>
            </a:r>
            <a:endParaRPr lang="en-US" sz="4400" dirty="0"/>
          </a:p>
        </p:txBody>
      </p:sp>
      <p:sp>
        <p:nvSpPr>
          <p:cNvPr id="6" name="Text 3"/>
          <p:cNvSpPr txBox="1"/>
          <p:nvPr/>
        </p:nvSpPr>
        <p:spPr>
          <a:xfrm>
            <a:off x="731520" y="2331720"/>
            <a:ext cx="3474720" cy="731520"/>
          </a:xfrm>
          <a:prstGeom prst="rect">
            <a:avLst/>
          </a:prstGeom>
          <a:noFill/>
          <a:ln/>
        </p:spPr>
        <p:txBody>
          <a:bodyPr wrap="square" lIns="0" tIns="0" rIns="0" bIns="0" rtlCol="0" anchor="t"/>
          <a:lstStyle/>
          <a:p>
            <a:pPr indent="0" marL="0">
              <a:buNone/>
            </a:pPr>
            <a:r>
              <a:rPr lang="en-US" sz="1400" dirty="0">
                <a:solidFill>
                  <a:schemeClr val="bg1"/>
                </a:solidFill>
              </a:rPr>
              <a:t>Global Geek Audition vol.13</a:t>
            </a:r>
            <a:endParaRPr lang="en-US" sz="1400" dirty="0"/>
          </a:p>
          <a:p>
            <a:pPr indent="0" marL="0">
              <a:buNone/>
            </a:pPr>
            <a:r>
              <a:rPr lang="en-US" sz="1400" dirty="0">
                <a:solidFill>
                  <a:schemeClr val="bg1"/>
                </a:solidFill>
              </a:rPr>
              <a:t>（G's ACADEMY TOKYO / 2019年）</a:t>
            </a:r>
            <a:endParaRPr lang="en-US" sz="1400" dirty="0"/>
          </a:p>
        </p:txBody>
      </p:sp>
      <p:sp>
        <p:nvSpPr>
          <p:cNvPr id="7" name="Text 4"/>
          <p:cNvSpPr txBox="1"/>
          <p:nvPr/>
        </p:nvSpPr>
        <p:spPr>
          <a:xfrm>
            <a:off x="731520" y="3200400"/>
            <a:ext cx="3474720" cy="731520"/>
          </a:xfrm>
          <a:prstGeom prst="rect">
            <a:avLst/>
          </a:prstGeom>
          <a:noFill/>
          <a:ln/>
        </p:spPr>
        <p:txBody>
          <a:bodyPr wrap="square" lIns="0" tIns="0" rIns="0" bIns="0" rtlCol="0" anchor="t"/>
          <a:lstStyle/>
          <a:p>
            <a:pPr indent="0" marL="0">
              <a:buNone/>
            </a:pPr>
            <a:r>
              <a:rPr lang="en-US" sz="1400" dirty="0">
                <a:solidFill>
                  <a:schemeClr val="accent6"/>
                </a:solidFill>
              </a:rPr>
              <a:t>ProShift：現場の人手不足を</a:t>
            </a:r>
            <a:endParaRPr lang="en-US" sz="1400" dirty="0"/>
          </a:p>
          <a:p>
            <a:pPr indent="0" marL="0">
              <a:buNone/>
            </a:pPr>
            <a:r>
              <a:rPr lang="en-US" sz="1400" dirty="0">
                <a:solidFill>
                  <a:schemeClr val="accent6"/>
                </a:solidFill>
              </a:rPr>
              <a:t>アプリで解決するサービス</a:t>
            </a:r>
            <a:endParaRPr lang="en-US" sz="1400" dirty="0"/>
          </a:p>
        </p:txBody>
      </p:sp>
      <p:pic>
        <p:nvPicPr>
          <p:cNvPr id="8" name="photo GGA winners" descr="/tmp/claude-0/-home-user-avatars1/ff7ac518-1ad5-5c32-bb06-c962a98e323e/scratchpad/p5.png">    </p:cNvPr>
          <p:cNvPicPr>
            <a:picLocks noChangeAspect="1"/>
          </p:cNvPicPr>
          <p:nvPr/>
        </p:nvPicPr>
        <p:blipFill>
          <a:blip r:embed="rId1"/>
          <a:srcRect l="0" r="0" t="0" b="0"/>
          <a:stretch/>
        </p:blipFill>
        <p:spPr>
          <a:xfrm>
            <a:off x="4754880" y="1280160"/>
            <a:ext cx="3931920" cy="2423160"/>
          </a:xfrm>
          <a:prstGeom prst="rect">
            <a:avLst/>
          </a:prstGeom>
        </p:spPr>
      </p:pic>
      <p:sp>
        <p:nvSpPr>
          <p:cNvPr id="9" name="Text 5"/>
          <p:cNvSpPr txBox="1"/>
          <p:nvPr/>
        </p:nvSpPr>
        <p:spPr>
          <a:xfrm>
            <a:off x="4754880" y="3840480"/>
            <a:ext cx="3931920" cy="731520"/>
          </a:xfrm>
          <a:prstGeom prst="rect">
            <a:avLst/>
          </a:prstGeom>
          <a:noFill/>
          <a:ln/>
        </p:spPr>
        <p:txBody>
          <a:bodyPr wrap="square" lIns="0" tIns="0" rIns="0" bIns="0" rtlCol="0" anchor="t"/>
          <a:lstStyle/>
          <a:p>
            <a:pPr indent="0" marL="0">
              <a:buNone/>
            </a:pPr>
            <a:r>
              <a:rPr lang="en-US" sz="1300" dirty="0">
                <a:solidFill>
                  <a:schemeClr val="tx1"/>
                </a:solidFill>
              </a:rPr>
              <a:t>自分の課題を自分で形にし、投資家に数字と根拠で説明した経験が、のちの金融機関への説明力につながった。</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不動産と出会い、人生が動き始めた</a:t>
            </a:r>
            <a:endParaRPr lang="en-US" sz="2600" dirty="0"/>
          </a:p>
        </p:txBody>
      </p:sp>
      <p:sp>
        <p:nvSpPr>
          <p:cNvPr id="4" name="card"/>
          <p:cNvSpPr/>
          <p:nvPr/>
        </p:nvSpPr>
        <p:spPr>
          <a:xfrm>
            <a:off x="457200" y="1371600"/>
            <a:ext cx="3931920" cy="2651760"/>
          </a:xfrm>
          <a:prstGeom prst="roundRect">
            <a:avLst>
              <a:gd name="adj" fmla="val 2759"/>
            </a:avLst>
          </a:prstGeom>
          <a:solidFill>
            <a:schemeClr val="bg2"/>
          </a:solidFill>
          <a:ln/>
        </p:spPr>
      </p:sp>
      <p:sp>
        <p:nvSpPr>
          <p:cNvPr id="5" name="Text 2"/>
          <p:cNvSpPr txBox="1"/>
          <p:nvPr/>
        </p:nvSpPr>
        <p:spPr>
          <a:xfrm>
            <a:off x="731520" y="1554480"/>
            <a:ext cx="3383280" cy="457200"/>
          </a:xfrm>
          <a:prstGeom prst="rect">
            <a:avLst/>
          </a:prstGeom>
          <a:noFill/>
          <a:ln/>
        </p:spPr>
        <p:txBody>
          <a:bodyPr wrap="square" lIns="0" tIns="0" rIns="0" bIns="0" rtlCol="0" anchor="t"/>
          <a:lstStyle/>
          <a:p>
            <a:pPr indent="0" marL="0">
              <a:buNone/>
            </a:pPr>
            <a:r>
              <a:rPr lang="en-US" sz="2200" b="1" dirty="0">
                <a:solidFill>
                  <a:schemeClr val="accent3"/>
                </a:solidFill>
              </a:rPr>
              <a:t>人手の事業</a:t>
            </a:r>
            <a:endParaRPr lang="en-US" sz="2200" dirty="0"/>
          </a:p>
        </p:txBody>
      </p:sp>
      <p:sp>
        <p:nvSpPr>
          <p:cNvPr id="6" name="Text 3"/>
          <p:cNvSpPr txBox="1"/>
          <p:nvPr/>
        </p:nvSpPr>
        <p:spPr>
          <a:xfrm>
            <a:off x="731520" y="2103120"/>
            <a:ext cx="3383280" cy="365760"/>
          </a:xfrm>
          <a:prstGeom prst="rect">
            <a:avLst/>
          </a:prstGeom>
          <a:noFill/>
          <a:ln/>
        </p:spPr>
        <p:txBody>
          <a:bodyPr wrap="square" lIns="0" tIns="0" rIns="0" bIns="0" rtlCol="0" anchor="t"/>
          <a:lstStyle/>
          <a:p>
            <a:pPr indent="0" marL="0">
              <a:buNone/>
            </a:pPr>
            <a:r>
              <a:rPr lang="en-US" sz="1400" dirty="0">
                <a:solidFill>
                  <a:schemeClr val="accent4"/>
                </a:solidFill>
              </a:rPr>
              <a:t>店舗・アプリ・飲食</a:t>
            </a:r>
            <a:endParaRPr lang="en-US" sz="1400" dirty="0"/>
          </a:p>
        </p:txBody>
      </p:sp>
      <p:sp>
        <p:nvSpPr>
          <p:cNvPr id="7" name="Text 4"/>
          <p:cNvSpPr txBox="1"/>
          <p:nvPr/>
        </p:nvSpPr>
        <p:spPr>
          <a:xfrm>
            <a:off x="731520" y="2651760"/>
            <a:ext cx="3383280" cy="1097280"/>
          </a:xfrm>
          <a:prstGeom prst="rect">
            <a:avLst/>
          </a:prstGeom>
          <a:noFill/>
          <a:ln/>
        </p:spPr>
        <p:txBody>
          <a:bodyPr wrap="square" lIns="0" tIns="0" rIns="0" bIns="0" rtlCol="0" anchor="t"/>
          <a:lstStyle/>
          <a:p>
            <a:pPr indent="0" marL="0">
              <a:buNone/>
            </a:pPr>
            <a:r>
              <a:rPr lang="en-US" sz="1600" b="1" dirty="0">
                <a:solidFill>
                  <a:schemeClr val="tx1"/>
                </a:solidFill>
              </a:rPr>
              <a:t>自分と社員の時間が必要</a:t>
            </a:r>
            <a:endParaRPr lang="en-US" sz="1600" dirty="0"/>
          </a:p>
        </p:txBody>
      </p:sp>
      <p:sp>
        <p:nvSpPr>
          <p:cNvPr id="8" name="card"/>
          <p:cNvSpPr/>
          <p:nvPr/>
        </p:nvSpPr>
        <p:spPr>
          <a:xfrm>
            <a:off x="4754880" y="1371600"/>
            <a:ext cx="3931920" cy="2651760"/>
          </a:xfrm>
          <a:prstGeom prst="roundRect">
            <a:avLst>
              <a:gd name="adj" fmla="val 2759"/>
            </a:avLst>
          </a:prstGeom>
          <a:solidFill>
            <a:schemeClr val="bg2"/>
          </a:solidFill>
          <a:ln/>
        </p:spPr>
      </p:sp>
      <p:sp>
        <p:nvSpPr>
          <p:cNvPr id="9" name="Text 6"/>
          <p:cNvSpPr txBox="1"/>
          <p:nvPr/>
        </p:nvSpPr>
        <p:spPr>
          <a:xfrm>
            <a:off x="5029200" y="1554480"/>
            <a:ext cx="3383280" cy="457200"/>
          </a:xfrm>
          <a:prstGeom prst="rect">
            <a:avLst/>
          </a:prstGeom>
          <a:noFill/>
          <a:ln/>
        </p:spPr>
        <p:txBody>
          <a:bodyPr wrap="square" lIns="0" tIns="0" rIns="0" bIns="0" rtlCol="0" anchor="t"/>
          <a:lstStyle/>
          <a:p>
            <a:pPr indent="0" marL="0">
              <a:buNone/>
            </a:pPr>
            <a:r>
              <a:rPr lang="en-US" sz="2200" b="1" dirty="0">
                <a:solidFill>
                  <a:schemeClr val="accent2"/>
                </a:solidFill>
              </a:rPr>
              <a:t>不動産</a:t>
            </a:r>
            <a:endParaRPr lang="en-US" sz="2200" dirty="0"/>
          </a:p>
        </p:txBody>
      </p:sp>
      <p:sp>
        <p:nvSpPr>
          <p:cNvPr id="10" name="Text 7"/>
          <p:cNvSpPr txBox="1"/>
          <p:nvPr/>
        </p:nvSpPr>
        <p:spPr>
          <a:xfrm>
            <a:off x="5029200" y="2103120"/>
            <a:ext cx="3383280" cy="365760"/>
          </a:xfrm>
          <a:prstGeom prst="rect">
            <a:avLst/>
          </a:prstGeom>
          <a:noFill/>
          <a:ln/>
        </p:spPr>
        <p:txBody>
          <a:bodyPr wrap="square" lIns="0" tIns="0" rIns="0" bIns="0" rtlCol="0" anchor="t"/>
          <a:lstStyle/>
          <a:p>
            <a:pPr indent="0" marL="0">
              <a:buNone/>
            </a:pPr>
            <a:r>
              <a:rPr lang="en-US" sz="1400" dirty="0">
                <a:solidFill>
                  <a:schemeClr val="accent4"/>
                </a:solidFill>
              </a:rPr>
              <a:t>賃貸アパート・マンション</a:t>
            </a:r>
            <a:endParaRPr lang="en-US" sz="1400" dirty="0"/>
          </a:p>
        </p:txBody>
      </p:sp>
      <p:sp>
        <p:nvSpPr>
          <p:cNvPr id="11" name="Text 8"/>
          <p:cNvSpPr txBox="1"/>
          <p:nvPr/>
        </p:nvSpPr>
        <p:spPr>
          <a:xfrm>
            <a:off x="5029200" y="2651760"/>
            <a:ext cx="3383280" cy="1097280"/>
          </a:xfrm>
          <a:prstGeom prst="rect">
            <a:avLst/>
          </a:prstGeom>
          <a:noFill/>
          <a:ln/>
        </p:spPr>
        <p:txBody>
          <a:bodyPr wrap="square" lIns="0" tIns="0" rIns="0" bIns="0" rtlCol="0" anchor="t"/>
          <a:lstStyle/>
          <a:p>
            <a:pPr indent="0" marL="0">
              <a:buNone/>
            </a:pPr>
            <a:r>
              <a:rPr lang="en-US" sz="1600" b="1" dirty="0">
                <a:solidFill>
                  <a:schemeClr val="tx1"/>
                </a:solidFill>
              </a:rPr>
              <a:t>仕組みが回れば自分は不要</a:t>
            </a:r>
            <a:endParaRPr lang="en-US" sz="1600" dirty="0"/>
          </a:p>
          <a:p>
            <a:pPr indent="0" marL="0">
              <a:buNone/>
            </a:pPr>
            <a:r>
              <a:rPr lang="en-US" sz="1600" b="1" dirty="0">
                <a:solidFill>
                  <a:schemeClr val="tx1"/>
                </a:solidFill>
              </a:rPr>
              <a:t>融資が使える</a:t>
            </a:r>
            <a:endParaRPr lang="en-US" sz="1600" dirty="0"/>
          </a:p>
        </p:txBody>
      </p:sp>
      <p:sp>
        <p:nvSpPr>
          <p:cNvPr id="12" name="Text 9"/>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600" b="1" dirty="0">
                <a:solidFill>
                  <a:schemeClr val="accent2"/>
                </a:solidFill>
              </a:rPr>
              <a:t>→ 2021年6月、最初の1棟（千葉県市原市の軽量鉄骨アパート・頭金500万円）を購入</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全体像：お金を使わずに増やし、自力をつけ、次へ</a:t>
            </a:r>
            <a:endParaRPr lang="en-US" sz="2600" dirty="0"/>
          </a:p>
        </p:txBody>
      </p:sp>
      <p:sp>
        <p:nvSpPr>
          <p:cNvPr id="4" name="card"/>
          <p:cNvSpPr/>
          <p:nvPr/>
        </p:nvSpPr>
        <p:spPr>
          <a:xfrm>
            <a:off x="457200" y="1280160"/>
            <a:ext cx="2560320" cy="2651760"/>
          </a:xfrm>
          <a:prstGeom prst="roundRect">
            <a:avLst>
              <a:gd name="adj" fmla="val 2857"/>
            </a:avLst>
          </a:prstGeom>
          <a:solidFill>
            <a:schemeClr val="bg2"/>
          </a:solidFill>
          <a:ln/>
        </p:spPr>
      </p:sp>
      <p:sp>
        <p:nvSpPr>
          <p:cNvPr id="5" name="Text 2"/>
          <p:cNvSpPr txBox="1"/>
          <p:nvPr/>
        </p:nvSpPr>
        <p:spPr>
          <a:xfrm>
            <a:off x="685800" y="1417320"/>
            <a:ext cx="2103120" cy="320040"/>
          </a:xfrm>
          <a:prstGeom prst="rect">
            <a:avLst/>
          </a:prstGeom>
          <a:noFill/>
          <a:ln/>
        </p:spPr>
        <p:txBody>
          <a:bodyPr wrap="square" lIns="0" tIns="0" rIns="0" bIns="0" rtlCol="0" anchor="t"/>
          <a:lstStyle/>
          <a:p>
            <a:pPr indent="0" marL="0">
              <a:buNone/>
            </a:pPr>
            <a:r>
              <a:rPr lang="en-US" sz="1300" b="1" dirty="0">
                <a:solidFill>
                  <a:schemeClr val="accent1"/>
                </a:solidFill>
              </a:rPr>
              <a:t>STEP 1</a:t>
            </a:r>
            <a:endParaRPr lang="en-US" sz="1300" dirty="0"/>
          </a:p>
        </p:txBody>
      </p:sp>
      <p:sp>
        <p:nvSpPr>
          <p:cNvPr id="6" name="Text 3"/>
          <p:cNvSpPr txBox="1"/>
          <p:nvPr/>
        </p:nvSpPr>
        <p:spPr>
          <a:xfrm>
            <a:off x="685800" y="1783080"/>
            <a:ext cx="2148840" cy="457200"/>
          </a:xfrm>
          <a:prstGeom prst="rect">
            <a:avLst/>
          </a:prstGeom>
          <a:noFill/>
          <a:ln/>
        </p:spPr>
        <p:txBody>
          <a:bodyPr wrap="square" lIns="0" tIns="0" rIns="0" bIns="0" rtlCol="0" anchor="t"/>
          <a:lstStyle/>
          <a:p>
            <a:pPr indent="0" marL="0">
              <a:buNone/>
            </a:pPr>
            <a:r>
              <a:rPr lang="en-US" sz="1700" b="1" dirty="0">
                <a:solidFill>
                  <a:schemeClr val="tx1"/>
                </a:solidFill>
              </a:rPr>
              <a:t>お金を使わずに増やす</a:t>
            </a:r>
            <a:endParaRPr lang="en-US" sz="1700" dirty="0"/>
          </a:p>
        </p:txBody>
      </p:sp>
      <p:sp>
        <p:nvSpPr>
          <p:cNvPr id="7" name="Text 4"/>
          <p:cNvSpPr txBox="1"/>
          <p:nvPr/>
        </p:nvSpPr>
        <p:spPr>
          <a:xfrm>
            <a:off x="685800" y="2377440"/>
            <a:ext cx="21945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積算が価格を上回る物件</a:t>
            </a:r>
            <a:endParaRPr lang="en-US" sz="1200" dirty="0"/>
          </a:p>
          <a:p>
            <a:pPr marL="342900" indent="-342900">
              <a:spcAft>
                <a:spcPts val="600"/>
              </a:spcAft>
              <a:buSzPct val="100000"/>
              <a:buChar char="•"/>
            </a:pPr>
            <a:r>
              <a:rPr lang="en-US" sz="1200" dirty="0">
                <a:solidFill>
                  <a:schemeClr val="tx1"/>
                </a:solidFill>
              </a:rPr>
              <a:t>フルローン・オーバーローン</a:t>
            </a:r>
            <a:endParaRPr lang="en-US" sz="1200" dirty="0"/>
          </a:p>
          <a:p>
            <a:pPr marL="342900" indent="-342900">
              <a:spcAft>
                <a:spcPts val="600"/>
              </a:spcAft>
              <a:buSzPct val="100000"/>
              <a:buChar char="•"/>
            </a:pPr>
            <a:r>
              <a:rPr lang="en-US" sz="1200" dirty="0">
                <a:solidFill>
                  <a:schemeClr val="tx1"/>
                </a:solidFill>
              </a:rPr>
              <a:t>購入価格以上の融資を引く</a:t>
            </a:r>
            <a:endParaRPr lang="en-US" sz="1200" dirty="0"/>
          </a:p>
        </p:txBody>
      </p:sp>
      <p:sp>
        <p:nvSpPr>
          <p:cNvPr id="8" name="Text 5"/>
          <p:cNvSpPr txBox="1"/>
          <p:nvPr/>
        </p:nvSpPr>
        <p:spPr>
          <a:xfrm>
            <a:off x="3017520" y="2377440"/>
            <a:ext cx="27432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9" name="card"/>
          <p:cNvSpPr/>
          <p:nvPr/>
        </p:nvSpPr>
        <p:spPr>
          <a:xfrm>
            <a:off x="3291840" y="1280160"/>
            <a:ext cx="2560320" cy="2651760"/>
          </a:xfrm>
          <a:prstGeom prst="roundRect">
            <a:avLst>
              <a:gd name="adj" fmla="val 2857"/>
            </a:avLst>
          </a:prstGeom>
          <a:solidFill>
            <a:schemeClr val="bg2"/>
          </a:solidFill>
          <a:ln/>
        </p:spPr>
      </p:sp>
      <p:sp>
        <p:nvSpPr>
          <p:cNvPr id="10" name="Text 7"/>
          <p:cNvSpPr txBox="1"/>
          <p:nvPr/>
        </p:nvSpPr>
        <p:spPr>
          <a:xfrm>
            <a:off x="3520440" y="1417320"/>
            <a:ext cx="2103120" cy="320040"/>
          </a:xfrm>
          <a:prstGeom prst="rect">
            <a:avLst/>
          </a:prstGeom>
          <a:noFill/>
          <a:ln/>
        </p:spPr>
        <p:txBody>
          <a:bodyPr wrap="square" lIns="0" tIns="0" rIns="0" bIns="0" rtlCol="0" anchor="t"/>
          <a:lstStyle/>
          <a:p>
            <a:pPr indent="0" marL="0">
              <a:buNone/>
            </a:pPr>
            <a:r>
              <a:rPr lang="en-US" sz="1300" b="1" dirty="0">
                <a:solidFill>
                  <a:schemeClr val="accent2"/>
                </a:solidFill>
              </a:rPr>
              <a:t>STEP 2</a:t>
            </a:r>
            <a:endParaRPr lang="en-US" sz="1300" dirty="0"/>
          </a:p>
        </p:txBody>
      </p:sp>
      <p:sp>
        <p:nvSpPr>
          <p:cNvPr id="11" name="Text 8"/>
          <p:cNvSpPr txBox="1"/>
          <p:nvPr/>
        </p:nvSpPr>
        <p:spPr>
          <a:xfrm>
            <a:off x="3520440" y="1783080"/>
            <a:ext cx="2148840" cy="457200"/>
          </a:xfrm>
          <a:prstGeom prst="rect">
            <a:avLst/>
          </a:prstGeom>
          <a:noFill/>
          <a:ln/>
        </p:spPr>
        <p:txBody>
          <a:bodyPr wrap="square" lIns="0" tIns="0" rIns="0" bIns="0" rtlCol="0" anchor="t"/>
          <a:lstStyle/>
          <a:p>
            <a:pPr indent="0" marL="0">
              <a:buNone/>
            </a:pPr>
            <a:r>
              <a:rPr lang="en-US" sz="1700" b="1" dirty="0">
                <a:solidFill>
                  <a:schemeClr val="tx1"/>
                </a:solidFill>
              </a:rPr>
              <a:t>自力をつける</a:t>
            </a:r>
            <a:endParaRPr lang="en-US" sz="1700" dirty="0"/>
          </a:p>
        </p:txBody>
      </p:sp>
      <p:sp>
        <p:nvSpPr>
          <p:cNvPr id="12" name="Text 9"/>
          <p:cNvSpPr txBox="1"/>
          <p:nvPr/>
        </p:nvSpPr>
        <p:spPr>
          <a:xfrm>
            <a:off x="3520440" y="2377440"/>
            <a:ext cx="21945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満室でインカムから返済</a:t>
            </a:r>
            <a:endParaRPr lang="en-US" sz="1200" dirty="0"/>
          </a:p>
          <a:p>
            <a:pPr marL="342900" indent="-342900">
              <a:spcAft>
                <a:spcPts val="600"/>
              </a:spcAft>
              <a:buSzPct val="100000"/>
              <a:buChar char="•"/>
            </a:pPr>
            <a:r>
              <a:rPr lang="en-US" sz="1200" dirty="0">
                <a:solidFill>
                  <a:schemeClr val="tx1"/>
                </a:solidFill>
              </a:rPr>
              <a:t>決算書を整えて追加融資</a:t>
            </a:r>
            <a:endParaRPr lang="en-US" sz="1200" dirty="0"/>
          </a:p>
          <a:p>
            <a:pPr marL="342900" indent="-342900">
              <a:spcAft>
                <a:spcPts val="600"/>
              </a:spcAft>
              <a:buSzPct val="100000"/>
              <a:buChar char="•"/>
            </a:pPr>
            <a:r>
              <a:rPr lang="en-US" sz="1200" dirty="0">
                <a:solidFill>
                  <a:schemeClr val="tx1"/>
                </a:solidFill>
              </a:rPr>
              <a:t>現金を残す</a:t>
            </a:r>
            <a:endParaRPr lang="en-US" sz="1200" dirty="0"/>
          </a:p>
        </p:txBody>
      </p:sp>
      <p:sp>
        <p:nvSpPr>
          <p:cNvPr id="13" name="Text 10"/>
          <p:cNvSpPr txBox="1"/>
          <p:nvPr/>
        </p:nvSpPr>
        <p:spPr>
          <a:xfrm>
            <a:off x="5852160" y="2377440"/>
            <a:ext cx="27432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14" name="card"/>
          <p:cNvSpPr/>
          <p:nvPr/>
        </p:nvSpPr>
        <p:spPr>
          <a:xfrm>
            <a:off x="6126480" y="1280160"/>
            <a:ext cx="2560320" cy="2651760"/>
          </a:xfrm>
          <a:prstGeom prst="roundRect">
            <a:avLst>
              <a:gd name="adj" fmla="val 2857"/>
            </a:avLst>
          </a:prstGeom>
          <a:solidFill>
            <a:schemeClr val="bg2"/>
          </a:solidFill>
          <a:ln/>
        </p:spPr>
      </p:sp>
      <p:sp>
        <p:nvSpPr>
          <p:cNvPr id="15" name="Text 12"/>
          <p:cNvSpPr txBox="1"/>
          <p:nvPr/>
        </p:nvSpPr>
        <p:spPr>
          <a:xfrm>
            <a:off x="6355080" y="1417320"/>
            <a:ext cx="2103120" cy="320040"/>
          </a:xfrm>
          <a:prstGeom prst="rect">
            <a:avLst/>
          </a:prstGeom>
          <a:noFill/>
          <a:ln/>
        </p:spPr>
        <p:txBody>
          <a:bodyPr wrap="square" lIns="0" tIns="0" rIns="0" bIns="0" rtlCol="0" anchor="t"/>
          <a:lstStyle/>
          <a:p>
            <a:pPr indent="0" marL="0">
              <a:buNone/>
            </a:pPr>
            <a:r>
              <a:rPr lang="en-US" sz="1300" b="1" dirty="0">
                <a:solidFill>
                  <a:schemeClr val="accent3"/>
                </a:solidFill>
              </a:rPr>
              <a:t>STEP 3</a:t>
            </a:r>
            <a:endParaRPr lang="en-US" sz="1300" dirty="0"/>
          </a:p>
        </p:txBody>
      </p:sp>
      <p:sp>
        <p:nvSpPr>
          <p:cNvPr id="16" name="Text 13"/>
          <p:cNvSpPr txBox="1"/>
          <p:nvPr/>
        </p:nvSpPr>
        <p:spPr>
          <a:xfrm>
            <a:off x="6355080" y="1783080"/>
            <a:ext cx="2148840" cy="457200"/>
          </a:xfrm>
          <a:prstGeom prst="rect">
            <a:avLst/>
          </a:prstGeom>
          <a:noFill/>
          <a:ln/>
        </p:spPr>
        <p:txBody>
          <a:bodyPr wrap="square" lIns="0" tIns="0" rIns="0" bIns="0" rtlCol="0" anchor="t"/>
          <a:lstStyle/>
          <a:p>
            <a:pPr indent="0" marL="0">
              <a:buNone/>
            </a:pPr>
            <a:r>
              <a:rPr lang="en-US" sz="1700" b="1" dirty="0">
                <a:solidFill>
                  <a:schemeClr val="tx1"/>
                </a:solidFill>
              </a:rPr>
              <a:t>次の段階へ</a:t>
            </a:r>
            <a:endParaRPr lang="en-US" sz="1700" dirty="0"/>
          </a:p>
        </p:txBody>
      </p:sp>
      <p:sp>
        <p:nvSpPr>
          <p:cNvPr id="17" name="Text 14"/>
          <p:cNvSpPr txBox="1"/>
          <p:nvPr/>
        </p:nvSpPr>
        <p:spPr>
          <a:xfrm>
            <a:off x="6355080" y="2377440"/>
            <a:ext cx="219456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再生：物件の価値を上げる</a:t>
            </a:r>
            <a:endParaRPr lang="en-US" sz="1200" dirty="0"/>
          </a:p>
          <a:p>
            <a:pPr marL="342900" indent="-342900">
              <a:spcAft>
                <a:spcPts val="600"/>
              </a:spcAft>
              <a:buSzPct val="100000"/>
              <a:buChar char="•"/>
            </a:pPr>
            <a:r>
              <a:rPr lang="en-US" sz="1200" dirty="0">
                <a:solidFill>
                  <a:schemeClr val="tx1"/>
                </a:solidFill>
              </a:rPr>
              <a:t>新築：東京の土地から建てる</a:t>
            </a:r>
            <a:endParaRPr lang="en-US" sz="1200" dirty="0"/>
          </a:p>
          <a:p>
            <a:pPr marL="342900" indent="-342900">
              <a:spcAft>
                <a:spcPts val="600"/>
              </a:spcAft>
              <a:buSzPct val="100000"/>
              <a:buChar char="•"/>
            </a:pPr>
            <a:r>
              <a:rPr lang="en-US" sz="1200" dirty="0">
                <a:solidFill>
                  <a:schemeClr val="tx1"/>
                </a:solidFill>
              </a:rPr>
              <a:t>持ってよし、売ってよし</a:t>
            </a:r>
            <a:endParaRPr lang="en-US" sz="1200" dirty="0"/>
          </a:p>
        </p:txBody>
      </p:sp>
      <p:sp>
        <p:nvSpPr>
          <p:cNvPr id="18" name="card"/>
          <p:cNvSpPr/>
          <p:nvPr/>
        </p:nvSpPr>
        <p:spPr>
          <a:xfrm>
            <a:off x="457200" y="4114800"/>
            <a:ext cx="8229600" cy="548640"/>
          </a:xfrm>
          <a:prstGeom prst="roundRect">
            <a:avLst>
              <a:gd name="adj" fmla="val 13333"/>
            </a:avLst>
          </a:prstGeom>
          <a:solidFill>
            <a:schemeClr val="tx1"/>
          </a:solidFill>
          <a:ln/>
        </p:spPr>
      </p:sp>
      <p:sp>
        <p:nvSpPr>
          <p:cNvPr id="19" name="Text 16"/>
          <p:cNvSpPr txBox="1"/>
          <p:nvPr/>
        </p:nvSpPr>
        <p:spPr>
          <a:xfrm>
            <a:off x="457200" y="4114800"/>
            <a:ext cx="8229600" cy="548640"/>
          </a:xfrm>
          <a:prstGeom prst="rect">
            <a:avLst/>
          </a:prstGeom>
          <a:noFill/>
          <a:ln/>
        </p:spPr>
        <p:txBody>
          <a:bodyPr wrap="square" lIns="0" tIns="0" rIns="0" bIns="0" rtlCol="0" anchor="ctr"/>
          <a:lstStyle/>
          <a:p>
            <a:pPr algn="ctr" indent="0" marL="0">
              <a:buNone/>
            </a:pPr>
            <a:r>
              <a:rPr lang="en-US" sz="1600" b="1" dirty="0">
                <a:solidFill>
                  <a:schemeClr val="accent1"/>
                </a:solidFill>
              </a:rPr>
              <a:t>すべての出発点は、いかにお金を使わずに買うか</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MDさん流「弱者の戦略」とは何か</a:t>
            </a:r>
            <a:endParaRPr lang="en-US" sz="2600" dirty="0"/>
          </a:p>
        </p:txBody>
      </p:sp>
      <p:sp>
        <p:nvSpPr>
          <p:cNvPr id="4" name="card"/>
          <p:cNvSpPr/>
          <p:nvPr/>
        </p:nvSpPr>
        <p:spPr>
          <a:xfrm>
            <a:off x="457200" y="1280160"/>
            <a:ext cx="3931920" cy="3108960"/>
          </a:xfrm>
          <a:prstGeom prst="roundRect">
            <a:avLst>
              <a:gd name="adj" fmla="val 2353"/>
            </a:avLst>
          </a:prstGeom>
          <a:solidFill>
            <a:schemeClr val="bg2"/>
          </a:solidFill>
          <a:ln/>
        </p:spPr>
      </p:sp>
      <p:sp>
        <p:nvSpPr>
          <p:cNvPr id="5" name="Text 2"/>
          <p:cNvSpPr txBox="1"/>
          <p:nvPr/>
        </p:nvSpPr>
        <p:spPr>
          <a:xfrm>
            <a:off x="731520" y="1463040"/>
            <a:ext cx="3383280" cy="457200"/>
          </a:xfrm>
          <a:prstGeom prst="rect">
            <a:avLst/>
          </a:prstGeom>
          <a:noFill/>
          <a:ln/>
        </p:spPr>
        <p:txBody>
          <a:bodyPr wrap="square" lIns="0" tIns="0" rIns="0" bIns="0" rtlCol="0" anchor="t"/>
          <a:lstStyle/>
          <a:p>
            <a:pPr indent="0" marL="0">
              <a:buNone/>
            </a:pPr>
            <a:r>
              <a:rPr lang="en-US" sz="2000" b="1" dirty="0">
                <a:solidFill>
                  <a:srgbClr val="000000"/>
                </a:solidFill>
              </a:rPr>
              <a:t>強者の戦い方</a:t>
            </a:r>
            <a:endParaRPr lang="en-US" sz="2000" dirty="0"/>
          </a:p>
        </p:txBody>
      </p:sp>
      <p:sp>
        <p:nvSpPr>
          <p:cNvPr id="6" name="Text 3"/>
          <p:cNvSpPr txBox="1"/>
          <p:nvPr/>
        </p:nvSpPr>
        <p:spPr>
          <a:xfrm>
            <a:off x="731520" y="2103120"/>
            <a:ext cx="338328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都心の一等地を買う</a:t>
            </a:r>
            <a:endParaRPr lang="en-US" sz="1500" dirty="0"/>
          </a:p>
          <a:p>
            <a:pPr marL="342900" indent="-342900">
              <a:spcAft>
                <a:spcPts val="600"/>
              </a:spcAft>
              <a:buSzPct val="100000"/>
              <a:buChar char="•"/>
            </a:pPr>
            <a:r>
              <a:rPr lang="en-US" sz="1500" dirty="0">
                <a:solidFill>
                  <a:schemeClr val="tx1"/>
                </a:solidFill>
              </a:rPr>
              <a:t>自己資金・属性が厚い</a:t>
            </a:r>
            <a:endParaRPr lang="en-US" sz="1500" dirty="0"/>
          </a:p>
          <a:p>
            <a:pPr marL="342900" indent="-342900">
              <a:spcAft>
                <a:spcPts val="600"/>
              </a:spcAft>
              <a:buSzPct val="100000"/>
              <a:buChar char="•"/>
            </a:pPr>
            <a:r>
              <a:rPr lang="en-US" sz="1500" dirty="0">
                <a:solidFill>
                  <a:schemeClr val="tx1"/>
                </a:solidFill>
              </a:rPr>
              <a:t>利回りは低くても気にしない</a:t>
            </a:r>
            <a:endParaRPr lang="en-US" sz="1500" dirty="0"/>
          </a:p>
        </p:txBody>
      </p:sp>
      <p:sp>
        <p:nvSpPr>
          <p:cNvPr id="7" name="card"/>
          <p:cNvSpPr/>
          <p:nvPr/>
        </p:nvSpPr>
        <p:spPr>
          <a:xfrm>
            <a:off x="4754880" y="1280160"/>
            <a:ext cx="3931920" cy="3108960"/>
          </a:xfrm>
          <a:prstGeom prst="roundRect">
            <a:avLst>
              <a:gd name="adj" fmla="val 2353"/>
            </a:avLst>
          </a:prstGeom>
          <a:solidFill>
            <a:schemeClr val="accent5"/>
          </a:solidFill>
          <a:ln/>
        </p:spPr>
      </p:sp>
      <p:sp>
        <p:nvSpPr>
          <p:cNvPr id="8" name="Text 5"/>
          <p:cNvSpPr txBox="1"/>
          <p:nvPr/>
        </p:nvSpPr>
        <p:spPr>
          <a:xfrm>
            <a:off x="5029200" y="1463040"/>
            <a:ext cx="3383280" cy="457200"/>
          </a:xfrm>
          <a:prstGeom prst="rect">
            <a:avLst/>
          </a:prstGeom>
          <a:noFill/>
          <a:ln/>
        </p:spPr>
        <p:txBody>
          <a:bodyPr wrap="square" lIns="0" tIns="0" rIns="0" bIns="0" rtlCol="0" anchor="t"/>
          <a:lstStyle/>
          <a:p>
            <a:pPr indent="0" marL="0">
              <a:buNone/>
            </a:pPr>
            <a:r>
              <a:rPr lang="en-US" sz="2000" b="1" dirty="0">
                <a:solidFill>
                  <a:srgbClr val="000000"/>
                </a:solidFill>
              </a:rPr>
              <a:t>弱者の戦い方</a:t>
            </a:r>
            <a:endParaRPr lang="en-US" sz="2000" dirty="0"/>
          </a:p>
        </p:txBody>
      </p:sp>
      <p:sp>
        <p:nvSpPr>
          <p:cNvPr id="9" name="Text 6"/>
          <p:cNvSpPr txBox="1"/>
          <p:nvPr/>
        </p:nvSpPr>
        <p:spPr>
          <a:xfrm>
            <a:off x="5029200" y="2103120"/>
            <a:ext cx="3383280"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地方で、積算が売買価格を上回る物件を買う</a:t>
            </a:r>
            <a:endParaRPr lang="en-US" sz="1500" dirty="0"/>
          </a:p>
          <a:p>
            <a:pPr marL="342900" indent="-342900">
              <a:spcAft>
                <a:spcPts val="600"/>
              </a:spcAft>
              <a:buSzPct val="100000"/>
              <a:buChar char="•"/>
            </a:pPr>
            <a:r>
              <a:rPr lang="en-US" sz="1500" dirty="0">
                <a:solidFill>
                  <a:schemeClr val="tx1"/>
                </a:solidFill>
              </a:rPr>
              <a:t>高利回りで満室、インカムで返済する</a:t>
            </a:r>
            <a:endParaRPr lang="en-US" sz="1500" dirty="0"/>
          </a:p>
          <a:p>
            <a:pPr marL="342900" indent="-342900">
              <a:spcAft>
                <a:spcPts val="600"/>
              </a:spcAft>
              <a:buSzPct val="100000"/>
              <a:buChar char="•"/>
            </a:pPr>
            <a:r>
              <a:rPr lang="en-US" sz="1500" dirty="0">
                <a:solidFill>
                  <a:schemeClr val="tx1"/>
                </a:solidFill>
              </a:rPr>
              <a:t>法定耐用年数内の融資を引く</a:t>
            </a:r>
            <a:endParaRPr lang="en-US" sz="1500" dirty="0"/>
          </a:p>
          <a:p>
            <a:pPr marL="342900" indent="-342900">
              <a:spcAft>
                <a:spcPts val="600"/>
              </a:spcAft>
              <a:buSzPct val="100000"/>
              <a:buChar char="•"/>
            </a:pPr>
            <a:r>
              <a:rPr lang="en-US" sz="1500" dirty="0">
                <a:solidFill>
                  <a:schemeClr val="tx1"/>
                </a:solidFill>
              </a:rPr>
              <a:t>自己資金をできるだけ使わない</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買う物件の条件は、この4つだけ</a:t>
            </a:r>
            <a:endParaRPr lang="en-US" sz="2600" dirty="0"/>
          </a:p>
        </p:txBody>
      </p:sp>
      <p:sp>
        <p:nvSpPr>
          <p:cNvPr id="4" name="card"/>
          <p:cNvSpPr/>
          <p:nvPr/>
        </p:nvSpPr>
        <p:spPr>
          <a:xfrm>
            <a:off x="457200" y="1280160"/>
            <a:ext cx="3931920" cy="1463040"/>
          </a:xfrm>
          <a:prstGeom prst="roundRect">
            <a:avLst>
              <a:gd name="adj" fmla="val 5000"/>
            </a:avLst>
          </a:prstGeom>
          <a:solidFill>
            <a:schemeClr val="bg2"/>
          </a:solidFill>
          <a:ln/>
        </p:spPr>
      </p:sp>
      <p:sp>
        <p:nvSpPr>
          <p:cNvPr id="5" name="badge"/>
          <p:cNvSpPr/>
          <p:nvPr/>
        </p:nvSpPr>
        <p:spPr>
          <a:xfrm>
            <a:off x="685800" y="1691640"/>
            <a:ext cx="640080" cy="640080"/>
          </a:xfrm>
          <a:prstGeom prst="ellipse">
            <a:avLst/>
          </a:prstGeom>
          <a:solidFill>
            <a:schemeClr val="accent1"/>
          </a:solidFill>
          <a:ln/>
        </p:spPr>
      </p:sp>
      <p:sp>
        <p:nvSpPr>
          <p:cNvPr id="6" name="Text 3"/>
          <p:cNvSpPr txBox="1"/>
          <p:nvPr/>
        </p:nvSpPr>
        <p:spPr>
          <a:xfrm>
            <a:off x="685800" y="169164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4"/>
          <p:cNvSpPr txBox="1"/>
          <p:nvPr/>
        </p:nvSpPr>
        <p:spPr>
          <a:xfrm>
            <a:off x="1508760" y="1554480"/>
            <a:ext cx="2743200" cy="457200"/>
          </a:xfrm>
          <a:prstGeom prst="rect">
            <a:avLst/>
          </a:prstGeom>
          <a:noFill/>
          <a:ln/>
        </p:spPr>
        <p:txBody>
          <a:bodyPr wrap="square" lIns="0" tIns="0" rIns="0" bIns="0" rtlCol="0" anchor="t"/>
          <a:lstStyle/>
          <a:p>
            <a:pPr indent="0" marL="0">
              <a:buNone/>
            </a:pPr>
            <a:r>
              <a:rPr lang="en-US" sz="2000" b="1" dirty="0">
                <a:solidFill>
                  <a:schemeClr val="tx1"/>
                </a:solidFill>
              </a:rPr>
              <a:t>積算 ≧ 売買価格</a:t>
            </a:r>
            <a:endParaRPr lang="en-US" sz="2000" dirty="0"/>
          </a:p>
        </p:txBody>
      </p:sp>
      <p:sp>
        <p:nvSpPr>
          <p:cNvPr id="8" name="Text 5"/>
          <p:cNvSpPr txBox="1"/>
          <p:nvPr/>
        </p:nvSpPr>
        <p:spPr>
          <a:xfrm>
            <a:off x="1508760" y="2057400"/>
            <a:ext cx="2743200" cy="548640"/>
          </a:xfrm>
          <a:prstGeom prst="rect">
            <a:avLst/>
          </a:prstGeom>
          <a:noFill/>
          <a:ln/>
        </p:spPr>
        <p:txBody>
          <a:bodyPr wrap="square" lIns="0" tIns="0" rIns="0" bIns="0" rtlCol="0" anchor="t"/>
          <a:lstStyle/>
          <a:p>
            <a:pPr indent="0" marL="0">
              <a:buNone/>
            </a:pPr>
            <a:r>
              <a:rPr lang="en-US" sz="1400" dirty="0">
                <a:solidFill>
                  <a:schemeClr val="accent4"/>
                </a:solidFill>
              </a:rPr>
              <a:t>担保評価が購入価格を上回る</a:t>
            </a:r>
            <a:endParaRPr lang="en-US" sz="1400" dirty="0"/>
          </a:p>
        </p:txBody>
      </p:sp>
      <p:sp>
        <p:nvSpPr>
          <p:cNvPr id="9" name="card"/>
          <p:cNvSpPr/>
          <p:nvPr/>
        </p:nvSpPr>
        <p:spPr>
          <a:xfrm>
            <a:off x="4754880" y="1280160"/>
            <a:ext cx="3931920" cy="1463040"/>
          </a:xfrm>
          <a:prstGeom prst="roundRect">
            <a:avLst>
              <a:gd name="adj" fmla="val 5000"/>
            </a:avLst>
          </a:prstGeom>
          <a:solidFill>
            <a:schemeClr val="bg2"/>
          </a:solidFill>
          <a:ln/>
        </p:spPr>
      </p:sp>
      <p:sp>
        <p:nvSpPr>
          <p:cNvPr id="10" name="badge"/>
          <p:cNvSpPr/>
          <p:nvPr/>
        </p:nvSpPr>
        <p:spPr>
          <a:xfrm>
            <a:off x="4983480" y="1691640"/>
            <a:ext cx="640080" cy="640080"/>
          </a:xfrm>
          <a:prstGeom prst="ellipse">
            <a:avLst/>
          </a:prstGeom>
          <a:solidFill>
            <a:schemeClr val="accent1"/>
          </a:solidFill>
          <a:ln/>
        </p:spPr>
      </p:sp>
      <p:sp>
        <p:nvSpPr>
          <p:cNvPr id="11" name="Text 8"/>
          <p:cNvSpPr txBox="1"/>
          <p:nvPr/>
        </p:nvSpPr>
        <p:spPr>
          <a:xfrm>
            <a:off x="4983480" y="169164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9"/>
          <p:cNvSpPr txBox="1"/>
          <p:nvPr/>
        </p:nvSpPr>
        <p:spPr>
          <a:xfrm>
            <a:off x="5806440" y="1554480"/>
            <a:ext cx="2743200" cy="457200"/>
          </a:xfrm>
          <a:prstGeom prst="rect">
            <a:avLst/>
          </a:prstGeom>
          <a:noFill/>
          <a:ln/>
        </p:spPr>
        <p:txBody>
          <a:bodyPr wrap="square" lIns="0" tIns="0" rIns="0" bIns="0" rtlCol="0" anchor="t"/>
          <a:lstStyle/>
          <a:p>
            <a:pPr indent="0" marL="0">
              <a:buNone/>
            </a:pPr>
            <a:r>
              <a:rPr lang="en-US" sz="2000" b="1" dirty="0">
                <a:solidFill>
                  <a:schemeClr val="tx1"/>
                </a:solidFill>
              </a:rPr>
              <a:t>高利回り</a:t>
            </a:r>
            <a:endParaRPr lang="en-US" sz="2000" dirty="0"/>
          </a:p>
        </p:txBody>
      </p:sp>
      <p:sp>
        <p:nvSpPr>
          <p:cNvPr id="13" name="Text 10"/>
          <p:cNvSpPr txBox="1"/>
          <p:nvPr/>
        </p:nvSpPr>
        <p:spPr>
          <a:xfrm>
            <a:off x="5806440" y="2057400"/>
            <a:ext cx="2743200" cy="548640"/>
          </a:xfrm>
          <a:prstGeom prst="rect">
            <a:avLst/>
          </a:prstGeom>
          <a:noFill/>
          <a:ln/>
        </p:spPr>
        <p:txBody>
          <a:bodyPr wrap="square" lIns="0" tIns="0" rIns="0" bIns="0" rtlCol="0" anchor="t"/>
          <a:lstStyle/>
          <a:p>
            <a:pPr indent="0" marL="0">
              <a:buNone/>
            </a:pPr>
            <a:r>
              <a:rPr lang="en-US" sz="1400" dirty="0">
                <a:solidFill>
                  <a:schemeClr val="accent4"/>
                </a:solidFill>
              </a:rPr>
              <a:t>築20年で9〜10%が中心</a:t>
            </a:r>
            <a:endParaRPr lang="en-US" sz="1400" dirty="0"/>
          </a:p>
        </p:txBody>
      </p:sp>
      <p:sp>
        <p:nvSpPr>
          <p:cNvPr id="14" name="card"/>
          <p:cNvSpPr/>
          <p:nvPr/>
        </p:nvSpPr>
        <p:spPr>
          <a:xfrm>
            <a:off x="457200" y="2926080"/>
            <a:ext cx="3931920" cy="1463040"/>
          </a:xfrm>
          <a:prstGeom prst="roundRect">
            <a:avLst>
              <a:gd name="adj" fmla="val 5000"/>
            </a:avLst>
          </a:prstGeom>
          <a:solidFill>
            <a:schemeClr val="bg2"/>
          </a:solidFill>
          <a:ln/>
        </p:spPr>
      </p:sp>
      <p:sp>
        <p:nvSpPr>
          <p:cNvPr id="15" name="badge"/>
          <p:cNvSpPr/>
          <p:nvPr/>
        </p:nvSpPr>
        <p:spPr>
          <a:xfrm>
            <a:off x="685800" y="3337560"/>
            <a:ext cx="640080" cy="640080"/>
          </a:xfrm>
          <a:prstGeom prst="ellipse">
            <a:avLst/>
          </a:prstGeom>
          <a:solidFill>
            <a:schemeClr val="accent1"/>
          </a:solidFill>
          <a:ln/>
        </p:spPr>
      </p:sp>
      <p:sp>
        <p:nvSpPr>
          <p:cNvPr id="16" name="Text 13"/>
          <p:cNvSpPr txBox="1"/>
          <p:nvPr/>
        </p:nvSpPr>
        <p:spPr>
          <a:xfrm>
            <a:off x="685800" y="3337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7" name="Text 14"/>
          <p:cNvSpPr txBox="1"/>
          <p:nvPr/>
        </p:nvSpPr>
        <p:spPr>
          <a:xfrm>
            <a:off x="1508760" y="3200400"/>
            <a:ext cx="2743200" cy="457200"/>
          </a:xfrm>
          <a:prstGeom prst="rect">
            <a:avLst/>
          </a:prstGeom>
          <a:noFill/>
          <a:ln/>
        </p:spPr>
        <p:txBody>
          <a:bodyPr wrap="square" lIns="0" tIns="0" rIns="0" bIns="0" rtlCol="0" anchor="t"/>
          <a:lstStyle/>
          <a:p>
            <a:pPr indent="0" marL="0">
              <a:buNone/>
            </a:pPr>
            <a:r>
              <a:rPr lang="en-US" sz="2000" b="1" dirty="0">
                <a:solidFill>
                  <a:schemeClr val="tx1"/>
                </a:solidFill>
              </a:rPr>
              <a:t>満室で稼働</a:t>
            </a:r>
            <a:endParaRPr lang="en-US" sz="2000" dirty="0"/>
          </a:p>
        </p:txBody>
      </p:sp>
      <p:sp>
        <p:nvSpPr>
          <p:cNvPr id="18" name="Text 15"/>
          <p:cNvSpPr txBox="1"/>
          <p:nvPr/>
        </p:nvSpPr>
        <p:spPr>
          <a:xfrm>
            <a:off x="1508760" y="3703320"/>
            <a:ext cx="2743200" cy="548640"/>
          </a:xfrm>
          <a:prstGeom prst="rect">
            <a:avLst/>
          </a:prstGeom>
          <a:noFill/>
          <a:ln/>
        </p:spPr>
        <p:txBody>
          <a:bodyPr wrap="square" lIns="0" tIns="0" rIns="0" bIns="0" rtlCol="0" anchor="t"/>
          <a:lstStyle/>
          <a:p>
            <a:pPr indent="0" marL="0">
              <a:buNone/>
            </a:pPr>
            <a:r>
              <a:rPr lang="en-US" sz="1400" dirty="0">
                <a:solidFill>
                  <a:schemeClr val="accent4"/>
                </a:solidFill>
              </a:rPr>
              <a:t>家賃がきちんと入っている</a:t>
            </a:r>
            <a:endParaRPr lang="en-US" sz="1400" dirty="0"/>
          </a:p>
        </p:txBody>
      </p:sp>
      <p:sp>
        <p:nvSpPr>
          <p:cNvPr id="19" name="card"/>
          <p:cNvSpPr/>
          <p:nvPr/>
        </p:nvSpPr>
        <p:spPr>
          <a:xfrm>
            <a:off x="4754880" y="2926080"/>
            <a:ext cx="3931920" cy="1463040"/>
          </a:xfrm>
          <a:prstGeom prst="roundRect">
            <a:avLst>
              <a:gd name="adj" fmla="val 5000"/>
            </a:avLst>
          </a:prstGeom>
          <a:solidFill>
            <a:schemeClr val="bg2"/>
          </a:solidFill>
          <a:ln/>
        </p:spPr>
      </p:sp>
      <p:sp>
        <p:nvSpPr>
          <p:cNvPr id="20" name="badge"/>
          <p:cNvSpPr/>
          <p:nvPr/>
        </p:nvSpPr>
        <p:spPr>
          <a:xfrm>
            <a:off x="4983480" y="3337560"/>
            <a:ext cx="640080" cy="640080"/>
          </a:xfrm>
          <a:prstGeom prst="ellipse">
            <a:avLst/>
          </a:prstGeom>
          <a:solidFill>
            <a:schemeClr val="accent1"/>
          </a:solidFill>
          <a:ln/>
        </p:spPr>
      </p:sp>
      <p:sp>
        <p:nvSpPr>
          <p:cNvPr id="21" name="Text 18"/>
          <p:cNvSpPr txBox="1"/>
          <p:nvPr/>
        </p:nvSpPr>
        <p:spPr>
          <a:xfrm>
            <a:off x="4983480" y="3337560"/>
            <a:ext cx="640080" cy="64008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Text 19"/>
          <p:cNvSpPr txBox="1"/>
          <p:nvPr/>
        </p:nvSpPr>
        <p:spPr>
          <a:xfrm>
            <a:off x="5806440" y="3200400"/>
            <a:ext cx="2743200" cy="457200"/>
          </a:xfrm>
          <a:prstGeom prst="rect">
            <a:avLst/>
          </a:prstGeom>
          <a:noFill/>
          <a:ln/>
        </p:spPr>
        <p:txBody>
          <a:bodyPr wrap="square" lIns="0" tIns="0" rIns="0" bIns="0" rtlCol="0" anchor="t"/>
          <a:lstStyle/>
          <a:p>
            <a:pPr indent="0" marL="0">
              <a:buNone/>
            </a:pPr>
            <a:r>
              <a:rPr lang="en-US" sz="2000" b="1" dirty="0">
                <a:solidFill>
                  <a:schemeClr val="tx1"/>
                </a:solidFill>
              </a:rPr>
              <a:t>耐用年数内融資</a:t>
            </a:r>
            <a:endParaRPr lang="en-US" sz="2000" dirty="0"/>
          </a:p>
        </p:txBody>
      </p:sp>
      <p:sp>
        <p:nvSpPr>
          <p:cNvPr id="23" name="Text 20"/>
          <p:cNvSpPr txBox="1"/>
          <p:nvPr/>
        </p:nvSpPr>
        <p:spPr>
          <a:xfrm>
            <a:off x="5806440" y="3703320"/>
            <a:ext cx="2743200" cy="548640"/>
          </a:xfrm>
          <a:prstGeom prst="rect">
            <a:avLst/>
          </a:prstGeom>
          <a:noFill/>
          <a:ln/>
        </p:spPr>
        <p:txBody>
          <a:bodyPr wrap="square" lIns="0" tIns="0" rIns="0" bIns="0" rtlCol="0" anchor="t"/>
          <a:lstStyle/>
          <a:p>
            <a:pPr indent="0" marL="0">
              <a:buNone/>
            </a:pPr>
            <a:r>
              <a:rPr lang="en-US" sz="1400" dirty="0">
                <a:solidFill>
                  <a:schemeClr val="accent4"/>
                </a:solidFill>
              </a:rPr>
              <a:t>法定耐用年数の範囲で返済</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なぜ、お金をかけずに買えるのか</a:t>
            </a:r>
            <a:endParaRPr lang="en-US" sz="2600" dirty="0"/>
          </a:p>
        </p:txBody>
      </p:sp>
      <p:sp>
        <p:nvSpPr>
          <p:cNvPr id="4" name="card"/>
          <p:cNvSpPr/>
          <p:nvPr/>
        </p:nvSpPr>
        <p:spPr>
          <a:xfrm>
            <a:off x="457200" y="1554480"/>
            <a:ext cx="1828800" cy="1371600"/>
          </a:xfrm>
          <a:prstGeom prst="roundRect">
            <a:avLst>
              <a:gd name="adj" fmla="val 5333"/>
            </a:avLst>
          </a:prstGeom>
          <a:solidFill>
            <a:schemeClr val="accent5"/>
          </a:solidFill>
          <a:ln/>
        </p:spPr>
      </p:sp>
      <p:sp>
        <p:nvSpPr>
          <p:cNvPr id="5" name="Text 2"/>
          <p:cNvSpPr txBox="1"/>
          <p:nvPr/>
        </p:nvSpPr>
        <p:spPr>
          <a:xfrm>
            <a:off x="457200" y="1554480"/>
            <a:ext cx="1828800" cy="1371600"/>
          </a:xfrm>
          <a:prstGeom prst="rect">
            <a:avLst/>
          </a:prstGeom>
          <a:noFill/>
          <a:ln/>
        </p:spPr>
        <p:txBody>
          <a:bodyPr wrap="square" lIns="0" tIns="0" rIns="0" bIns="0" rtlCol="0" anchor="ctr"/>
          <a:lstStyle/>
          <a:p>
            <a:pPr algn="ctr" indent="0" marL="0">
              <a:buNone/>
            </a:pPr>
            <a:r>
              <a:rPr lang="en-US" sz="1500" b="1" dirty="0">
                <a:solidFill>
                  <a:schemeClr val="tx1"/>
                </a:solidFill>
              </a:rPr>
              <a:t>積算価格</a:t>
            </a:r>
            <a:endParaRPr lang="en-US" sz="1500" dirty="0"/>
          </a:p>
          <a:p>
            <a:pPr algn="ctr" indent="0" marL="0">
              <a:buNone/>
            </a:pPr>
            <a:r>
              <a:rPr lang="en-US" sz="1500" b="1" dirty="0">
                <a:solidFill>
                  <a:schemeClr val="tx1"/>
                </a:solidFill>
              </a:rPr>
              <a:t>が高い物件を買う</a:t>
            </a:r>
            <a:endParaRPr lang="en-US" sz="1500" dirty="0"/>
          </a:p>
        </p:txBody>
      </p:sp>
      <p:sp>
        <p:nvSpPr>
          <p:cNvPr id="6" name="Text 3"/>
          <p:cNvSpPr txBox="1"/>
          <p:nvPr/>
        </p:nvSpPr>
        <p:spPr>
          <a:xfrm>
            <a:off x="2286000" y="2011680"/>
            <a:ext cx="320040" cy="457200"/>
          </a:xfrm>
          <a:prstGeom prst="rect">
            <a:avLst/>
          </a:prstGeom>
          <a:noFill/>
          <a:ln/>
        </p:spPr>
        <p:txBody>
          <a:bodyPr wrap="square" lIns="0" tIns="0" rIns="0" bIns="0" rtlCol="0" anchor="t"/>
          <a:lstStyle/>
          <a:p>
            <a:pPr algn="ctr" indent="0" marL="0">
              <a:buNone/>
            </a:pPr>
            <a:r>
              <a:rPr lang="en-US" sz="1800" dirty="0">
                <a:solidFill>
                  <a:schemeClr val="accent4"/>
                </a:solidFill>
              </a:rPr>
              <a:t>▶</a:t>
            </a:r>
            <a:endParaRPr lang="en-US" sz="1800" dirty="0"/>
          </a:p>
        </p:txBody>
      </p:sp>
      <p:sp>
        <p:nvSpPr>
          <p:cNvPr id="7" name="card"/>
          <p:cNvSpPr/>
          <p:nvPr/>
        </p:nvSpPr>
        <p:spPr>
          <a:xfrm>
            <a:off x="2606040" y="1554480"/>
            <a:ext cx="1828800" cy="1371600"/>
          </a:xfrm>
          <a:prstGeom prst="roundRect">
            <a:avLst>
              <a:gd name="adj" fmla="val 5333"/>
            </a:avLst>
          </a:prstGeom>
          <a:solidFill>
            <a:schemeClr val="accent6"/>
          </a:solidFill>
          <a:ln/>
        </p:spPr>
      </p:sp>
      <p:sp>
        <p:nvSpPr>
          <p:cNvPr id="8" name="Text 5"/>
          <p:cNvSpPr txBox="1"/>
          <p:nvPr/>
        </p:nvSpPr>
        <p:spPr>
          <a:xfrm>
            <a:off x="2606040" y="1554480"/>
            <a:ext cx="1828800" cy="1371600"/>
          </a:xfrm>
          <a:prstGeom prst="rect">
            <a:avLst/>
          </a:prstGeom>
          <a:noFill/>
          <a:ln/>
        </p:spPr>
        <p:txBody>
          <a:bodyPr wrap="square" lIns="0" tIns="0" rIns="0" bIns="0" rtlCol="0" anchor="ctr"/>
          <a:lstStyle/>
          <a:p>
            <a:pPr algn="ctr" indent="0" marL="0">
              <a:buNone/>
            </a:pPr>
            <a:r>
              <a:rPr lang="en-US" sz="1500" b="1" dirty="0">
                <a:solidFill>
                  <a:schemeClr val="tx1"/>
                </a:solidFill>
              </a:rPr>
              <a:t>銀行から見て</a:t>
            </a:r>
            <a:endParaRPr lang="en-US" sz="1500" dirty="0"/>
          </a:p>
          <a:p>
            <a:pPr algn="ctr" indent="0" marL="0">
              <a:buNone/>
            </a:pPr>
            <a:r>
              <a:rPr lang="en-US" sz="1500" b="1" dirty="0">
                <a:solidFill>
                  <a:schemeClr val="tx1"/>
                </a:solidFill>
              </a:rPr>
              <a:t>担保が十分</a:t>
            </a:r>
            <a:endParaRPr lang="en-US" sz="1500" dirty="0"/>
          </a:p>
        </p:txBody>
      </p:sp>
      <p:sp>
        <p:nvSpPr>
          <p:cNvPr id="9" name="Text 6"/>
          <p:cNvSpPr txBox="1"/>
          <p:nvPr/>
        </p:nvSpPr>
        <p:spPr>
          <a:xfrm>
            <a:off x="4434840" y="2011680"/>
            <a:ext cx="320040" cy="457200"/>
          </a:xfrm>
          <a:prstGeom prst="rect">
            <a:avLst/>
          </a:prstGeom>
          <a:noFill/>
          <a:ln/>
        </p:spPr>
        <p:txBody>
          <a:bodyPr wrap="square" lIns="0" tIns="0" rIns="0" bIns="0" rtlCol="0" anchor="t"/>
          <a:lstStyle/>
          <a:p>
            <a:pPr algn="ctr" indent="0" marL="0">
              <a:buNone/>
            </a:pPr>
            <a:r>
              <a:rPr lang="en-US" sz="1800" dirty="0">
                <a:solidFill>
                  <a:schemeClr val="accent4"/>
                </a:solidFill>
              </a:rPr>
              <a:t>▶</a:t>
            </a:r>
            <a:endParaRPr lang="en-US" sz="1800" dirty="0"/>
          </a:p>
        </p:txBody>
      </p:sp>
      <p:sp>
        <p:nvSpPr>
          <p:cNvPr id="10" name="card"/>
          <p:cNvSpPr/>
          <p:nvPr/>
        </p:nvSpPr>
        <p:spPr>
          <a:xfrm>
            <a:off x="4754880" y="1554480"/>
            <a:ext cx="1828800" cy="1371600"/>
          </a:xfrm>
          <a:prstGeom prst="roundRect">
            <a:avLst>
              <a:gd name="adj" fmla="val 5333"/>
            </a:avLst>
          </a:prstGeom>
          <a:solidFill>
            <a:schemeClr val="accent5"/>
          </a:solidFill>
          <a:ln/>
        </p:spPr>
      </p:sp>
      <p:sp>
        <p:nvSpPr>
          <p:cNvPr id="11" name="Text 8"/>
          <p:cNvSpPr txBox="1"/>
          <p:nvPr/>
        </p:nvSpPr>
        <p:spPr>
          <a:xfrm>
            <a:off x="4754880" y="1554480"/>
            <a:ext cx="1828800" cy="1371600"/>
          </a:xfrm>
          <a:prstGeom prst="rect">
            <a:avLst/>
          </a:prstGeom>
          <a:noFill/>
          <a:ln/>
        </p:spPr>
        <p:txBody>
          <a:bodyPr wrap="square" lIns="0" tIns="0" rIns="0" bIns="0" rtlCol="0" anchor="ctr"/>
          <a:lstStyle/>
          <a:p>
            <a:pPr algn="ctr" indent="0" marL="0">
              <a:buNone/>
            </a:pPr>
            <a:r>
              <a:rPr lang="en-US" sz="1500" b="1" dirty="0">
                <a:solidFill>
                  <a:schemeClr val="tx1"/>
                </a:solidFill>
              </a:rPr>
              <a:t>自己資金を</a:t>
            </a:r>
            <a:endParaRPr lang="en-US" sz="1500" dirty="0"/>
          </a:p>
          <a:p>
            <a:pPr algn="ctr" indent="0" marL="0">
              <a:buNone/>
            </a:pPr>
            <a:r>
              <a:rPr lang="en-US" sz="1500" b="1" dirty="0">
                <a:solidFill>
                  <a:schemeClr val="tx1"/>
                </a:solidFill>
              </a:rPr>
              <a:t>抑えて融資</a:t>
            </a:r>
            <a:endParaRPr lang="en-US" sz="1500" dirty="0"/>
          </a:p>
        </p:txBody>
      </p:sp>
      <p:sp>
        <p:nvSpPr>
          <p:cNvPr id="12" name="Text 9"/>
          <p:cNvSpPr txBox="1"/>
          <p:nvPr/>
        </p:nvSpPr>
        <p:spPr>
          <a:xfrm>
            <a:off x="6583680" y="2011680"/>
            <a:ext cx="320040" cy="457200"/>
          </a:xfrm>
          <a:prstGeom prst="rect">
            <a:avLst/>
          </a:prstGeom>
          <a:noFill/>
          <a:ln/>
        </p:spPr>
        <p:txBody>
          <a:bodyPr wrap="square" lIns="0" tIns="0" rIns="0" bIns="0" rtlCol="0" anchor="t"/>
          <a:lstStyle/>
          <a:p>
            <a:pPr algn="ctr" indent="0" marL="0">
              <a:buNone/>
            </a:pPr>
            <a:r>
              <a:rPr lang="en-US" sz="1800" dirty="0">
                <a:solidFill>
                  <a:schemeClr val="accent4"/>
                </a:solidFill>
              </a:rPr>
              <a:t>▶</a:t>
            </a:r>
            <a:endParaRPr lang="en-US" sz="1800" dirty="0"/>
          </a:p>
        </p:txBody>
      </p:sp>
      <p:sp>
        <p:nvSpPr>
          <p:cNvPr id="13" name="card"/>
          <p:cNvSpPr/>
          <p:nvPr/>
        </p:nvSpPr>
        <p:spPr>
          <a:xfrm>
            <a:off x="6903720" y="1554480"/>
            <a:ext cx="1828800" cy="1371600"/>
          </a:xfrm>
          <a:prstGeom prst="roundRect">
            <a:avLst>
              <a:gd name="adj" fmla="val 5333"/>
            </a:avLst>
          </a:prstGeom>
          <a:solidFill>
            <a:schemeClr val="accent6"/>
          </a:solidFill>
          <a:ln/>
        </p:spPr>
      </p:sp>
      <p:sp>
        <p:nvSpPr>
          <p:cNvPr id="14" name="Text 11"/>
          <p:cNvSpPr txBox="1"/>
          <p:nvPr/>
        </p:nvSpPr>
        <p:spPr>
          <a:xfrm>
            <a:off x="6903720" y="1554480"/>
            <a:ext cx="1828800" cy="1371600"/>
          </a:xfrm>
          <a:prstGeom prst="rect">
            <a:avLst/>
          </a:prstGeom>
          <a:noFill/>
          <a:ln/>
        </p:spPr>
        <p:txBody>
          <a:bodyPr wrap="square" lIns="0" tIns="0" rIns="0" bIns="0" rtlCol="0" anchor="ctr"/>
          <a:lstStyle/>
          <a:p>
            <a:pPr algn="ctr" indent="0" marL="0">
              <a:buNone/>
            </a:pPr>
            <a:r>
              <a:rPr lang="en-US" sz="1500" b="1" dirty="0">
                <a:solidFill>
                  <a:schemeClr val="tx1"/>
                </a:solidFill>
              </a:rPr>
              <a:t>家賃収入で</a:t>
            </a:r>
            <a:endParaRPr lang="en-US" sz="1500" dirty="0"/>
          </a:p>
          <a:p>
            <a:pPr algn="ctr" indent="0" marL="0">
              <a:buNone/>
            </a:pPr>
            <a:r>
              <a:rPr lang="en-US" sz="1500" b="1" dirty="0">
                <a:solidFill>
                  <a:schemeClr val="tx1"/>
                </a:solidFill>
              </a:rPr>
              <a:t>返済</a:t>
            </a:r>
            <a:endParaRPr lang="en-US" sz="1500" dirty="0"/>
          </a:p>
        </p:txBody>
      </p:sp>
      <p:sp>
        <p:nvSpPr>
          <p:cNvPr id="15" name="card"/>
          <p:cNvSpPr/>
          <p:nvPr/>
        </p:nvSpPr>
        <p:spPr>
          <a:xfrm>
            <a:off x="457200" y="3291840"/>
            <a:ext cx="8229600" cy="1188720"/>
          </a:xfrm>
          <a:prstGeom prst="roundRect">
            <a:avLst>
              <a:gd name="adj" fmla="val 6154"/>
            </a:avLst>
          </a:prstGeom>
          <a:solidFill>
            <a:schemeClr val="tx1"/>
          </a:solidFill>
          <a:ln/>
        </p:spPr>
      </p:sp>
      <p:sp>
        <p:nvSpPr>
          <p:cNvPr id="16" name="Text 13"/>
          <p:cNvSpPr txBox="1"/>
          <p:nvPr/>
        </p:nvSpPr>
        <p:spPr>
          <a:xfrm>
            <a:off x="731520" y="3291840"/>
            <a:ext cx="7680960" cy="1188720"/>
          </a:xfrm>
          <a:prstGeom prst="rect">
            <a:avLst/>
          </a:prstGeom>
          <a:noFill/>
          <a:ln/>
        </p:spPr>
        <p:txBody>
          <a:bodyPr wrap="square" lIns="0" tIns="0" rIns="0" bIns="0" rtlCol="0" anchor="ctr"/>
          <a:lstStyle/>
          <a:p>
            <a:pPr indent="0" marL="0">
              <a:buNone/>
            </a:pPr>
            <a:r>
              <a:rPr lang="en-US" sz="1800" b="1" dirty="0">
                <a:solidFill>
                  <a:schemeClr val="bg1"/>
                </a:solidFill>
              </a:rPr>
              <a:t>お金を借りることが目的ではない。</a:t>
            </a:r>
            <a:endParaRPr lang="en-US" sz="1800" dirty="0"/>
          </a:p>
          <a:p>
            <a:pPr indent="0" marL="0">
              <a:buNone/>
            </a:pPr>
            <a:r>
              <a:rPr lang="en-US" sz="1800" b="1" dirty="0">
                <a:solidFill>
                  <a:schemeClr val="bg1"/>
                </a:solidFill>
              </a:rPr>
              <a:t>「物件の価値」と「家賃収入」で返せる範囲だけ借りる。</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事例：岐阜県北方町のRC7階建マンション</a:t>
            </a:r>
            <a:endParaRPr lang="en-US" sz="2600" dirty="0"/>
          </a:p>
        </p:txBody>
      </p:sp>
      <p:graphicFrame>
        <p:nvGraphicFramePr>
          <p:cNvPr id="4" name="Chart 0" descr=""/>
          <p:cNvGraphicFramePr/>
          <p:nvPr/>
        </p:nvGraphicFramePr>
        <p:xfrm>
          <a:off x="365760" y="1188720"/>
          <a:ext cx="4937760" cy="33832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5577840" y="1280160"/>
            <a:ext cx="3108960" cy="3200400"/>
          </a:xfrm>
          <a:prstGeom prst="roundRect">
            <a:avLst>
              <a:gd name="adj" fmla="val 2353"/>
            </a:avLst>
          </a:prstGeom>
          <a:solidFill>
            <a:schemeClr val="bg2"/>
          </a:solidFill>
          <a:ln/>
        </p:spPr>
      </p:sp>
      <p:sp>
        <p:nvSpPr>
          <p:cNvPr id="6" name="Text 2"/>
          <p:cNvSpPr txBox="1"/>
          <p:nvPr/>
        </p:nvSpPr>
        <p:spPr>
          <a:xfrm>
            <a:off x="5806440" y="1417320"/>
            <a:ext cx="2743200" cy="365760"/>
          </a:xfrm>
          <a:prstGeom prst="rect">
            <a:avLst/>
          </a:prstGeom>
          <a:noFill/>
          <a:ln/>
        </p:spPr>
        <p:txBody>
          <a:bodyPr wrap="square" lIns="0" tIns="0" rIns="0" bIns="0" rtlCol="0" anchor="t"/>
          <a:lstStyle/>
          <a:p>
            <a:pPr indent="0" marL="0">
              <a:buNone/>
            </a:pPr>
            <a:r>
              <a:rPr lang="en-US" sz="1400" b="1" dirty="0">
                <a:solidFill>
                  <a:schemeClr val="accent2"/>
                </a:solidFill>
              </a:rPr>
              <a:t>物件概要</a:t>
            </a:r>
            <a:endParaRPr lang="en-US" sz="1400" dirty="0"/>
          </a:p>
        </p:txBody>
      </p:sp>
      <p:sp>
        <p:nvSpPr>
          <p:cNvPr id="7" name="Text 3"/>
          <p:cNvSpPr txBox="1"/>
          <p:nvPr/>
        </p:nvSpPr>
        <p:spPr>
          <a:xfrm>
            <a:off x="5806440" y="1828800"/>
            <a:ext cx="274320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RC7階建・築22年</a:t>
            </a:r>
            <a:endParaRPr lang="en-US" sz="1300" dirty="0"/>
          </a:p>
          <a:p>
            <a:pPr marL="342900" indent="-342900">
              <a:spcAft>
                <a:spcPts val="600"/>
              </a:spcAft>
              <a:buSzPct val="100000"/>
              <a:buChar char="•"/>
            </a:pPr>
            <a:r>
              <a:rPr lang="en-US" sz="1300" dirty="0">
                <a:solidFill>
                  <a:schemeClr val="tx1"/>
                </a:solidFill>
              </a:rPr>
              <a:t>24戸＋テナント4</a:t>
            </a:r>
            <a:endParaRPr lang="en-US" sz="1300" dirty="0"/>
          </a:p>
          <a:p>
            <a:pPr marL="342900" indent="-342900">
              <a:spcAft>
                <a:spcPts val="600"/>
              </a:spcAft>
              <a:buSzPct val="100000"/>
              <a:buChar char="•"/>
            </a:pPr>
            <a:r>
              <a:rPr lang="en-US" sz="1300" dirty="0">
                <a:solidFill>
                  <a:schemeClr val="tx1"/>
                </a:solidFill>
              </a:rPr>
              <a:t>駐車場58台</a:t>
            </a:r>
            <a:endParaRPr lang="en-US" sz="1300" dirty="0"/>
          </a:p>
          <a:p>
            <a:pPr marL="342900" indent="-342900">
              <a:spcAft>
                <a:spcPts val="600"/>
              </a:spcAft>
              <a:buSzPct val="100000"/>
              <a:buChar char="•"/>
            </a:pPr>
            <a:r>
              <a:rPr lang="en-US" sz="1300" dirty="0">
                <a:solidFill>
                  <a:schemeClr val="tx1"/>
                </a:solidFill>
              </a:rPr>
              <a:t>年間家賃 2,897万円（利回り11.6%）</a:t>
            </a:r>
            <a:endParaRPr lang="en-US" sz="1300" dirty="0"/>
          </a:p>
          <a:p>
            <a:pPr marL="342900" indent="-342900">
              <a:spcAft>
                <a:spcPts val="600"/>
              </a:spcAft>
              <a:buSzPct val="100000"/>
              <a:buChar char="•"/>
            </a:pPr>
            <a:r>
              <a:rPr lang="en-US" sz="1300" dirty="0">
                <a:solidFill>
                  <a:schemeClr val="tx1"/>
                </a:solidFill>
              </a:rPr>
              <a:t>融資 2.4億円（頭金1,000万円）</a:t>
            </a:r>
            <a:endParaRPr lang="en-US" sz="1300" dirty="0"/>
          </a:p>
        </p:txBody>
      </p:sp>
      <p:sp>
        <p:nvSpPr>
          <p:cNvPr id="8" name="Text 4"/>
          <p:cNvSpPr txBox="1"/>
          <p:nvPr/>
        </p:nvSpPr>
        <p:spPr>
          <a:xfrm>
            <a:off x="457200" y="4617720"/>
            <a:ext cx="4572000" cy="274320"/>
          </a:xfrm>
          <a:prstGeom prst="rect">
            <a:avLst/>
          </a:prstGeom>
          <a:noFill/>
          <a:ln/>
        </p:spPr>
        <p:txBody>
          <a:bodyPr wrap="square" lIns="0" tIns="0" rIns="0" bIns="0" rtlCol="0" anchor="t"/>
          <a:lstStyle/>
          <a:p>
            <a:pPr indent="0" marL="0">
              <a:buNone/>
            </a:pPr>
            <a:r>
              <a:rPr lang="en-US" sz="1000" dirty="0">
                <a:solidFill>
                  <a:schemeClr val="accent4"/>
                </a:solidFill>
              </a:rPr>
              <a:t>※融資申込時の事業計画書より（概算値）</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買う前のチェックは、3段階で徹底する</a:t>
            </a:r>
            <a:endParaRPr lang="en-US" sz="2600" dirty="0"/>
          </a:p>
        </p:txBody>
      </p:sp>
      <p:sp>
        <p:nvSpPr>
          <p:cNvPr id="4" name="card"/>
          <p:cNvSpPr/>
          <p:nvPr/>
        </p:nvSpPr>
        <p:spPr>
          <a:xfrm>
            <a:off x="457200" y="1280160"/>
            <a:ext cx="2651760" cy="3200400"/>
          </a:xfrm>
          <a:prstGeom prst="roundRect">
            <a:avLst>
              <a:gd name="adj" fmla="val 2759"/>
            </a:avLst>
          </a:prstGeom>
          <a:solidFill>
            <a:schemeClr val="bg2"/>
          </a:solidFill>
          <a:ln/>
        </p:spPr>
      </p:sp>
      <p:sp>
        <p:nvSpPr>
          <p:cNvPr id="5" name="badge"/>
          <p:cNvSpPr/>
          <p:nvPr/>
        </p:nvSpPr>
        <p:spPr>
          <a:xfrm>
            <a:off x="594360" y="1417320"/>
            <a:ext cx="457200" cy="457200"/>
          </a:xfrm>
          <a:prstGeom prst="ellipse">
            <a:avLst/>
          </a:prstGeom>
          <a:solidFill>
            <a:schemeClr val="accent1"/>
          </a:solidFill>
          <a:ln/>
        </p:spPr>
      </p:sp>
      <p:sp>
        <p:nvSpPr>
          <p:cNvPr id="6" name="Text 3"/>
          <p:cNvSpPr txBox="1"/>
          <p:nvPr/>
        </p:nvSpPr>
        <p:spPr>
          <a:xfrm>
            <a:off x="594360" y="14173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1143000" y="1417320"/>
            <a:ext cx="1920240" cy="457200"/>
          </a:xfrm>
          <a:prstGeom prst="rect">
            <a:avLst/>
          </a:prstGeom>
          <a:noFill/>
          <a:ln/>
        </p:spPr>
        <p:txBody>
          <a:bodyPr wrap="square" lIns="0" tIns="0" rIns="0" bIns="0" rtlCol="0" anchor="ctr"/>
          <a:lstStyle/>
          <a:p>
            <a:pPr indent="0" marL="0">
              <a:buNone/>
            </a:pPr>
            <a:r>
              <a:rPr lang="en-US" sz="1400" b="1" dirty="0">
                <a:solidFill>
                  <a:schemeClr val="tx1"/>
                </a:solidFill>
              </a:rPr>
              <a:t>仲介会社に聞く</a:t>
            </a:r>
            <a:endParaRPr lang="en-US" sz="1400" dirty="0"/>
          </a:p>
        </p:txBody>
      </p:sp>
      <p:sp>
        <p:nvSpPr>
          <p:cNvPr id="8" name="Text 5"/>
          <p:cNvSpPr txBox="1"/>
          <p:nvPr/>
        </p:nvSpPr>
        <p:spPr>
          <a:xfrm>
            <a:off x="640080" y="2103120"/>
            <a:ext cx="233172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謄本で売主の残債を割り出し、指値に使う</a:t>
            </a:r>
            <a:endParaRPr lang="en-US" sz="1200" dirty="0"/>
          </a:p>
          <a:p>
            <a:pPr marL="342900" indent="-342900">
              <a:spcAft>
                <a:spcPts val="600"/>
              </a:spcAft>
              <a:buSzPct val="100000"/>
              <a:buChar char="•"/>
            </a:pPr>
            <a:r>
              <a:rPr lang="en-US" sz="1200" dirty="0">
                <a:solidFill>
                  <a:schemeClr val="tx1"/>
                </a:solidFill>
              </a:rPr>
              <a:t>過去の指値と、通らなかった理由</a:t>
            </a:r>
            <a:endParaRPr lang="en-US" sz="1200" dirty="0"/>
          </a:p>
          <a:p>
            <a:pPr marL="342900" indent="-342900">
              <a:spcAft>
                <a:spcPts val="600"/>
              </a:spcAft>
              <a:buSzPct val="100000"/>
              <a:buChar char="•"/>
            </a:pPr>
            <a:r>
              <a:rPr lang="en-US" sz="1200" dirty="0">
                <a:solidFill>
                  <a:schemeClr val="tx1"/>
                </a:solidFill>
              </a:rPr>
              <a:t>検査済証・確認済証はあるか</a:t>
            </a:r>
            <a:endParaRPr lang="en-US" sz="1200" dirty="0"/>
          </a:p>
          <a:p>
            <a:pPr marL="342900" indent="-342900">
              <a:spcAft>
                <a:spcPts val="600"/>
              </a:spcAft>
              <a:buSzPct val="100000"/>
              <a:buChar char="•"/>
            </a:pPr>
            <a:r>
              <a:rPr lang="en-US" sz="1200" dirty="0">
                <a:solidFill>
                  <a:schemeClr val="tx1"/>
                </a:solidFill>
              </a:rPr>
              <a:t>修繕履歴、管理費、固定資産税</a:t>
            </a:r>
            <a:endParaRPr lang="en-US" sz="1200" dirty="0"/>
          </a:p>
        </p:txBody>
      </p:sp>
      <p:sp>
        <p:nvSpPr>
          <p:cNvPr id="9" name="card"/>
          <p:cNvSpPr/>
          <p:nvPr/>
        </p:nvSpPr>
        <p:spPr>
          <a:xfrm>
            <a:off x="3291840" y="1280160"/>
            <a:ext cx="2651760" cy="3200400"/>
          </a:xfrm>
          <a:prstGeom prst="roundRect">
            <a:avLst>
              <a:gd name="adj" fmla="val 2759"/>
            </a:avLst>
          </a:prstGeom>
          <a:solidFill>
            <a:schemeClr val="bg2"/>
          </a:solidFill>
          <a:ln/>
        </p:spPr>
      </p:sp>
      <p:sp>
        <p:nvSpPr>
          <p:cNvPr id="10" name="badge"/>
          <p:cNvSpPr/>
          <p:nvPr/>
        </p:nvSpPr>
        <p:spPr>
          <a:xfrm>
            <a:off x="3429000" y="1417320"/>
            <a:ext cx="457200" cy="457200"/>
          </a:xfrm>
          <a:prstGeom prst="ellipse">
            <a:avLst/>
          </a:prstGeom>
          <a:solidFill>
            <a:schemeClr val="accent1"/>
          </a:solidFill>
          <a:ln/>
        </p:spPr>
      </p:sp>
      <p:sp>
        <p:nvSpPr>
          <p:cNvPr id="11" name="Text 8"/>
          <p:cNvSpPr txBox="1"/>
          <p:nvPr/>
        </p:nvSpPr>
        <p:spPr>
          <a:xfrm>
            <a:off x="3429000" y="14173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3977640" y="1417320"/>
            <a:ext cx="1920240" cy="457200"/>
          </a:xfrm>
          <a:prstGeom prst="rect">
            <a:avLst/>
          </a:prstGeom>
          <a:noFill/>
          <a:ln/>
        </p:spPr>
        <p:txBody>
          <a:bodyPr wrap="square" lIns="0" tIns="0" rIns="0" bIns="0" rtlCol="0" anchor="ctr"/>
          <a:lstStyle/>
          <a:p>
            <a:pPr indent="0" marL="0">
              <a:buNone/>
            </a:pPr>
            <a:r>
              <a:rPr lang="en-US" sz="1400" b="1" dirty="0">
                <a:solidFill>
                  <a:schemeClr val="tx1"/>
                </a:solidFill>
              </a:rPr>
              <a:t>現地で見る（約40項目）</a:t>
            </a:r>
            <a:endParaRPr lang="en-US" sz="1400" dirty="0"/>
          </a:p>
        </p:txBody>
      </p:sp>
      <p:sp>
        <p:nvSpPr>
          <p:cNvPr id="13" name="Text 10"/>
          <p:cNvSpPr txBox="1"/>
          <p:nvPr/>
        </p:nvSpPr>
        <p:spPr>
          <a:xfrm>
            <a:off x="3474720" y="2103120"/>
            <a:ext cx="233172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地盤・形状・越境・接道2m以上</a:t>
            </a:r>
            <a:endParaRPr lang="en-US" sz="1200" dirty="0"/>
          </a:p>
          <a:p>
            <a:pPr marL="342900" indent="-342900">
              <a:spcAft>
                <a:spcPts val="600"/>
              </a:spcAft>
              <a:buSzPct val="100000"/>
              <a:buChar char="•"/>
            </a:pPr>
            <a:r>
              <a:rPr lang="en-US" sz="1200" dirty="0">
                <a:solidFill>
                  <a:schemeClr val="tx1"/>
                </a:solidFill>
              </a:rPr>
              <a:t>外壁のクラック、屋上防水、雨漏り跡</a:t>
            </a:r>
            <a:endParaRPr lang="en-US" sz="1200" dirty="0"/>
          </a:p>
          <a:p>
            <a:pPr marL="342900" indent="-342900">
              <a:spcAft>
                <a:spcPts val="600"/>
              </a:spcAft>
              <a:buSzPct val="100000"/>
              <a:buChar char="•"/>
            </a:pPr>
            <a:r>
              <a:rPr lang="en-US" sz="1200" dirty="0">
                <a:solidFill>
                  <a:schemeClr val="tx1"/>
                </a:solidFill>
              </a:rPr>
              <a:t>レントロール通りに住んでいるか</a:t>
            </a:r>
            <a:endParaRPr lang="en-US" sz="1200" dirty="0"/>
          </a:p>
          <a:p>
            <a:pPr marL="342900" indent="-342900">
              <a:spcAft>
                <a:spcPts val="600"/>
              </a:spcAft>
              <a:buSzPct val="100000"/>
              <a:buChar char="•"/>
            </a:pPr>
            <a:r>
              <a:rPr lang="en-US" sz="1200" dirty="0">
                <a:solidFill>
                  <a:schemeClr val="tx1"/>
                </a:solidFill>
              </a:rPr>
              <a:t>受水槽・浄化槽・EVはあと何年か</a:t>
            </a:r>
            <a:endParaRPr lang="en-US" sz="1200" dirty="0"/>
          </a:p>
        </p:txBody>
      </p:sp>
      <p:sp>
        <p:nvSpPr>
          <p:cNvPr id="14" name="card"/>
          <p:cNvSpPr/>
          <p:nvPr/>
        </p:nvSpPr>
        <p:spPr>
          <a:xfrm>
            <a:off x="6126480" y="1280160"/>
            <a:ext cx="2651760" cy="3200400"/>
          </a:xfrm>
          <a:prstGeom prst="roundRect">
            <a:avLst>
              <a:gd name="adj" fmla="val 2759"/>
            </a:avLst>
          </a:prstGeom>
          <a:solidFill>
            <a:schemeClr val="bg2"/>
          </a:solidFill>
          <a:ln/>
        </p:spPr>
      </p:sp>
      <p:sp>
        <p:nvSpPr>
          <p:cNvPr id="15" name="badge"/>
          <p:cNvSpPr/>
          <p:nvPr/>
        </p:nvSpPr>
        <p:spPr>
          <a:xfrm>
            <a:off x="6263640" y="1417320"/>
            <a:ext cx="457200" cy="457200"/>
          </a:xfrm>
          <a:prstGeom prst="ellipse">
            <a:avLst/>
          </a:prstGeom>
          <a:solidFill>
            <a:schemeClr val="accent1"/>
          </a:solidFill>
          <a:ln/>
        </p:spPr>
      </p:sp>
      <p:sp>
        <p:nvSpPr>
          <p:cNvPr id="16" name="Text 13"/>
          <p:cNvSpPr txBox="1"/>
          <p:nvPr/>
        </p:nvSpPr>
        <p:spPr>
          <a:xfrm>
            <a:off x="6263640" y="14173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6812280" y="1417320"/>
            <a:ext cx="1920240" cy="457200"/>
          </a:xfrm>
          <a:prstGeom prst="rect">
            <a:avLst/>
          </a:prstGeom>
          <a:noFill/>
          <a:ln/>
        </p:spPr>
        <p:txBody>
          <a:bodyPr wrap="square" lIns="0" tIns="0" rIns="0" bIns="0" rtlCol="0" anchor="ctr"/>
          <a:lstStyle/>
          <a:p>
            <a:pPr indent="0" marL="0">
              <a:buNone/>
            </a:pPr>
            <a:r>
              <a:rPr lang="en-US" sz="1400" b="1" dirty="0">
                <a:solidFill>
                  <a:schemeClr val="tx1"/>
                </a:solidFill>
              </a:rPr>
              <a:t>客付け会社に聞く（約40項目）</a:t>
            </a:r>
            <a:endParaRPr lang="en-US" sz="1400" dirty="0"/>
          </a:p>
        </p:txBody>
      </p:sp>
      <p:sp>
        <p:nvSpPr>
          <p:cNvPr id="18" name="Text 15"/>
          <p:cNvSpPr txBox="1"/>
          <p:nvPr/>
        </p:nvSpPr>
        <p:spPr>
          <a:xfrm>
            <a:off x="6309360" y="2103120"/>
            <a:ext cx="233172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この賃料で需要はあるか、RCは強みか</a:t>
            </a:r>
            <a:endParaRPr lang="en-US" sz="1200" dirty="0"/>
          </a:p>
          <a:p>
            <a:pPr marL="342900" indent="-342900">
              <a:spcAft>
                <a:spcPts val="600"/>
              </a:spcAft>
              <a:buSzPct val="100000"/>
              <a:buChar char="•"/>
            </a:pPr>
            <a:r>
              <a:rPr lang="en-US" sz="1200" dirty="0">
                <a:solidFill>
                  <a:schemeClr val="tx1"/>
                </a:solidFill>
              </a:rPr>
              <a:t>近隣ライバル物件と家賃の傾向</a:t>
            </a:r>
            <a:endParaRPr lang="en-US" sz="1200" dirty="0"/>
          </a:p>
          <a:p>
            <a:pPr marL="342900" indent="-342900">
              <a:spcAft>
                <a:spcPts val="600"/>
              </a:spcAft>
              <a:buSzPct val="100000"/>
              <a:buChar char="•"/>
            </a:pPr>
            <a:r>
              <a:rPr lang="en-US" sz="1200" dirty="0">
                <a:solidFill>
                  <a:schemeClr val="tx1"/>
                </a:solidFill>
              </a:rPr>
              <a:t>10年後の家賃下落はどの程度か</a:t>
            </a:r>
            <a:endParaRPr lang="en-US" sz="1200" dirty="0"/>
          </a:p>
          <a:p>
            <a:pPr marL="342900" indent="-342900">
              <a:spcAft>
                <a:spcPts val="600"/>
              </a:spcAft>
              <a:buSzPct val="100000"/>
              <a:buChar char="•"/>
            </a:pPr>
            <a:r>
              <a:rPr lang="en-US" sz="1200" dirty="0">
                <a:solidFill>
                  <a:schemeClr val="tx1"/>
                </a:solidFill>
              </a:rPr>
              <a:t>どんな大家なら満室にできるか</a:t>
            </a:r>
            <a:endParaRPr lang="en-US" sz="1200" dirty="0"/>
          </a:p>
        </p:txBody>
      </p:sp>
      <p:sp>
        <p:nvSpPr>
          <p:cNvPr id="19" name="Text 16"/>
          <p:cNvSpPr txBox="1"/>
          <p:nvPr/>
        </p:nvSpPr>
        <p:spPr>
          <a:xfrm>
            <a:off x="457200" y="4617720"/>
            <a:ext cx="5486400" cy="274320"/>
          </a:xfrm>
          <a:prstGeom prst="rect">
            <a:avLst/>
          </a:prstGeom>
          <a:noFill/>
          <a:ln/>
        </p:spPr>
        <p:txBody>
          <a:bodyPr wrap="square" lIns="0" tIns="0" rIns="0" bIns="0" rtlCol="0" anchor="t"/>
          <a:lstStyle/>
          <a:p>
            <a:pPr indent="0" marL="0">
              <a:buNone/>
            </a:pPr>
            <a:r>
              <a:rPr lang="en-US" sz="1000" dirty="0">
                <a:solidFill>
                  <a:schemeClr val="accent4"/>
                </a:solidFill>
              </a:rPr>
              <a:t>MDさんの考え方に基づくチェックリスト</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11物件中8物件が、フルローン以上</a:t>
            </a:r>
            <a:endParaRPr lang="en-US" sz="2600" dirty="0"/>
          </a:p>
        </p:txBody>
      </p:sp>
      <p:graphicFrame>
        <p:nvGraphicFramePr>
          <p:cNvPr id="4" name="Chart 0" descr=""/>
          <p:cNvGraphicFramePr/>
          <p:nvPr/>
        </p:nvGraphicFramePr>
        <p:xfrm>
          <a:off x="365760" y="1188720"/>
          <a:ext cx="5486400" cy="33832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6126480" y="1280160"/>
            <a:ext cx="2560320" cy="914400"/>
          </a:xfrm>
          <a:prstGeom prst="roundRect">
            <a:avLst>
              <a:gd name="adj" fmla="val 8000"/>
            </a:avLst>
          </a:prstGeom>
          <a:solidFill>
            <a:schemeClr val="tx1"/>
          </a:solidFill>
          <a:ln/>
        </p:spPr>
      </p:sp>
      <p:sp>
        <p:nvSpPr>
          <p:cNvPr id="6" name="Text 2"/>
          <p:cNvSpPr txBox="1"/>
          <p:nvPr/>
        </p:nvSpPr>
        <p:spPr>
          <a:xfrm>
            <a:off x="6263640" y="1325880"/>
            <a:ext cx="1280160" cy="822960"/>
          </a:xfrm>
          <a:prstGeom prst="rect">
            <a:avLst/>
          </a:prstGeom>
          <a:noFill/>
          <a:ln/>
        </p:spPr>
        <p:txBody>
          <a:bodyPr wrap="square" lIns="0" tIns="0" rIns="0" bIns="0" rtlCol="0" anchor="ctr"/>
          <a:lstStyle/>
          <a:p>
            <a:pPr indent="0" marL="0">
              <a:buNone/>
            </a:pPr>
            <a:r>
              <a:rPr lang="en-US" sz="1700" b="1" dirty="0">
                <a:solidFill>
                  <a:schemeClr val="accent1"/>
                </a:solidFill>
              </a:rPr>
              <a:t>8/11</a:t>
            </a:r>
            <a:endParaRPr lang="en-US" sz="1700" dirty="0"/>
          </a:p>
        </p:txBody>
      </p:sp>
      <p:sp>
        <p:nvSpPr>
          <p:cNvPr id="7" name="Text 3"/>
          <p:cNvSpPr txBox="1"/>
          <p:nvPr/>
        </p:nvSpPr>
        <p:spPr>
          <a:xfrm>
            <a:off x="7543800" y="1325880"/>
            <a:ext cx="1097280" cy="822960"/>
          </a:xfrm>
          <a:prstGeom prst="rect">
            <a:avLst/>
          </a:prstGeom>
          <a:noFill/>
          <a:ln/>
        </p:spPr>
        <p:txBody>
          <a:bodyPr wrap="square" lIns="0" tIns="0" rIns="0" bIns="0" rtlCol="0" anchor="ctr"/>
          <a:lstStyle/>
          <a:p>
            <a:pPr indent="0" marL="0">
              <a:buNone/>
            </a:pPr>
            <a:r>
              <a:rPr lang="en-US" sz="1100" dirty="0">
                <a:solidFill>
                  <a:schemeClr val="bg1"/>
                </a:solidFill>
              </a:rPr>
              <a:t>物件が融資100%以上</a:t>
            </a:r>
            <a:endParaRPr lang="en-US" sz="1100" dirty="0"/>
          </a:p>
        </p:txBody>
      </p:sp>
      <p:sp>
        <p:nvSpPr>
          <p:cNvPr id="8" name="card"/>
          <p:cNvSpPr/>
          <p:nvPr/>
        </p:nvSpPr>
        <p:spPr>
          <a:xfrm>
            <a:off x="6126480" y="2331720"/>
            <a:ext cx="2560320" cy="914400"/>
          </a:xfrm>
          <a:prstGeom prst="roundRect">
            <a:avLst>
              <a:gd name="adj" fmla="val 8000"/>
            </a:avLst>
          </a:prstGeom>
          <a:solidFill>
            <a:schemeClr val="tx1"/>
          </a:solidFill>
          <a:ln/>
        </p:spPr>
      </p:sp>
      <p:sp>
        <p:nvSpPr>
          <p:cNvPr id="9" name="Text 5"/>
          <p:cNvSpPr txBox="1"/>
          <p:nvPr/>
        </p:nvSpPr>
        <p:spPr>
          <a:xfrm>
            <a:off x="6263640" y="2377440"/>
            <a:ext cx="1280160" cy="822960"/>
          </a:xfrm>
          <a:prstGeom prst="rect">
            <a:avLst/>
          </a:prstGeom>
          <a:noFill/>
          <a:ln/>
        </p:spPr>
        <p:txBody>
          <a:bodyPr wrap="square" lIns="0" tIns="0" rIns="0" bIns="0" rtlCol="0" anchor="ctr"/>
          <a:lstStyle/>
          <a:p>
            <a:pPr indent="0" marL="0">
              <a:buNone/>
            </a:pPr>
            <a:r>
              <a:rPr lang="en-US" sz="1700" b="1" dirty="0">
                <a:solidFill>
                  <a:schemeClr val="accent1"/>
                </a:solidFill>
              </a:rPr>
              <a:t>1.2〜1.5%</a:t>
            </a:r>
            <a:endParaRPr lang="en-US" sz="1700" dirty="0"/>
          </a:p>
        </p:txBody>
      </p:sp>
      <p:sp>
        <p:nvSpPr>
          <p:cNvPr id="10" name="Text 6"/>
          <p:cNvSpPr txBox="1"/>
          <p:nvPr/>
        </p:nvSpPr>
        <p:spPr>
          <a:xfrm>
            <a:off x="7543800" y="2377440"/>
            <a:ext cx="1097280" cy="822960"/>
          </a:xfrm>
          <a:prstGeom prst="rect">
            <a:avLst/>
          </a:prstGeom>
          <a:noFill/>
          <a:ln/>
        </p:spPr>
        <p:txBody>
          <a:bodyPr wrap="square" lIns="0" tIns="0" rIns="0" bIns="0" rtlCol="0" anchor="ctr"/>
          <a:lstStyle/>
          <a:p>
            <a:pPr indent="0" marL="0">
              <a:buNone/>
            </a:pPr>
            <a:r>
              <a:rPr lang="en-US" sz="1100" dirty="0">
                <a:solidFill>
                  <a:schemeClr val="bg1"/>
                </a:solidFill>
              </a:rPr>
              <a:t>9物件の金利</a:t>
            </a:r>
            <a:endParaRPr lang="en-US" sz="1100" dirty="0"/>
          </a:p>
        </p:txBody>
      </p:sp>
      <p:sp>
        <p:nvSpPr>
          <p:cNvPr id="11" name="card"/>
          <p:cNvSpPr/>
          <p:nvPr/>
        </p:nvSpPr>
        <p:spPr>
          <a:xfrm>
            <a:off x="6126480" y="3383280"/>
            <a:ext cx="2560320" cy="914400"/>
          </a:xfrm>
          <a:prstGeom prst="roundRect">
            <a:avLst>
              <a:gd name="adj" fmla="val 8000"/>
            </a:avLst>
          </a:prstGeom>
          <a:solidFill>
            <a:schemeClr val="tx1"/>
          </a:solidFill>
          <a:ln/>
        </p:spPr>
      </p:sp>
      <p:sp>
        <p:nvSpPr>
          <p:cNvPr id="12" name="Text 8"/>
          <p:cNvSpPr txBox="1"/>
          <p:nvPr/>
        </p:nvSpPr>
        <p:spPr>
          <a:xfrm>
            <a:off x="6263640" y="3429000"/>
            <a:ext cx="1280160" cy="822960"/>
          </a:xfrm>
          <a:prstGeom prst="rect">
            <a:avLst/>
          </a:prstGeom>
          <a:noFill/>
          <a:ln/>
        </p:spPr>
        <p:txBody>
          <a:bodyPr wrap="square" lIns="0" tIns="0" rIns="0" bIns="0" rtlCol="0" anchor="ctr"/>
          <a:lstStyle/>
          <a:p>
            <a:pPr indent="0" marL="0">
              <a:buNone/>
            </a:pPr>
            <a:r>
              <a:rPr lang="en-US" sz="1700" b="1" dirty="0">
                <a:solidFill>
                  <a:schemeClr val="accent1"/>
                </a:solidFill>
              </a:rPr>
              <a:t>25〜29年</a:t>
            </a:r>
            <a:endParaRPr lang="en-US" sz="1700" dirty="0"/>
          </a:p>
        </p:txBody>
      </p:sp>
      <p:sp>
        <p:nvSpPr>
          <p:cNvPr id="13" name="Text 9"/>
          <p:cNvSpPr txBox="1"/>
          <p:nvPr/>
        </p:nvSpPr>
        <p:spPr>
          <a:xfrm>
            <a:off x="7543800" y="3429000"/>
            <a:ext cx="1097280" cy="822960"/>
          </a:xfrm>
          <a:prstGeom prst="rect">
            <a:avLst/>
          </a:prstGeom>
          <a:noFill/>
          <a:ln/>
        </p:spPr>
        <p:txBody>
          <a:bodyPr wrap="square" lIns="0" tIns="0" rIns="0" bIns="0" rtlCol="0" anchor="ctr"/>
          <a:lstStyle/>
          <a:p>
            <a:pPr indent="0" marL="0">
              <a:buNone/>
            </a:pPr>
            <a:r>
              <a:rPr lang="en-US" sz="1100" dirty="0">
                <a:solidFill>
                  <a:schemeClr val="bg1"/>
                </a:solidFill>
              </a:rPr>
              <a:t>融資期間が中心</a:t>
            </a:r>
            <a:endParaRPr lang="en-US" sz="1100" dirty="0"/>
          </a:p>
        </p:txBody>
      </p:sp>
      <p:sp>
        <p:nvSpPr>
          <p:cNvPr id="14" name="Text 10"/>
          <p:cNvSpPr txBox="1"/>
          <p:nvPr/>
        </p:nvSpPr>
        <p:spPr>
          <a:xfrm>
            <a:off x="457200" y="4617720"/>
            <a:ext cx="7863840" cy="274320"/>
          </a:xfrm>
          <a:prstGeom prst="rect">
            <a:avLst/>
          </a:prstGeom>
          <a:noFill/>
          <a:ln/>
        </p:spPr>
        <p:txBody>
          <a:bodyPr wrap="square" lIns="0" tIns="0" rIns="0" bIns="0" rtlCol="0" anchor="t"/>
          <a:lstStyle/>
          <a:p>
            <a:pPr indent="0" marL="0">
              <a:buNone/>
            </a:pPr>
            <a:r>
              <a:rPr lang="en-US" sz="1000" dirty="0">
                <a:solidFill>
                  <a:schemeClr val="accent4"/>
                </a:solidFill>
              </a:rPr>
              <a:t>※比率は融資額÷購入価格。10物件の合計は、価格12.12億円に対し融資12.17億円（100.4%）</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購入した物件の一覧（11物件）</a:t>
            </a:r>
            <a:endParaRPr lang="en-US" sz="2600" dirty="0"/>
          </a:p>
        </p:txBody>
      </p:sp>
      <p:graphicFrame>
        <p:nvGraphicFramePr>
          <p:cNvPr id="18" name="property list"/>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20040"/>
                <a:gridCol w="640080"/>
                <a:gridCol w="1691640"/>
                <a:gridCol w="1097280"/>
                <a:gridCol w="594360"/>
                <a:gridCol w="777240"/>
                <a:gridCol w="594360"/>
                <a:gridCol w="868680"/>
                <a:gridCol w="1645920"/>
              </a:tblGrid>
              <a:tr h="265176">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No</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購入</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所在地</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構造・築年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戸数</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価格(万円)</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利回り</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融資(万円)</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c>
                  <a:txBody>
                    <a:bodyPr/>
                    <a:lstStyle/>
                    <a:p>
                      <a:pPr algn="ctr" indent="0" marL="0">
                        <a:buNone/>
                      </a:pPr>
                      <a:r>
                        <a:rPr lang="en-US" sz="1000" b="1" dirty="0">
                          <a:solidFill>
                            <a:srgbClr val="FFFFFF"/>
                          </a:solidFill>
                          <a:latin typeface="+mn-lt" pitchFamily="34" charset="0"/>
                          <a:ea typeface="+mn-lt" pitchFamily="34" charset="-122"/>
                          <a:cs typeface="+mn-lt" pitchFamily="34" charset="-120"/>
                        </a:rPr>
                        <a:t>金利 / 期間</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1B1F2A"/>
                    </a:solidFill>
                  </a:tcPr>
                </a:tc>
              </a:tr>
              <a:tr h="265176">
                <a:tc>
                  <a:txBody>
                    <a:bodyPr/>
                    <a:lstStyle/>
                    <a:p>
                      <a:pPr algn="ctr" indent="0" marL="0">
                        <a:buNone/>
                      </a:pPr>
                      <a:r>
                        <a:rPr lang="en-US" sz="1000" dirty="0">
                          <a:solidFill>
                            <a:srgbClr val="6B7A90"/>
                          </a:solidFill>
                          <a:latin typeface="+mn-lt" pitchFamily="34" charset="0"/>
                          <a:ea typeface="+mn-lt" pitchFamily="34" charset="-122"/>
                          <a:cs typeface="+mn-lt" pitchFamily="34" charset="-120"/>
                        </a:rPr>
                        <a:t>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ctr" indent="0" marL="0">
                        <a:buNone/>
                      </a:pPr>
                      <a:r>
                        <a:rPr lang="en-US" sz="1000" dirty="0">
                          <a:solidFill>
                            <a:srgbClr val="6B7A90"/>
                          </a:solidFill>
                          <a:latin typeface="+mn-lt" pitchFamily="34" charset="0"/>
                          <a:ea typeface="+mn-lt" pitchFamily="34" charset="-122"/>
                          <a:cs typeface="+mn-lt" pitchFamily="34" charset="-120"/>
                        </a:rPr>
                        <a:t>2021/6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l" indent="0" marL="0">
                        <a:buNone/>
                      </a:pPr>
                      <a:r>
                        <a:rPr lang="en-US" sz="1000" dirty="0">
                          <a:solidFill>
                            <a:srgbClr val="6B7A90"/>
                          </a:solidFill>
                          <a:latin typeface="+mn-lt" pitchFamily="34" charset="0"/>
                          <a:ea typeface="+mn-lt" pitchFamily="34" charset="-122"/>
                          <a:cs typeface="+mn-lt" pitchFamily="34" charset="-120"/>
                        </a:rPr>
                        <a:t>千葉県市原市（売却済）</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l" indent="0" marL="0">
                        <a:buNone/>
                      </a:pPr>
                      <a:r>
                        <a:rPr lang="en-US" sz="1000" dirty="0">
                          <a:solidFill>
                            <a:srgbClr val="6B7A90"/>
                          </a:solidFill>
                          <a:latin typeface="+mn-lt" pitchFamily="34" charset="0"/>
                          <a:ea typeface="+mn-lt" pitchFamily="34" charset="-122"/>
                          <a:cs typeface="+mn-lt" pitchFamily="34" charset="-120"/>
                        </a:rPr>
                        <a:t>軽量鉄骨 築27年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ctr" indent="0" marL="0">
                        <a:buNone/>
                      </a:pPr>
                      <a:r>
                        <a:rPr lang="en-US" sz="1000" dirty="0">
                          <a:solidFill>
                            <a:srgbClr val="6B7A90"/>
                          </a:solidFill>
                          <a:latin typeface="+mn-lt" pitchFamily="34" charset="0"/>
                          <a:ea typeface="+mn-lt" pitchFamily="34" charset="-122"/>
                          <a:cs typeface="+mn-lt" pitchFamily="34" charset="-120"/>
                        </a:rPr>
                        <a:t>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r" indent="0" marL="0">
                        <a:buNone/>
                      </a:pPr>
                      <a:r>
                        <a:rPr lang="en-US" sz="1000" dirty="0">
                          <a:solidFill>
                            <a:srgbClr val="6B7A90"/>
                          </a:solidFill>
                          <a:latin typeface="+mn-lt" pitchFamily="34" charset="0"/>
                          <a:ea typeface="+mn-lt" pitchFamily="34" charset="-122"/>
                          <a:cs typeface="+mn-lt" pitchFamily="34" charset="-120"/>
                        </a:rPr>
                        <a:t>4,000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r" indent="0" marL="0">
                        <a:buNone/>
                      </a:pPr>
                      <a:r>
                        <a:rPr lang="en-US" sz="1000" dirty="0">
                          <a:solidFill>
                            <a:srgbClr val="6B7A90"/>
                          </a:solidFill>
                          <a:latin typeface="+mn-lt" pitchFamily="34" charset="0"/>
                          <a:ea typeface="+mn-lt" pitchFamily="34" charset="-122"/>
                          <a:cs typeface="+mn-lt" pitchFamily="34" charset="-120"/>
                        </a:rPr>
                        <a:t>11.6%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r" indent="0" marL="0">
                        <a:buNone/>
                      </a:pPr>
                      <a:r>
                        <a:rPr lang="en-US" sz="1000" dirty="0">
                          <a:solidFill>
                            <a:srgbClr val="6B7A90"/>
                          </a:solidFill>
                          <a:latin typeface="+mn-lt" pitchFamily="34" charset="0"/>
                          <a:ea typeface="+mn-lt" pitchFamily="34" charset="-122"/>
                          <a:cs typeface="+mn-lt" pitchFamily="34" charset="-120"/>
                        </a:rPr>
                        <a:t>3,500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c>
                  <a:txBody>
                    <a:bodyPr/>
                    <a:lstStyle/>
                    <a:p>
                      <a:pPr algn="l" indent="0" marL="0">
                        <a:buNone/>
                      </a:pPr>
                      <a:r>
                        <a:rPr lang="en-US" sz="1000" dirty="0">
                          <a:solidFill>
                            <a:srgbClr val="6B7A90"/>
                          </a:solidFill>
                          <a:latin typeface="+mn-lt" pitchFamily="34" charset="0"/>
                          <a:ea typeface="+mn-lt" pitchFamily="34" charset="-122"/>
                          <a:cs typeface="+mn-lt" pitchFamily="34" charset="-120"/>
                        </a:rPr>
                        <a:t>1.8→2.2% / 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1F2F4"/>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2022/3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栃木県鹿沼市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築19年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30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27,000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10.4%</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25,000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0.75→1.3% / 28年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2022/10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岐阜県美濃加茂市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築18年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9,500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9.0%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10,300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1.5% / 29年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4</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2023/3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愛媛県松山市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築20年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9.0%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1.2→1.5% / 27年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2023/8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岐阜県池田町</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築20年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8,400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9.75%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8,400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1.3% / 27年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2023/10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岐阜県岐阜市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10,500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10.3%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11,000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1.2% / 27年+3年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7</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2023/11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岐阜県可児市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築19年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12,800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8.5%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13,500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1.3% / 28年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8</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2024/12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岐阜県北方町</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16,000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1.4% / 25年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9</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2024/12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岐阜県北方町</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築23年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24+4</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25,000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11.6%</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24,000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1.2% / 25年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2024/12</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岐阜県瑞穂市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築39年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23</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4,000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30%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5,000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3.5% / 15年＋公庫</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r h="265176">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2025/11</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三重県亀山市</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RC 築19年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1F2A"/>
                          </a:solidFill>
                          <a:latin typeface="+mn-lt" pitchFamily="34" charset="0"/>
                          <a:ea typeface="+mn-lt" pitchFamily="34" charset="-122"/>
                          <a:cs typeface="+mn-lt" pitchFamily="34" charset="-120"/>
                        </a:rPr>
                        <a:t>15</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15,300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8.9%</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B1F2A"/>
                          </a:solidFill>
                          <a:latin typeface="+mn-lt" pitchFamily="34" charset="0"/>
                          <a:ea typeface="+mn-lt" pitchFamily="34" charset="-122"/>
                          <a:cs typeface="+mn-lt" pitchFamily="34" charset="-120"/>
                        </a:rPr>
                        <a:t>15,300</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1F2A"/>
                          </a:solidFill>
                          <a:latin typeface="+mn-lt" pitchFamily="34" charset="0"/>
                          <a:ea typeface="+mn-lt" pitchFamily="34" charset="-122"/>
                          <a:cs typeface="+mn-lt" pitchFamily="34" charset="-120"/>
                        </a:rPr>
                        <a:t>1.5% / 29年+1年</a:t>
                      </a:r>
                      <a:endParaRPr lang="en-US" sz="1000" dirty="0">
                        <a:latin typeface="+mn-lt" charset="0"/>
                        <a:ea typeface="+mn-lt" charset="0"/>
                        <a:cs typeface="+mn-lt" charset="0"/>
                      </a:endParaRPr>
                    </a:p>
                  </a:txBody>
                  <a:tcPr marL="45720" marR="45720" marT="0" marB="0" anchor="ctr">
                    <a:lnL w="6350" cap="flat" cmpd="sng" algn="ctr">
                      <a:solidFill>
                        <a:srgbClr val="D5D8DE"/>
                      </a:solidFill>
                      <a:prstDash val="solid"/>
                      <a:round/>
                      <a:headEnd type="none" w="med" len="med"/>
                      <a:tailEnd type="none" w="med" len="med"/>
                    </a:lnL>
                    <a:lnR w="6350" cap="flat" cmpd="sng" algn="ctr">
                      <a:solidFill>
                        <a:srgbClr val="D5D8DE"/>
                      </a:solidFill>
                      <a:prstDash val="solid"/>
                      <a:round/>
                      <a:headEnd type="none" w="med" len="med"/>
                      <a:tailEnd type="none" w="med" len="med"/>
                    </a:lnR>
                    <a:lnT w="6350" cap="flat" cmpd="sng" algn="ctr">
                      <a:solidFill>
                        <a:srgbClr val="D5D8DE"/>
                      </a:solidFill>
                      <a:prstDash val="solid"/>
                      <a:round/>
                      <a:headEnd type="none" w="med" len="med"/>
                      <a:tailEnd type="none" w="med" len="med"/>
                    </a:lnT>
                    <a:lnB w="6350" cap="flat" cmpd="sng" algn="ctr">
                      <a:solidFill>
                        <a:srgbClr val="D5D8DE"/>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4663440"/>
            <a:ext cx="8229600" cy="274320"/>
          </a:xfrm>
          <a:prstGeom prst="rect">
            <a:avLst/>
          </a:prstGeom>
          <a:noFill/>
          <a:ln/>
        </p:spPr>
        <p:txBody>
          <a:bodyPr wrap="square" lIns="0" tIns="0" rIns="0" bIns="0" rtlCol="0" anchor="t"/>
          <a:lstStyle/>
          <a:p>
            <a:pPr indent="0" marL="0">
              <a:buNone/>
            </a:pPr>
            <a:r>
              <a:rPr lang="en-US" sz="1000" dirty="0">
                <a:solidFill>
                  <a:schemeClr val="accent4"/>
                </a:solidFill>
              </a:rPr>
              <a:t>現在：178室＋テナント4／年間家賃収入 14,415万円（市原売却後）。融資額は頭金控除後。瑞穂市は公庫の追加融資1,500万円を含む。金融機関名は非公開</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3年の道のり：1棟目から年間家賃1億円超へ</a:t>
            </a:r>
            <a:endParaRPr lang="en-US" sz="2600" dirty="0"/>
          </a:p>
        </p:txBody>
      </p:sp>
      <p:sp>
        <p:nvSpPr>
          <p:cNvPr id="4" name="Shape 1"/>
          <p:cNvSpPr/>
          <p:nvPr/>
        </p:nvSpPr>
        <p:spPr>
          <a:xfrm>
            <a:off x="1097280" y="2148840"/>
            <a:ext cx="6949440" cy="0"/>
          </a:xfrm>
          <a:prstGeom prst="line">
            <a:avLst/>
          </a:prstGeom>
          <a:noFill/>
          <a:ln w="25400">
            <a:solidFill>
              <a:schemeClr val="accent4"/>
            </a:solidFill>
            <a:prstDash val="solid"/>
          </a:ln>
        </p:spPr>
      </p:sp>
      <p:sp>
        <p:nvSpPr>
          <p:cNvPr id="5" name="badge"/>
          <p:cNvSpPr/>
          <p:nvPr/>
        </p:nvSpPr>
        <p:spPr>
          <a:xfrm>
            <a:off x="1371600" y="1874520"/>
            <a:ext cx="548640" cy="548640"/>
          </a:xfrm>
          <a:prstGeom prst="ellipse">
            <a:avLst/>
          </a:prstGeom>
          <a:solidFill>
            <a:schemeClr val="accent1"/>
          </a:solidFill>
          <a:ln/>
        </p:spPr>
      </p:sp>
      <p:sp>
        <p:nvSpPr>
          <p:cNvPr id="6" name="Text 3"/>
          <p:cNvSpPr txBox="1"/>
          <p:nvPr/>
        </p:nvSpPr>
        <p:spPr>
          <a:xfrm>
            <a:off x="1371600" y="18745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4"/>
          <p:cNvSpPr txBox="1"/>
          <p:nvPr/>
        </p:nvSpPr>
        <p:spPr>
          <a:xfrm>
            <a:off x="228600" y="1280160"/>
            <a:ext cx="2834640" cy="457200"/>
          </a:xfrm>
          <a:prstGeom prst="rect">
            <a:avLst/>
          </a:prstGeom>
          <a:noFill/>
          <a:ln/>
        </p:spPr>
        <p:txBody>
          <a:bodyPr wrap="square" lIns="0" tIns="0" rIns="0" bIns="0" rtlCol="0" anchor="t"/>
          <a:lstStyle/>
          <a:p>
            <a:pPr algn="ctr" indent="0" marL="0">
              <a:buNone/>
            </a:pPr>
            <a:r>
              <a:rPr lang="en-US" sz="1400" b="1" dirty="0">
                <a:solidFill>
                  <a:schemeClr val="tx1"/>
                </a:solidFill>
              </a:rPr>
              <a:t>2021年6月</a:t>
            </a:r>
            <a:endParaRPr lang="en-US" sz="1400" dirty="0"/>
          </a:p>
        </p:txBody>
      </p:sp>
      <p:sp>
        <p:nvSpPr>
          <p:cNvPr id="8" name="card"/>
          <p:cNvSpPr/>
          <p:nvPr/>
        </p:nvSpPr>
        <p:spPr>
          <a:xfrm>
            <a:off x="457200" y="2697480"/>
            <a:ext cx="2377440" cy="1737360"/>
          </a:xfrm>
          <a:prstGeom prst="roundRect">
            <a:avLst>
              <a:gd name="adj" fmla="val 4211"/>
            </a:avLst>
          </a:prstGeom>
          <a:solidFill>
            <a:schemeClr val="bg2"/>
          </a:solidFill>
          <a:ln/>
        </p:spPr>
      </p:sp>
      <p:sp>
        <p:nvSpPr>
          <p:cNvPr id="9" name="Text 6"/>
          <p:cNvSpPr txBox="1"/>
          <p:nvPr/>
        </p:nvSpPr>
        <p:spPr>
          <a:xfrm>
            <a:off x="594360" y="2834640"/>
            <a:ext cx="2103120" cy="548640"/>
          </a:xfrm>
          <a:prstGeom prst="rect">
            <a:avLst/>
          </a:prstGeom>
          <a:noFill/>
          <a:ln/>
        </p:spPr>
        <p:txBody>
          <a:bodyPr wrap="square" lIns="0" tIns="0" rIns="0" bIns="0" rtlCol="0" anchor="t"/>
          <a:lstStyle/>
          <a:p>
            <a:pPr algn="ctr" indent="0" marL="0">
              <a:buNone/>
            </a:pPr>
            <a:r>
              <a:rPr lang="en-US" sz="1500" b="1" dirty="0">
                <a:solidFill>
                  <a:schemeClr val="tx1"/>
                </a:solidFill>
              </a:rPr>
              <a:t>最初の1棟</a:t>
            </a:r>
            <a:endParaRPr lang="en-US" sz="1500" dirty="0"/>
          </a:p>
        </p:txBody>
      </p:sp>
      <p:sp>
        <p:nvSpPr>
          <p:cNvPr id="10" name="Text 7"/>
          <p:cNvSpPr txBox="1"/>
          <p:nvPr/>
        </p:nvSpPr>
        <p:spPr>
          <a:xfrm>
            <a:off x="594360" y="3429000"/>
            <a:ext cx="2103120" cy="914400"/>
          </a:xfrm>
          <a:prstGeom prst="rect">
            <a:avLst/>
          </a:prstGeom>
          <a:noFill/>
          <a:ln/>
        </p:spPr>
        <p:txBody>
          <a:bodyPr wrap="square" lIns="0" tIns="0" rIns="0" bIns="0" rtlCol="0" anchor="t"/>
          <a:lstStyle/>
          <a:p>
            <a:pPr algn="ctr" indent="0" marL="0">
              <a:buNone/>
            </a:pPr>
            <a:r>
              <a:rPr lang="en-US" sz="1300" dirty="0">
                <a:solidFill>
                  <a:schemeClr val="accent4"/>
                </a:solidFill>
              </a:rPr>
              <a:t>千葉県市原市のアパート</a:t>
            </a:r>
            <a:endParaRPr lang="en-US" sz="1300" dirty="0"/>
          </a:p>
          <a:p>
            <a:pPr algn="ctr" indent="0" marL="0">
              <a:buNone/>
            </a:pPr>
            <a:r>
              <a:rPr lang="en-US" sz="1300" dirty="0">
                <a:solidFill>
                  <a:schemeClr val="accent4"/>
                </a:solidFill>
              </a:rPr>
              <a:t>（個人・頭金500万円）</a:t>
            </a:r>
            <a:endParaRPr lang="en-US" sz="1300" dirty="0"/>
          </a:p>
        </p:txBody>
      </p:sp>
      <p:sp>
        <p:nvSpPr>
          <p:cNvPr id="11" name="badge"/>
          <p:cNvSpPr/>
          <p:nvPr/>
        </p:nvSpPr>
        <p:spPr>
          <a:xfrm>
            <a:off x="4206240" y="1874520"/>
            <a:ext cx="548640" cy="548640"/>
          </a:xfrm>
          <a:prstGeom prst="ellipse">
            <a:avLst/>
          </a:prstGeom>
          <a:solidFill>
            <a:schemeClr val="accent3"/>
          </a:solidFill>
          <a:ln/>
        </p:spPr>
      </p:sp>
      <p:sp>
        <p:nvSpPr>
          <p:cNvPr id="12" name="Text 9"/>
          <p:cNvSpPr txBox="1"/>
          <p:nvPr/>
        </p:nvSpPr>
        <p:spPr>
          <a:xfrm>
            <a:off x="4206240" y="1874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0"/>
          <p:cNvSpPr txBox="1"/>
          <p:nvPr/>
        </p:nvSpPr>
        <p:spPr>
          <a:xfrm>
            <a:off x="3063240" y="1280160"/>
            <a:ext cx="2834640" cy="457200"/>
          </a:xfrm>
          <a:prstGeom prst="rect">
            <a:avLst/>
          </a:prstGeom>
          <a:noFill/>
          <a:ln/>
        </p:spPr>
        <p:txBody>
          <a:bodyPr wrap="square" lIns="0" tIns="0" rIns="0" bIns="0" rtlCol="0" anchor="t"/>
          <a:lstStyle/>
          <a:p>
            <a:pPr algn="ctr" indent="0" marL="0">
              <a:buNone/>
            </a:pPr>
            <a:r>
              <a:rPr lang="en-US" sz="1400" b="1" dirty="0">
                <a:solidFill>
                  <a:schemeClr val="tx1"/>
                </a:solidFill>
              </a:rPr>
              <a:t>2022年3月〜2024年12月</a:t>
            </a:r>
            <a:endParaRPr lang="en-US" sz="1400" dirty="0"/>
          </a:p>
        </p:txBody>
      </p:sp>
      <p:sp>
        <p:nvSpPr>
          <p:cNvPr id="14" name="card"/>
          <p:cNvSpPr/>
          <p:nvPr/>
        </p:nvSpPr>
        <p:spPr>
          <a:xfrm>
            <a:off x="3291840" y="2697480"/>
            <a:ext cx="2377440" cy="1737360"/>
          </a:xfrm>
          <a:prstGeom prst="roundRect">
            <a:avLst>
              <a:gd name="adj" fmla="val 4211"/>
            </a:avLst>
          </a:prstGeom>
          <a:solidFill>
            <a:schemeClr val="bg2"/>
          </a:solidFill>
          <a:ln/>
        </p:spPr>
      </p:sp>
      <p:sp>
        <p:nvSpPr>
          <p:cNvPr id="15" name="Text 12"/>
          <p:cNvSpPr txBox="1"/>
          <p:nvPr/>
        </p:nvSpPr>
        <p:spPr>
          <a:xfrm>
            <a:off x="3429000" y="2834640"/>
            <a:ext cx="2103120" cy="548640"/>
          </a:xfrm>
          <a:prstGeom prst="rect">
            <a:avLst/>
          </a:prstGeom>
          <a:noFill/>
          <a:ln/>
        </p:spPr>
        <p:txBody>
          <a:bodyPr wrap="square" lIns="0" tIns="0" rIns="0" bIns="0" rtlCol="0" anchor="t"/>
          <a:lstStyle/>
          <a:p>
            <a:pPr algn="ctr" indent="0" marL="0">
              <a:buNone/>
            </a:pPr>
            <a:r>
              <a:rPr lang="en-US" sz="1500" b="1" dirty="0">
                <a:solidFill>
                  <a:schemeClr val="tx1"/>
                </a:solidFill>
              </a:rPr>
              <a:t>約3年で9物件を購入</a:t>
            </a:r>
            <a:endParaRPr lang="en-US" sz="1500" dirty="0"/>
          </a:p>
        </p:txBody>
      </p:sp>
      <p:sp>
        <p:nvSpPr>
          <p:cNvPr id="16" name="Text 13"/>
          <p:cNvSpPr txBox="1"/>
          <p:nvPr/>
        </p:nvSpPr>
        <p:spPr>
          <a:xfrm>
            <a:off x="3429000" y="3429000"/>
            <a:ext cx="2103120" cy="914400"/>
          </a:xfrm>
          <a:prstGeom prst="rect">
            <a:avLst/>
          </a:prstGeom>
          <a:noFill/>
          <a:ln/>
        </p:spPr>
        <p:txBody>
          <a:bodyPr wrap="square" lIns="0" tIns="0" rIns="0" bIns="0" rtlCol="0" anchor="t"/>
          <a:lstStyle/>
          <a:p>
            <a:pPr algn="ctr" indent="0" marL="0">
              <a:buNone/>
            </a:pPr>
            <a:r>
              <a:rPr lang="en-US" sz="1300" dirty="0">
                <a:solidFill>
                  <a:schemeClr val="accent4"/>
                </a:solidFill>
              </a:rPr>
              <a:t>岐阜・栃木・愛媛が中心</a:t>
            </a:r>
            <a:endParaRPr lang="en-US" sz="1300" dirty="0"/>
          </a:p>
          <a:p>
            <a:pPr algn="ctr" indent="0" marL="0">
              <a:buNone/>
            </a:pPr>
            <a:r>
              <a:rPr lang="en-US" sz="1300" dirty="0">
                <a:solidFill>
                  <a:schemeClr val="accent4"/>
                </a:solidFill>
              </a:rPr>
              <a:t>年間家賃は約1.3億円に</a:t>
            </a:r>
            <a:endParaRPr lang="en-US" sz="1300" dirty="0"/>
          </a:p>
        </p:txBody>
      </p:sp>
      <p:sp>
        <p:nvSpPr>
          <p:cNvPr id="17" name="badge"/>
          <p:cNvSpPr/>
          <p:nvPr/>
        </p:nvSpPr>
        <p:spPr>
          <a:xfrm>
            <a:off x="7040880" y="1874520"/>
            <a:ext cx="548640" cy="548640"/>
          </a:xfrm>
          <a:prstGeom prst="ellipse">
            <a:avLst/>
          </a:prstGeom>
          <a:solidFill>
            <a:schemeClr val="accent1"/>
          </a:solidFill>
          <a:ln/>
        </p:spPr>
      </p:sp>
      <p:sp>
        <p:nvSpPr>
          <p:cNvPr id="18" name="Text 15"/>
          <p:cNvSpPr txBox="1"/>
          <p:nvPr/>
        </p:nvSpPr>
        <p:spPr>
          <a:xfrm>
            <a:off x="7040880" y="18745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Text 16"/>
          <p:cNvSpPr txBox="1"/>
          <p:nvPr/>
        </p:nvSpPr>
        <p:spPr>
          <a:xfrm>
            <a:off x="5897880" y="1280160"/>
            <a:ext cx="2834640" cy="457200"/>
          </a:xfrm>
          <a:prstGeom prst="rect">
            <a:avLst/>
          </a:prstGeom>
          <a:noFill/>
          <a:ln/>
        </p:spPr>
        <p:txBody>
          <a:bodyPr wrap="square" lIns="0" tIns="0" rIns="0" bIns="0" rtlCol="0" anchor="t"/>
          <a:lstStyle/>
          <a:p>
            <a:pPr algn="ctr" indent="0" marL="0">
              <a:buNone/>
            </a:pPr>
            <a:r>
              <a:rPr lang="en-US" sz="1400" b="1" dirty="0">
                <a:solidFill>
                  <a:schemeClr val="tx1"/>
                </a:solidFill>
              </a:rPr>
              <a:t>2025年11月</a:t>
            </a:r>
            <a:endParaRPr lang="en-US" sz="1400" dirty="0"/>
          </a:p>
        </p:txBody>
      </p:sp>
      <p:sp>
        <p:nvSpPr>
          <p:cNvPr id="20" name="card"/>
          <p:cNvSpPr/>
          <p:nvPr/>
        </p:nvSpPr>
        <p:spPr>
          <a:xfrm>
            <a:off x="6126480" y="2697480"/>
            <a:ext cx="2377440" cy="1737360"/>
          </a:xfrm>
          <a:prstGeom prst="roundRect">
            <a:avLst>
              <a:gd name="adj" fmla="val 4211"/>
            </a:avLst>
          </a:prstGeom>
          <a:solidFill>
            <a:schemeClr val="bg2"/>
          </a:solidFill>
          <a:ln/>
        </p:spPr>
      </p:sp>
      <p:sp>
        <p:nvSpPr>
          <p:cNvPr id="21" name="Text 18"/>
          <p:cNvSpPr txBox="1"/>
          <p:nvPr/>
        </p:nvSpPr>
        <p:spPr>
          <a:xfrm>
            <a:off x="6263640" y="2834640"/>
            <a:ext cx="2103120" cy="548640"/>
          </a:xfrm>
          <a:prstGeom prst="rect">
            <a:avLst/>
          </a:prstGeom>
          <a:noFill/>
          <a:ln/>
        </p:spPr>
        <p:txBody>
          <a:bodyPr wrap="square" lIns="0" tIns="0" rIns="0" bIns="0" rtlCol="0" anchor="t"/>
          <a:lstStyle/>
          <a:p>
            <a:pPr algn="ctr" indent="0" marL="0">
              <a:buNone/>
            </a:pPr>
            <a:r>
              <a:rPr lang="en-US" sz="1500" b="1" dirty="0">
                <a:solidFill>
                  <a:schemeClr val="tx1"/>
                </a:solidFill>
              </a:rPr>
              <a:t>亀山を加えて現在の体制へ</a:t>
            </a:r>
            <a:endParaRPr lang="en-US" sz="1500" dirty="0"/>
          </a:p>
        </p:txBody>
      </p:sp>
      <p:sp>
        <p:nvSpPr>
          <p:cNvPr id="22" name="Text 19"/>
          <p:cNvSpPr txBox="1"/>
          <p:nvPr/>
        </p:nvSpPr>
        <p:spPr>
          <a:xfrm>
            <a:off x="6263640" y="3429000"/>
            <a:ext cx="2103120" cy="914400"/>
          </a:xfrm>
          <a:prstGeom prst="rect">
            <a:avLst/>
          </a:prstGeom>
          <a:noFill/>
          <a:ln/>
        </p:spPr>
        <p:txBody>
          <a:bodyPr wrap="square" lIns="0" tIns="0" rIns="0" bIns="0" rtlCol="0" anchor="t"/>
          <a:lstStyle/>
          <a:p>
            <a:pPr algn="ctr" indent="0" marL="0">
              <a:buNone/>
            </a:pPr>
            <a:r>
              <a:rPr lang="en-US" sz="1300" dirty="0">
                <a:solidFill>
                  <a:schemeClr val="accent4"/>
                </a:solidFill>
              </a:rPr>
              <a:t>三重県亀山市15室（満額融資）</a:t>
            </a:r>
            <a:endParaRPr lang="en-US" sz="1300" dirty="0"/>
          </a:p>
          <a:p>
            <a:pPr algn="ctr" indent="0" marL="0">
              <a:buNone/>
            </a:pPr>
            <a:r>
              <a:rPr lang="en-US" sz="1300" dirty="0">
                <a:solidFill>
                  <a:schemeClr val="accent4"/>
                </a:solidFill>
              </a:rPr>
              <a:t>現在の年間家賃は約1.44億円</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決算書は、銀行が貸したくなる形に自分で設計する</a:t>
            </a:r>
            <a:endParaRPr lang="en-US" sz="2600" dirty="0"/>
          </a:p>
        </p:txBody>
      </p:sp>
      <p:sp>
        <p:nvSpPr>
          <p:cNvPr id="4" name="card"/>
          <p:cNvSpPr/>
          <p:nvPr/>
        </p:nvSpPr>
        <p:spPr>
          <a:xfrm>
            <a:off x="457200" y="1280160"/>
            <a:ext cx="2651760" cy="3200400"/>
          </a:xfrm>
          <a:prstGeom prst="roundRect">
            <a:avLst>
              <a:gd name="adj" fmla="val 2759"/>
            </a:avLst>
          </a:prstGeom>
          <a:solidFill>
            <a:schemeClr val="tx1"/>
          </a:solidFill>
          <a:ln/>
        </p:spPr>
      </p:sp>
      <p:sp>
        <p:nvSpPr>
          <p:cNvPr id="5" name="Text 2"/>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300" b="1" dirty="0">
                <a:solidFill>
                  <a:schemeClr val="accent1"/>
                </a:solidFill>
              </a:rPr>
              <a:t>最初の心得</a:t>
            </a:r>
            <a:endParaRPr lang="en-US" sz="1300" dirty="0"/>
          </a:p>
        </p:txBody>
      </p:sp>
      <p:sp>
        <p:nvSpPr>
          <p:cNvPr id="6" name="Text 3"/>
          <p:cNvSpPr txBox="1"/>
          <p:nvPr/>
        </p:nvSpPr>
        <p:spPr>
          <a:xfrm>
            <a:off x="640080" y="1828800"/>
            <a:ext cx="23317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税理士さんに丸投げしない</a:t>
            </a:r>
            <a:endParaRPr lang="en-US" sz="1400" dirty="0"/>
          </a:p>
          <a:p>
            <a:pPr marL="342900" indent="-342900">
              <a:spcAft>
                <a:spcPts val="600"/>
              </a:spcAft>
              <a:buSzPct val="100000"/>
              <a:buChar char="•"/>
            </a:pPr>
            <a:r>
              <a:rPr lang="en-US" sz="1400" dirty="0">
                <a:solidFill>
                  <a:schemeClr val="bg1"/>
                </a:solidFill>
              </a:rPr>
              <a:t>着地点を自分で決める</a:t>
            </a:r>
            <a:endParaRPr lang="en-US" sz="1400" dirty="0"/>
          </a:p>
          <a:p>
            <a:pPr marL="342900" indent="-342900">
              <a:spcAft>
                <a:spcPts val="600"/>
              </a:spcAft>
              <a:buSzPct val="100000"/>
              <a:buChar char="•"/>
            </a:pPr>
            <a:r>
              <a:rPr lang="en-US" sz="1400" dirty="0">
                <a:solidFill>
                  <a:schemeClr val="bg1"/>
                </a:solidFill>
              </a:rPr>
              <a:t>確定前に主要銀行へ相談する</a:t>
            </a:r>
            <a:endParaRPr lang="en-US" sz="1400" dirty="0"/>
          </a:p>
        </p:txBody>
      </p:sp>
      <p:sp>
        <p:nvSpPr>
          <p:cNvPr id="7" name="card"/>
          <p:cNvSpPr/>
          <p:nvPr/>
        </p:nvSpPr>
        <p:spPr>
          <a:xfrm>
            <a:off x="3291840" y="1280160"/>
            <a:ext cx="1737360" cy="3200400"/>
          </a:xfrm>
          <a:prstGeom prst="roundRect">
            <a:avLst>
              <a:gd name="adj" fmla="val 4211"/>
            </a:avLst>
          </a:prstGeom>
          <a:solidFill>
            <a:schemeClr val="bg2"/>
          </a:solidFill>
          <a:ln/>
        </p:spPr>
      </p:sp>
      <p:sp>
        <p:nvSpPr>
          <p:cNvPr id="8" name="badge"/>
          <p:cNvSpPr/>
          <p:nvPr/>
        </p:nvSpPr>
        <p:spPr>
          <a:xfrm>
            <a:off x="3429000" y="1417320"/>
            <a:ext cx="457200" cy="457200"/>
          </a:xfrm>
          <a:prstGeom prst="ellipse">
            <a:avLst/>
          </a:prstGeom>
          <a:solidFill>
            <a:schemeClr val="accent2"/>
          </a:solidFill>
          <a:ln/>
        </p:spPr>
      </p:sp>
      <p:sp>
        <p:nvSpPr>
          <p:cNvPr id="9" name="Text 6"/>
          <p:cNvSpPr txBox="1"/>
          <p:nvPr/>
        </p:nvSpPr>
        <p:spPr>
          <a:xfrm>
            <a:off x="342900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7"/>
          <p:cNvSpPr txBox="1"/>
          <p:nvPr/>
        </p:nvSpPr>
        <p:spPr>
          <a:xfrm>
            <a:off x="3429000" y="2011680"/>
            <a:ext cx="1508760" cy="640080"/>
          </a:xfrm>
          <a:prstGeom prst="rect">
            <a:avLst/>
          </a:prstGeom>
          <a:noFill/>
          <a:ln/>
        </p:spPr>
        <p:txBody>
          <a:bodyPr wrap="square" lIns="0" tIns="0" rIns="0" bIns="0" rtlCol="0" anchor="t"/>
          <a:lstStyle/>
          <a:p>
            <a:pPr indent="0" marL="0">
              <a:buNone/>
            </a:pPr>
            <a:r>
              <a:rPr lang="en-US" sz="1400" b="1" dirty="0">
                <a:solidFill>
                  <a:schemeClr val="tx1"/>
                </a:solidFill>
              </a:rPr>
              <a:t>貸借対照表</a:t>
            </a:r>
            <a:endParaRPr lang="en-US" sz="1400" dirty="0"/>
          </a:p>
        </p:txBody>
      </p:sp>
      <p:sp>
        <p:nvSpPr>
          <p:cNvPr id="11" name="Text 8"/>
          <p:cNvSpPr txBox="1"/>
          <p:nvPr/>
        </p:nvSpPr>
        <p:spPr>
          <a:xfrm>
            <a:off x="3429000" y="2697480"/>
            <a:ext cx="1508760" cy="1737360"/>
          </a:xfrm>
          <a:prstGeom prst="rect">
            <a:avLst/>
          </a:prstGeom>
          <a:noFill/>
          <a:ln/>
        </p:spPr>
        <p:txBody>
          <a:bodyPr wrap="square" lIns="0" tIns="0" rIns="0" bIns="0" rtlCol="0" anchor="t"/>
          <a:lstStyle/>
          <a:p>
            <a:pPr indent="0" marL="0">
              <a:buNone/>
            </a:pPr>
            <a:r>
              <a:rPr lang="en-US" sz="1300" dirty="0">
                <a:solidFill>
                  <a:schemeClr val="accent4"/>
                </a:solidFill>
              </a:rPr>
              <a:t>純資産がプラス</a:t>
            </a:r>
            <a:endParaRPr lang="en-US" sz="1300" dirty="0"/>
          </a:p>
          <a:p>
            <a:pPr indent="0" marL="0">
              <a:buNone/>
            </a:pPr>
            <a:r>
              <a:rPr lang="en-US" sz="1300" dirty="0">
                <a:solidFill>
                  <a:schemeClr val="accent4"/>
                </a:solidFill>
              </a:rPr>
              <a:t>前期より増えている</a:t>
            </a:r>
            <a:endParaRPr lang="en-US" sz="1300" dirty="0"/>
          </a:p>
        </p:txBody>
      </p:sp>
      <p:sp>
        <p:nvSpPr>
          <p:cNvPr id="12" name="card"/>
          <p:cNvSpPr/>
          <p:nvPr/>
        </p:nvSpPr>
        <p:spPr>
          <a:xfrm>
            <a:off x="5120640" y="1280160"/>
            <a:ext cx="1737360" cy="3200400"/>
          </a:xfrm>
          <a:prstGeom prst="roundRect">
            <a:avLst>
              <a:gd name="adj" fmla="val 4211"/>
            </a:avLst>
          </a:prstGeom>
          <a:solidFill>
            <a:schemeClr val="bg2"/>
          </a:solidFill>
          <a:ln/>
        </p:spPr>
      </p:sp>
      <p:sp>
        <p:nvSpPr>
          <p:cNvPr id="13" name="badge"/>
          <p:cNvSpPr/>
          <p:nvPr/>
        </p:nvSpPr>
        <p:spPr>
          <a:xfrm>
            <a:off x="5257800" y="1417320"/>
            <a:ext cx="457200" cy="457200"/>
          </a:xfrm>
          <a:prstGeom prst="ellipse">
            <a:avLst/>
          </a:prstGeom>
          <a:solidFill>
            <a:schemeClr val="accent2"/>
          </a:solidFill>
          <a:ln/>
        </p:spPr>
      </p:sp>
      <p:sp>
        <p:nvSpPr>
          <p:cNvPr id="14" name="Text 11"/>
          <p:cNvSpPr txBox="1"/>
          <p:nvPr/>
        </p:nvSpPr>
        <p:spPr>
          <a:xfrm>
            <a:off x="525780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5257800" y="2011680"/>
            <a:ext cx="1508760" cy="640080"/>
          </a:xfrm>
          <a:prstGeom prst="rect">
            <a:avLst/>
          </a:prstGeom>
          <a:noFill/>
          <a:ln/>
        </p:spPr>
        <p:txBody>
          <a:bodyPr wrap="square" lIns="0" tIns="0" rIns="0" bIns="0" rtlCol="0" anchor="t"/>
          <a:lstStyle/>
          <a:p>
            <a:pPr indent="0" marL="0">
              <a:buNone/>
            </a:pPr>
            <a:r>
              <a:rPr lang="en-US" sz="1400" b="1" dirty="0">
                <a:solidFill>
                  <a:schemeClr val="tx1"/>
                </a:solidFill>
              </a:rPr>
              <a:t>損益計算書</a:t>
            </a:r>
            <a:endParaRPr lang="en-US" sz="1400" dirty="0"/>
          </a:p>
        </p:txBody>
      </p:sp>
      <p:sp>
        <p:nvSpPr>
          <p:cNvPr id="16" name="Text 13"/>
          <p:cNvSpPr txBox="1"/>
          <p:nvPr/>
        </p:nvSpPr>
        <p:spPr>
          <a:xfrm>
            <a:off x="5257800" y="2697480"/>
            <a:ext cx="1508760" cy="1737360"/>
          </a:xfrm>
          <a:prstGeom prst="rect">
            <a:avLst/>
          </a:prstGeom>
          <a:noFill/>
          <a:ln/>
        </p:spPr>
        <p:txBody>
          <a:bodyPr wrap="square" lIns="0" tIns="0" rIns="0" bIns="0" rtlCol="0" anchor="t"/>
          <a:lstStyle/>
          <a:p>
            <a:pPr indent="0" marL="0">
              <a:buNone/>
            </a:pPr>
            <a:r>
              <a:rPr lang="en-US" sz="1300" dirty="0">
                <a:solidFill>
                  <a:schemeClr val="accent4"/>
                </a:solidFill>
              </a:rPr>
              <a:t>経常利益がプラス</a:t>
            </a:r>
            <a:endParaRPr lang="en-US" sz="1300" dirty="0"/>
          </a:p>
          <a:p>
            <a:pPr indent="0" marL="0">
              <a:buNone/>
            </a:pPr>
            <a:r>
              <a:rPr lang="en-US" sz="1300" dirty="0">
                <a:solidFill>
                  <a:schemeClr val="accent4"/>
                </a:solidFill>
              </a:rPr>
              <a:t>購入期の取得費は特別損失で処理</a:t>
            </a:r>
            <a:endParaRPr lang="en-US" sz="1300" dirty="0"/>
          </a:p>
        </p:txBody>
      </p:sp>
      <p:sp>
        <p:nvSpPr>
          <p:cNvPr id="17" name="card"/>
          <p:cNvSpPr/>
          <p:nvPr/>
        </p:nvSpPr>
        <p:spPr>
          <a:xfrm>
            <a:off x="6949440" y="1280160"/>
            <a:ext cx="1737360" cy="3200400"/>
          </a:xfrm>
          <a:prstGeom prst="roundRect">
            <a:avLst>
              <a:gd name="adj" fmla="val 4211"/>
            </a:avLst>
          </a:prstGeom>
          <a:solidFill>
            <a:schemeClr val="bg2"/>
          </a:solidFill>
          <a:ln/>
        </p:spPr>
      </p:sp>
      <p:sp>
        <p:nvSpPr>
          <p:cNvPr id="18" name="badge"/>
          <p:cNvSpPr/>
          <p:nvPr/>
        </p:nvSpPr>
        <p:spPr>
          <a:xfrm>
            <a:off x="7086600" y="1417320"/>
            <a:ext cx="457200" cy="457200"/>
          </a:xfrm>
          <a:prstGeom prst="ellipse">
            <a:avLst/>
          </a:prstGeom>
          <a:solidFill>
            <a:schemeClr val="accent2"/>
          </a:solidFill>
          <a:ln/>
        </p:spPr>
      </p:sp>
      <p:sp>
        <p:nvSpPr>
          <p:cNvPr id="19" name="Text 16"/>
          <p:cNvSpPr txBox="1"/>
          <p:nvPr/>
        </p:nvSpPr>
        <p:spPr>
          <a:xfrm>
            <a:off x="708660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7"/>
          <p:cNvSpPr txBox="1"/>
          <p:nvPr/>
        </p:nvSpPr>
        <p:spPr>
          <a:xfrm>
            <a:off x="7086600" y="2011680"/>
            <a:ext cx="1508760" cy="640080"/>
          </a:xfrm>
          <a:prstGeom prst="rect">
            <a:avLst/>
          </a:prstGeom>
          <a:noFill/>
          <a:ln/>
        </p:spPr>
        <p:txBody>
          <a:bodyPr wrap="square" lIns="0" tIns="0" rIns="0" bIns="0" rtlCol="0" anchor="t"/>
          <a:lstStyle/>
          <a:p>
            <a:pPr indent="0" marL="0">
              <a:buNone/>
            </a:pPr>
            <a:r>
              <a:rPr lang="en-US" sz="1400" b="1" dirty="0">
                <a:solidFill>
                  <a:schemeClr val="tx1"/>
                </a:solidFill>
              </a:rPr>
              <a:t>簡易キャッシュフロー</a:t>
            </a:r>
            <a:endParaRPr lang="en-US" sz="1400" dirty="0"/>
          </a:p>
        </p:txBody>
      </p:sp>
      <p:sp>
        <p:nvSpPr>
          <p:cNvPr id="21" name="Text 18"/>
          <p:cNvSpPr txBox="1"/>
          <p:nvPr/>
        </p:nvSpPr>
        <p:spPr>
          <a:xfrm>
            <a:off x="7086600" y="2697480"/>
            <a:ext cx="1508760" cy="1737360"/>
          </a:xfrm>
          <a:prstGeom prst="rect">
            <a:avLst/>
          </a:prstGeom>
          <a:noFill/>
          <a:ln/>
        </p:spPr>
        <p:txBody>
          <a:bodyPr wrap="square" lIns="0" tIns="0" rIns="0" bIns="0" rtlCol="0" anchor="t"/>
          <a:lstStyle/>
          <a:p>
            <a:pPr indent="0" marL="0">
              <a:buNone/>
            </a:pPr>
            <a:r>
              <a:rPr lang="en-US" sz="1300" dirty="0">
                <a:solidFill>
                  <a:schemeClr val="accent4"/>
                </a:solidFill>
              </a:rPr>
              <a:t>税引後利益＋減価償却</a:t>
            </a:r>
            <a:endParaRPr lang="en-US" sz="1300" dirty="0"/>
          </a:p>
          <a:p>
            <a:pPr indent="0" marL="0">
              <a:buNone/>
            </a:pPr>
            <a:r>
              <a:rPr lang="en-US" sz="1300" dirty="0">
                <a:solidFill>
                  <a:schemeClr val="accent4"/>
                </a:solidFill>
              </a:rPr>
              <a:t>−元本返済 ＞ 0</a:t>
            </a:r>
            <a:endParaRPr lang="en-US" sz="1300" dirty="0"/>
          </a:p>
        </p:txBody>
      </p:sp>
      <p:sp>
        <p:nvSpPr>
          <p:cNvPr id="22" name="Text 19"/>
          <p:cNvSpPr txBox="1"/>
          <p:nvPr/>
        </p:nvSpPr>
        <p:spPr>
          <a:xfrm>
            <a:off x="457200" y="4617720"/>
            <a:ext cx="5486400" cy="274320"/>
          </a:xfrm>
          <a:prstGeom prst="rect">
            <a:avLst/>
          </a:prstGeom>
          <a:noFill/>
          <a:ln/>
        </p:spPr>
        <p:txBody>
          <a:bodyPr wrap="square" lIns="0" tIns="0" rIns="0" bIns="0" rtlCol="0" anchor="t"/>
          <a:lstStyle/>
          <a:p>
            <a:pPr indent="0" marL="0">
              <a:buNone/>
            </a:pPr>
            <a:r>
              <a:rPr lang="en-US" sz="1000" dirty="0">
                <a:solidFill>
                  <a:schemeClr val="accent4"/>
                </a:solidFill>
              </a:rPr>
              <a:t>考え方はMDさんの資料に基づく</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もう一つの物差し：債務償還年数と3つの指標</a:t>
            </a:r>
            <a:endParaRPr lang="en-US" sz="2600" dirty="0"/>
          </a:p>
        </p:txBody>
      </p:sp>
      <p:sp>
        <p:nvSpPr>
          <p:cNvPr id="4" name="card"/>
          <p:cNvSpPr/>
          <p:nvPr/>
        </p:nvSpPr>
        <p:spPr>
          <a:xfrm>
            <a:off x="457200" y="1280160"/>
            <a:ext cx="1920240" cy="2011680"/>
          </a:xfrm>
          <a:prstGeom prst="roundRect">
            <a:avLst>
              <a:gd name="adj" fmla="val 3810"/>
            </a:avLst>
          </a:prstGeom>
          <a:solidFill>
            <a:schemeClr val="bg2"/>
          </a:solidFill>
          <a:ln/>
        </p:spPr>
      </p:sp>
      <p:sp>
        <p:nvSpPr>
          <p:cNvPr id="5" name="Text 2"/>
          <p:cNvSpPr txBox="1"/>
          <p:nvPr/>
        </p:nvSpPr>
        <p:spPr>
          <a:xfrm>
            <a:off x="594360" y="1371600"/>
            <a:ext cx="1645920" cy="365760"/>
          </a:xfrm>
          <a:prstGeom prst="rect">
            <a:avLst/>
          </a:prstGeom>
          <a:noFill/>
          <a:ln/>
        </p:spPr>
        <p:txBody>
          <a:bodyPr wrap="square" lIns="0" tIns="0" rIns="0" bIns="0" rtlCol="0" anchor="t"/>
          <a:lstStyle/>
          <a:p>
            <a:pPr indent="0" marL="0">
              <a:buNone/>
            </a:pPr>
            <a:r>
              <a:rPr lang="en-US" sz="1300" b="1" dirty="0">
                <a:solidFill>
                  <a:schemeClr val="accent2"/>
                </a:solidFill>
              </a:rPr>
              <a:t>債務償還年数</a:t>
            </a:r>
            <a:endParaRPr lang="en-US" sz="1300" dirty="0"/>
          </a:p>
        </p:txBody>
      </p:sp>
      <p:sp>
        <p:nvSpPr>
          <p:cNvPr id="6" name="Text 3"/>
          <p:cNvSpPr txBox="1"/>
          <p:nvPr/>
        </p:nvSpPr>
        <p:spPr>
          <a:xfrm>
            <a:off x="594360" y="1783080"/>
            <a:ext cx="1691640" cy="640080"/>
          </a:xfrm>
          <a:prstGeom prst="rect">
            <a:avLst/>
          </a:prstGeom>
          <a:noFill/>
          <a:ln/>
        </p:spPr>
        <p:txBody>
          <a:bodyPr wrap="square" lIns="0" tIns="0" rIns="0" bIns="0" rtlCol="0" anchor="t"/>
          <a:lstStyle/>
          <a:p>
            <a:pPr indent="0" marL="0">
              <a:buNone/>
            </a:pPr>
            <a:r>
              <a:rPr lang="en-US" sz="1700" b="1" dirty="0">
                <a:solidFill>
                  <a:schemeClr val="tx1"/>
                </a:solidFill>
              </a:rPr>
              <a:t>融資の残り年数以内</a:t>
            </a:r>
            <a:endParaRPr lang="en-US" sz="1700" dirty="0"/>
          </a:p>
        </p:txBody>
      </p:sp>
      <p:sp>
        <p:nvSpPr>
          <p:cNvPr id="7" name="Text 4"/>
          <p:cNvSpPr txBox="1"/>
          <p:nvPr/>
        </p:nvSpPr>
        <p:spPr>
          <a:xfrm>
            <a:off x="594360" y="2468880"/>
            <a:ext cx="1691640" cy="777240"/>
          </a:xfrm>
          <a:prstGeom prst="rect">
            <a:avLst/>
          </a:prstGeom>
          <a:noFill/>
          <a:ln/>
        </p:spPr>
        <p:txBody>
          <a:bodyPr wrap="square" lIns="0" tIns="0" rIns="0" bIns="0" rtlCol="0" anchor="t"/>
          <a:lstStyle/>
          <a:p>
            <a:pPr indent="0" marL="0">
              <a:buNone/>
            </a:pPr>
            <a:r>
              <a:rPr lang="en-US" sz="1100" dirty="0">
                <a:solidFill>
                  <a:schemeClr val="accent4"/>
                </a:solidFill>
              </a:rPr>
              <a:t>都銀は耐用年数残、地銀25〜27年、信金30年以内が目安</a:t>
            </a:r>
            <a:endParaRPr lang="en-US" sz="1100" dirty="0"/>
          </a:p>
        </p:txBody>
      </p:sp>
      <p:sp>
        <p:nvSpPr>
          <p:cNvPr id="8" name="card"/>
          <p:cNvSpPr/>
          <p:nvPr/>
        </p:nvSpPr>
        <p:spPr>
          <a:xfrm>
            <a:off x="2542032" y="1280160"/>
            <a:ext cx="1920240" cy="2011680"/>
          </a:xfrm>
          <a:prstGeom prst="roundRect">
            <a:avLst>
              <a:gd name="adj" fmla="val 3810"/>
            </a:avLst>
          </a:prstGeom>
          <a:solidFill>
            <a:schemeClr val="bg2"/>
          </a:solidFill>
          <a:ln/>
        </p:spPr>
      </p:sp>
      <p:sp>
        <p:nvSpPr>
          <p:cNvPr id="9" name="Text 6"/>
          <p:cNvSpPr txBox="1"/>
          <p:nvPr/>
        </p:nvSpPr>
        <p:spPr>
          <a:xfrm>
            <a:off x="2679192" y="1371600"/>
            <a:ext cx="1645920" cy="365760"/>
          </a:xfrm>
          <a:prstGeom prst="rect">
            <a:avLst/>
          </a:prstGeom>
          <a:noFill/>
          <a:ln/>
        </p:spPr>
        <p:txBody>
          <a:bodyPr wrap="square" lIns="0" tIns="0" rIns="0" bIns="0" rtlCol="0" anchor="t"/>
          <a:lstStyle/>
          <a:p>
            <a:pPr indent="0" marL="0">
              <a:buNone/>
            </a:pPr>
            <a:r>
              <a:rPr lang="en-US" sz="1300" b="1" dirty="0">
                <a:solidFill>
                  <a:schemeClr val="accent2"/>
                </a:solidFill>
              </a:rPr>
              <a:t>流動比率</a:t>
            </a:r>
            <a:endParaRPr lang="en-US" sz="1300" dirty="0"/>
          </a:p>
        </p:txBody>
      </p:sp>
      <p:sp>
        <p:nvSpPr>
          <p:cNvPr id="10" name="Text 7"/>
          <p:cNvSpPr txBox="1"/>
          <p:nvPr/>
        </p:nvSpPr>
        <p:spPr>
          <a:xfrm>
            <a:off x="2679192" y="1783080"/>
            <a:ext cx="1691640" cy="640080"/>
          </a:xfrm>
          <a:prstGeom prst="rect">
            <a:avLst/>
          </a:prstGeom>
          <a:noFill/>
          <a:ln/>
        </p:spPr>
        <p:txBody>
          <a:bodyPr wrap="square" lIns="0" tIns="0" rIns="0" bIns="0" rtlCol="0" anchor="t"/>
          <a:lstStyle/>
          <a:p>
            <a:pPr indent="0" marL="0">
              <a:buNone/>
            </a:pPr>
            <a:r>
              <a:rPr lang="en-US" sz="1700" b="1" dirty="0">
                <a:solidFill>
                  <a:schemeClr val="tx1"/>
                </a:solidFill>
              </a:rPr>
              <a:t>100%以上</a:t>
            </a:r>
            <a:endParaRPr lang="en-US" sz="1700" dirty="0"/>
          </a:p>
        </p:txBody>
      </p:sp>
      <p:sp>
        <p:nvSpPr>
          <p:cNvPr id="11" name="Text 8"/>
          <p:cNvSpPr txBox="1"/>
          <p:nvPr/>
        </p:nvSpPr>
        <p:spPr>
          <a:xfrm>
            <a:off x="2679192" y="2468880"/>
            <a:ext cx="1691640" cy="777240"/>
          </a:xfrm>
          <a:prstGeom prst="rect">
            <a:avLst/>
          </a:prstGeom>
          <a:noFill/>
          <a:ln/>
        </p:spPr>
        <p:txBody>
          <a:bodyPr wrap="square" lIns="0" tIns="0" rIns="0" bIns="0" rtlCol="0" anchor="t"/>
          <a:lstStyle/>
          <a:p>
            <a:pPr indent="0" marL="0">
              <a:buNone/>
            </a:pPr>
            <a:r>
              <a:rPr lang="en-US" sz="1100" dirty="0">
                <a:solidFill>
                  <a:schemeClr val="accent4"/>
                </a:solidFill>
              </a:rPr>
              <a:t>目標は120%。短期の支払い能力</a:t>
            </a:r>
            <a:endParaRPr lang="en-US" sz="1100" dirty="0"/>
          </a:p>
        </p:txBody>
      </p:sp>
      <p:sp>
        <p:nvSpPr>
          <p:cNvPr id="12" name="card"/>
          <p:cNvSpPr/>
          <p:nvPr/>
        </p:nvSpPr>
        <p:spPr>
          <a:xfrm>
            <a:off x="4626864" y="1280160"/>
            <a:ext cx="1920240" cy="2011680"/>
          </a:xfrm>
          <a:prstGeom prst="roundRect">
            <a:avLst>
              <a:gd name="adj" fmla="val 3810"/>
            </a:avLst>
          </a:prstGeom>
          <a:solidFill>
            <a:schemeClr val="bg2"/>
          </a:solidFill>
          <a:ln/>
        </p:spPr>
      </p:sp>
      <p:sp>
        <p:nvSpPr>
          <p:cNvPr id="13" name="Text 10"/>
          <p:cNvSpPr txBox="1"/>
          <p:nvPr/>
        </p:nvSpPr>
        <p:spPr>
          <a:xfrm>
            <a:off x="4764024" y="1371600"/>
            <a:ext cx="1645920" cy="365760"/>
          </a:xfrm>
          <a:prstGeom prst="rect">
            <a:avLst/>
          </a:prstGeom>
          <a:noFill/>
          <a:ln/>
        </p:spPr>
        <p:txBody>
          <a:bodyPr wrap="square" lIns="0" tIns="0" rIns="0" bIns="0" rtlCol="0" anchor="t"/>
          <a:lstStyle/>
          <a:p>
            <a:pPr indent="0" marL="0">
              <a:buNone/>
            </a:pPr>
            <a:r>
              <a:rPr lang="en-US" sz="1300" b="1" dirty="0">
                <a:solidFill>
                  <a:schemeClr val="accent2"/>
                </a:solidFill>
              </a:rPr>
              <a:t>固定長期適合率</a:t>
            </a:r>
            <a:endParaRPr lang="en-US" sz="1300" dirty="0"/>
          </a:p>
        </p:txBody>
      </p:sp>
      <p:sp>
        <p:nvSpPr>
          <p:cNvPr id="14" name="Text 11"/>
          <p:cNvSpPr txBox="1"/>
          <p:nvPr/>
        </p:nvSpPr>
        <p:spPr>
          <a:xfrm>
            <a:off x="4764024" y="1783080"/>
            <a:ext cx="1691640" cy="640080"/>
          </a:xfrm>
          <a:prstGeom prst="rect">
            <a:avLst/>
          </a:prstGeom>
          <a:noFill/>
          <a:ln/>
        </p:spPr>
        <p:txBody>
          <a:bodyPr wrap="square" lIns="0" tIns="0" rIns="0" bIns="0" rtlCol="0" anchor="t"/>
          <a:lstStyle/>
          <a:p>
            <a:pPr indent="0" marL="0">
              <a:buNone/>
            </a:pPr>
            <a:r>
              <a:rPr lang="en-US" sz="1700" b="1" dirty="0">
                <a:solidFill>
                  <a:schemeClr val="tx1"/>
                </a:solidFill>
              </a:rPr>
              <a:t>100%以下</a:t>
            </a:r>
            <a:endParaRPr lang="en-US" sz="1700" dirty="0"/>
          </a:p>
        </p:txBody>
      </p:sp>
      <p:sp>
        <p:nvSpPr>
          <p:cNvPr id="15" name="Text 12"/>
          <p:cNvSpPr txBox="1"/>
          <p:nvPr/>
        </p:nvSpPr>
        <p:spPr>
          <a:xfrm>
            <a:off x="4764024" y="2468880"/>
            <a:ext cx="1691640" cy="777240"/>
          </a:xfrm>
          <a:prstGeom prst="rect">
            <a:avLst/>
          </a:prstGeom>
          <a:noFill/>
          <a:ln/>
        </p:spPr>
        <p:txBody>
          <a:bodyPr wrap="square" lIns="0" tIns="0" rIns="0" bIns="0" rtlCol="0" anchor="t"/>
          <a:lstStyle/>
          <a:p>
            <a:pPr indent="0" marL="0">
              <a:buNone/>
            </a:pPr>
            <a:r>
              <a:rPr lang="en-US" sz="1100" dirty="0">
                <a:solidFill>
                  <a:schemeClr val="accent4"/>
                </a:solidFill>
              </a:rPr>
              <a:t>目標は80%。長期資金で固定資産を賄えているか</a:t>
            </a:r>
            <a:endParaRPr lang="en-US" sz="1100" dirty="0"/>
          </a:p>
        </p:txBody>
      </p:sp>
      <p:sp>
        <p:nvSpPr>
          <p:cNvPr id="16" name="card"/>
          <p:cNvSpPr/>
          <p:nvPr/>
        </p:nvSpPr>
        <p:spPr>
          <a:xfrm>
            <a:off x="6711696" y="1280160"/>
            <a:ext cx="1920240" cy="2011680"/>
          </a:xfrm>
          <a:prstGeom prst="roundRect">
            <a:avLst>
              <a:gd name="adj" fmla="val 3810"/>
            </a:avLst>
          </a:prstGeom>
          <a:solidFill>
            <a:schemeClr val="bg2"/>
          </a:solidFill>
          <a:ln/>
        </p:spPr>
      </p:sp>
      <p:sp>
        <p:nvSpPr>
          <p:cNvPr id="17" name="Text 14"/>
          <p:cNvSpPr txBox="1"/>
          <p:nvPr/>
        </p:nvSpPr>
        <p:spPr>
          <a:xfrm>
            <a:off x="6848856" y="1371600"/>
            <a:ext cx="1645920" cy="365760"/>
          </a:xfrm>
          <a:prstGeom prst="rect">
            <a:avLst/>
          </a:prstGeom>
          <a:noFill/>
          <a:ln/>
        </p:spPr>
        <p:txBody>
          <a:bodyPr wrap="square" lIns="0" tIns="0" rIns="0" bIns="0" rtlCol="0" anchor="t"/>
          <a:lstStyle/>
          <a:p>
            <a:pPr indent="0" marL="0">
              <a:buNone/>
            </a:pPr>
            <a:r>
              <a:rPr lang="en-US" sz="1300" b="1" dirty="0">
                <a:solidFill>
                  <a:schemeClr val="accent2"/>
                </a:solidFill>
              </a:rPr>
              <a:t>ICR</a:t>
            </a:r>
            <a:endParaRPr lang="en-US" sz="1300" dirty="0"/>
          </a:p>
        </p:txBody>
      </p:sp>
      <p:sp>
        <p:nvSpPr>
          <p:cNvPr id="18" name="Text 15"/>
          <p:cNvSpPr txBox="1"/>
          <p:nvPr/>
        </p:nvSpPr>
        <p:spPr>
          <a:xfrm>
            <a:off x="6848856" y="1783080"/>
            <a:ext cx="1691640" cy="640080"/>
          </a:xfrm>
          <a:prstGeom prst="rect">
            <a:avLst/>
          </a:prstGeom>
          <a:noFill/>
          <a:ln/>
        </p:spPr>
        <p:txBody>
          <a:bodyPr wrap="square" lIns="0" tIns="0" rIns="0" bIns="0" rtlCol="0" anchor="t"/>
          <a:lstStyle/>
          <a:p>
            <a:pPr indent="0" marL="0">
              <a:buNone/>
            </a:pPr>
            <a:r>
              <a:rPr lang="en-US" sz="1700" b="1" dirty="0">
                <a:solidFill>
                  <a:schemeClr val="tx1"/>
                </a:solidFill>
              </a:rPr>
              <a:t>1倍以上</a:t>
            </a:r>
            <a:endParaRPr lang="en-US" sz="1700" dirty="0"/>
          </a:p>
        </p:txBody>
      </p:sp>
      <p:sp>
        <p:nvSpPr>
          <p:cNvPr id="19" name="Text 16"/>
          <p:cNvSpPr txBox="1"/>
          <p:nvPr/>
        </p:nvSpPr>
        <p:spPr>
          <a:xfrm>
            <a:off x="6848856" y="2468880"/>
            <a:ext cx="1691640" cy="777240"/>
          </a:xfrm>
          <a:prstGeom prst="rect">
            <a:avLst/>
          </a:prstGeom>
          <a:noFill/>
          <a:ln/>
        </p:spPr>
        <p:txBody>
          <a:bodyPr wrap="square" lIns="0" tIns="0" rIns="0" bIns="0" rtlCol="0" anchor="t"/>
          <a:lstStyle/>
          <a:p>
            <a:pPr indent="0" marL="0">
              <a:buNone/>
            </a:pPr>
            <a:r>
              <a:rPr lang="en-US" sz="1100" dirty="0">
                <a:solidFill>
                  <a:schemeClr val="accent4"/>
                </a:solidFill>
              </a:rPr>
              <a:t>目標は1.25倍。利益が支払利息をカバーできるか</a:t>
            </a:r>
            <a:endParaRPr lang="en-US" sz="1100" dirty="0"/>
          </a:p>
        </p:txBody>
      </p:sp>
      <p:sp>
        <p:nvSpPr>
          <p:cNvPr id="20" name="card"/>
          <p:cNvSpPr/>
          <p:nvPr/>
        </p:nvSpPr>
        <p:spPr>
          <a:xfrm>
            <a:off x="457200" y="3520440"/>
            <a:ext cx="4023360" cy="960120"/>
          </a:xfrm>
          <a:prstGeom prst="roundRect">
            <a:avLst>
              <a:gd name="adj" fmla="val 7619"/>
            </a:avLst>
          </a:prstGeom>
          <a:solidFill>
            <a:schemeClr val="accent6"/>
          </a:solidFill>
          <a:ln/>
        </p:spPr>
      </p:sp>
      <p:sp>
        <p:nvSpPr>
          <p:cNvPr id="21" name="Text 18"/>
          <p:cNvSpPr txBox="1"/>
          <p:nvPr/>
        </p:nvSpPr>
        <p:spPr>
          <a:xfrm>
            <a:off x="640080" y="3520440"/>
            <a:ext cx="3657600" cy="960120"/>
          </a:xfrm>
          <a:prstGeom prst="rect">
            <a:avLst/>
          </a:prstGeom>
          <a:noFill/>
          <a:ln/>
        </p:spPr>
        <p:txBody>
          <a:bodyPr wrap="square" lIns="0" tIns="0" rIns="0" bIns="0" rtlCol="0" anchor="ctr"/>
          <a:lstStyle/>
          <a:p>
            <a:pPr indent="0" marL="0">
              <a:buNone/>
            </a:pPr>
            <a:r>
              <a:rPr lang="en-US" sz="1300" b="1" dirty="0">
                <a:solidFill>
                  <a:schemeClr val="tx1"/>
                </a:solidFill>
              </a:rPr>
              <a:t>「未」と「仮」の科目は、期をまたがせない。来期の見込みも持参して説明する</a:t>
            </a:r>
            <a:endParaRPr lang="en-US" sz="1300" dirty="0"/>
          </a:p>
        </p:txBody>
      </p:sp>
      <p:sp>
        <p:nvSpPr>
          <p:cNvPr id="22" name="card"/>
          <p:cNvSpPr/>
          <p:nvPr/>
        </p:nvSpPr>
        <p:spPr>
          <a:xfrm>
            <a:off x="4663440" y="3520440"/>
            <a:ext cx="4023360" cy="960120"/>
          </a:xfrm>
          <a:prstGeom prst="roundRect">
            <a:avLst>
              <a:gd name="adj" fmla="val 7619"/>
            </a:avLst>
          </a:prstGeom>
          <a:solidFill>
            <a:schemeClr val="tx1"/>
          </a:solidFill>
          <a:ln/>
        </p:spPr>
      </p:sp>
      <p:sp>
        <p:nvSpPr>
          <p:cNvPr id="23" name="Text 20"/>
          <p:cNvSpPr txBox="1"/>
          <p:nvPr/>
        </p:nvSpPr>
        <p:spPr>
          <a:xfrm>
            <a:off x="4846320" y="3520440"/>
            <a:ext cx="3657600" cy="960120"/>
          </a:xfrm>
          <a:prstGeom prst="rect">
            <a:avLst/>
          </a:prstGeom>
          <a:noFill/>
          <a:ln/>
        </p:spPr>
        <p:txBody>
          <a:bodyPr wrap="square" lIns="0" tIns="0" rIns="0" bIns="0" rtlCol="0" anchor="ctr"/>
          <a:lstStyle/>
          <a:p>
            <a:pPr indent="0" marL="0">
              <a:buNone/>
            </a:pPr>
            <a:r>
              <a:rPr lang="en-US" sz="1300" b="1" dirty="0">
                <a:solidFill>
                  <a:schemeClr val="accent1"/>
                </a:solidFill>
              </a:rPr>
              <a:t>フルローンは永遠の正解ではない。余裕が出たら頭金を入れて、償還年数を縮める</a:t>
            </a:r>
            <a:endParaRPr lang="en-US" sz="1300" dirty="0"/>
          </a:p>
        </p:txBody>
      </p:sp>
      <p:sp>
        <p:nvSpPr>
          <p:cNvPr id="24" name="Text 21"/>
          <p:cNvSpPr txBox="1"/>
          <p:nvPr/>
        </p:nvSpPr>
        <p:spPr>
          <a:xfrm>
            <a:off x="457200" y="4617720"/>
            <a:ext cx="5486400" cy="274320"/>
          </a:xfrm>
          <a:prstGeom prst="rect">
            <a:avLst/>
          </a:prstGeom>
          <a:noFill/>
          <a:ln/>
        </p:spPr>
        <p:txBody>
          <a:bodyPr wrap="square" lIns="0" tIns="0" rIns="0" bIns="0" rtlCol="0" anchor="t"/>
          <a:lstStyle/>
          <a:p>
            <a:pPr indent="0" marL="0">
              <a:buNone/>
            </a:pPr>
            <a:r>
              <a:rPr lang="en-US" sz="1000" dirty="0">
                <a:solidFill>
                  <a:schemeClr val="accent4"/>
                </a:solidFill>
              </a:rPr>
              <a:t>考え方はMDさんの資料に基づく</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満室までの5つの関門</a:t>
            </a:r>
            <a:endParaRPr lang="en-US" sz="2600" dirty="0"/>
          </a:p>
        </p:txBody>
      </p:sp>
      <p:sp>
        <p:nvSpPr>
          <p:cNvPr id="4" name="card"/>
          <p:cNvSpPr/>
          <p:nvPr/>
        </p:nvSpPr>
        <p:spPr>
          <a:xfrm>
            <a:off x="457200" y="1280160"/>
            <a:ext cx="1554480" cy="1737360"/>
          </a:xfrm>
          <a:prstGeom prst="roundRect">
            <a:avLst>
              <a:gd name="adj" fmla="val 4706"/>
            </a:avLst>
          </a:prstGeom>
          <a:solidFill>
            <a:schemeClr val="bg2"/>
          </a:solidFill>
          <a:ln/>
        </p:spPr>
      </p:sp>
      <p:sp>
        <p:nvSpPr>
          <p:cNvPr id="5" name="badge"/>
          <p:cNvSpPr/>
          <p:nvPr/>
        </p:nvSpPr>
        <p:spPr>
          <a:xfrm>
            <a:off x="960120" y="1417320"/>
            <a:ext cx="548640" cy="548640"/>
          </a:xfrm>
          <a:prstGeom prst="ellipse">
            <a:avLst/>
          </a:prstGeom>
          <a:solidFill>
            <a:schemeClr val="accent2"/>
          </a:solidFill>
          <a:ln/>
        </p:spPr>
      </p:sp>
      <p:sp>
        <p:nvSpPr>
          <p:cNvPr id="6" name="Text 3"/>
          <p:cNvSpPr txBox="1"/>
          <p:nvPr/>
        </p:nvSpPr>
        <p:spPr>
          <a:xfrm>
            <a:off x="96012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457200" y="2103120"/>
            <a:ext cx="1554480" cy="822960"/>
          </a:xfrm>
          <a:prstGeom prst="rect">
            <a:avLst/>
          </a:prstGeom>
          <a:noFill/>
          <a:ln/>
        </p:spPr>
        <p:txBody>
          <a:bodyPr wrap="square" lIns="0" tIns="0" rIns="0" bIns="0" rtlCol="0" anchor="ctr"/>
          <a:lstStyle/>
          <a:p>
            <a:pPr algn="ctr" indent="0" marL="0">
              <a:buNone/>
            </a:pPr>
            <a:r>
              <a:rPr lang="en-US" sz="1200" b="1" dirty="0">
                <a:solidFill>
                  <a:schemeClr val="tx1"/>
                </a:solidFill>
              </a:rPr>
              <a:t>選ばれる</a:t>
            </a:r>
            <a:endParaRPr lang="en-US" sz="1200" dirty="0"/>
          </a:p>
          <a:p>
            <a:pPr algn="ctr" indent="0" marL="0">
              <a:buNone/>
            </a:pPr>
            <a:r>
              <a:rPr lang="en-US" sz="1200" b="1" dirty="0">
                <a:solidFill>
                  <a:schemeClr val="tx1"/>
                </a:solidFill>
              </a:rPr>
              <a:t>理由を作る</a:t>
            </a:r>
            <a:endParaRPr lang="en-US" sz="1200" dirty="0"/>
          </a:p>
        </p:txBody>
      </p:sp>
      <p:sp>
        <p:nvSpPr>
          <p:cNvPr id="8" name="card"/>
          <p:cNvSpPr/>
          <p:nvPr/>
        </p:nvSpPr>
        <p:spPr>
          <a:xfrm>
            <a:off x="2121408" y="1280160"/>
            <a:ext cx="1554480" cy="1737360"/>
          </a:xfrm>
          <a:prstGeom prst="roundRect">
            <a:avLst>
              <a:gd name="adj" fmla="val 4706"/>
            </a:avLst>
          </a:prstGeom>
          <a:solidFill>
            <a:schemeClr val="bg2"/>
          </a:solidFill>
          <a:ln/>
        </p:spPr>
      </p:sp>
      <p:sp>
        <p:nvSpPr>
          <p:cNvPr id="9" name="badge"/>
          <p:cNvSpPr/>
          <p:nvPr/>
        </p:nvSpPr>
        <p:spPr>
          <a:xfrm>
            <a:off x="2624328" y="1417320"/>
            <a:ext cx="548640" cy="548640"/>
          </a:xfrm>
          <a:prstGeom prst="ellipse">
            <a:avLst/>
          </a:prstGeom>
          <a:solidFill>
            <a:schemeClr val="accent2"/>
          </a:solidFill>
          <a:ln/>
        </p:spPr>
      </p:sp>
      <p:sp>
        <p:nvSpPr>
          <p:cNvPr id="10" name="Text 7"/>
          <p:cNvSpPr txBox="1"/>
          <p:nvPr/>
        </p:nvSpPr>
        <p:spPr>
          <a:xfrm>
            <a:off x="2624328"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2121408" y="2103120"/>
            <a:ext cx="1554480" cy="822960"/>
          </a:xfrm>
          <a:prstGeom prst="rect">
            <a:avLst/>
          </a:prstGeom>
          <a:noFill/>
          <a:ln/>
        </p:spPr>
        <p:txBody>
          <a:bodyPr wrap="square" lIns="0" tIns="0" rIns="0" bIns="0" rtlCol="0" anchor="ctr"/>
          <a:lstStyle/>
          <a:p>
            <a:pPr algn="ctr" indent="0" marL="0">
              <a:buNone/>
            </a:pPr>
            <a:r>
              <a:rPr lang="en-US" sz="1200" b="1" dirty="0">
                <a:solidFill>
                  <a:schemeClr val="tx1"/>
                </a:solidFill>
              </a:rPr>
              <a:t>一人でも多くに</a:t>
            </a:r>
            <a:endParaRPr lang="en-US" sz="1200" dirty="0"/>
          </a:p>
          <a:p>
            <a:pPr algn="ctr" indent="0" marL="0">
              <a:buNone/>
            </a:pPr>
            <a:r>
              <a:rPr lang="en-US" sz="1200" b="1" dirty="0">
                <a:solidFill>
                  <a:schemeClr val="tx1"/>
                </a:solidFill>
              </a:rPr>
              <a:t>知ってもらう</a:t>
            </a:r>
            <a:endParaRPr lang="en-US" sz="1200" dirty="0"/>
          </a:p>
        </p:txBody>
      </p:sp>
      <p:sp>
        <p:nvSpPr>
          <p:cNvPr id="12" name="card"/>
          <p:cNvSpPr/>
          <p:nvPr/>
        </p:nvSpPr>
        <p:spPr>
          <a:xfrm>
            <a:off x="3785616" y="1280160"/>
            <a:ext cx="1554480" cy="1737360"/>
          </a:xfrm>
          <a:prstGeom prst="roundRect">
            <a:avLst>
              <a:gd name="adj" fmla="val 4706"/>
            </a:avLst>
          </a:prstGeom>
          <a:solidFill>
            <a:schemeClr val="bg2"/>
          </a:solidFill>
          <a:ln/>
        </p:spPr>
      </p:sp>
      <p:sp>
        <p:nvSpPr>
          <p:cNvPr id="13" name="badge"/>
          <p:cNvSpPr/>
          <p:nvPr/>
        </p:nvSpPr>
        <p:spPr>
          <a:xfrm>
            <a:off x="4288536" y="1417320"/>
            <a:ext cx="548640" cy="548640"/>
          </a:xfrm>
          <a:prstGeom prst="ellipse">
            <a:avLst/>
          </a:prstGeom>
          <a:solidFill>
            <a:schemeClr val="accent2"/>
          </a:solidFill>
          <a:ln/>
        </p:spPr>
      </p:sp>
      <p:sp>
        <p:nvSpPr>
          <p:cNvPr id="14" name="Text 11"/>
          <p:cNvSpPr txBox="1"/>
          <p:nvPr/>
        </p:nvSpPr>
        <p:spPr>
          <a:xfrm>
            <a:off x="4288536"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3785616" y="2103120"/>
            <a:ext cx="1554480" cy="822960"/>
          </a:xfrm>
          <a:prstGeom prst="rect">
            <a:avLst/>
          </a:prstGeom>
          <a:noFill/>
          <a:ln/>
        </p:spPr>
        <p:txBody>
          <a:bodyPr wrap="square" lIns="0" tIns="0" rIns="0" bIns="0" rtlCol="0" anchor="ctr"/>
          <a:lstStyle/>
          <a:p>
            <a:pPr algn="ctr" indent="0" marL="0">
              <a:buNone/>
            </a:pPr>
            <a:r>
              <a:rPr lang="en-US" sz="1200" b="1" dirty="0">
                <a:solidFill>
                  <a:schemeClr val="tx1"/>
                </a:solidFill>
              </a:rPr>
              <a:t>内覧に行きたい</a:t>
            </a:r>
            <a:endParaRPr lang="en-US" sz="1200" dirty="0"/>
          </a:p>
          <a:p>
            <a:pPr algn="ctr" indent="0" marL="0">
              <a:buNone/>
            </a:pPr>
            <a:r>
              <a:rPr lang="en-US" sz="1200" b="1" dirty="0">
                <a:solidFill>
                  <a:schemeClr val="tx1"/>
                </a:solidFill>
              </a:rPr>
              <a:t>と思ってもらう</a:t>
            </a:r>
            <a:endParaRPr lang="en-US" sz="1200" dirty="0"/>
          </a:p>
        </p:txBody>
      </p:sp>
      <p:sp>
        <p:nvSpPr>
          <p:cNvPr id="16" name="card"/>
          <p:cNvSpPr/>
          <p:nvPr/>
        </p:nvSpPr>
        <p:spPr>
          <a:xfrm>
            <a:off x="5449824" y="1280160"/>
            <a:ext cx="1554480" cy="1737360"/>
          </a:xfrm>
          <a:prstGeom prst="roundRect">
            <a:avLst>
              <a:gd name="adj" fmla="val 4706"/>
            </a:avLst>
          </a:prstGeom>
          <a:solidFill>
            <a:schemeClr val="bg2"/>
          </a:solidFill>
          <a:ln/>
        </p:spPr>
      </p:sp>
      <p:sp>
        <p:nvSpPr>
          <p:cNvPr id="17" name="badge"/>
          <p:cNvSpPr/>
          <p:nvPr/>
        </p:nvSpPr>
        <p:spPr>
          <a:xfrm>
            <a:off x="5952744" y="1417320"/>
            <a:ext cx="548640" cy="548640"/>
          </a:xfrm>
          <a:prstGeom prst="ellipse">
            <a:avLst/>
          </a:prstGeom>
          <a:solidFill>
            <a:schemeClr val="accent2"/>
          </a:solidFill>
          <a:ln/>
        </p:spPr>
      </p:sp>
      <p:sp>
        <p:nvSpPr>
          <p:cNvPr id="18" name="Text 15"/>
          <p:cNvSpPr txBox="1"/>
          <p:nvPr/>
        </p:nvSpPr>
        <p:spPr>
          <a:xfrm>
            <a:off x="5952744"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5449824" y="2103120"/>
            <a:ext cx="1554480" cy="822960"/>
          </a:xfrm>
          <a:prstGeom prst="rect">
            <a:avLst/>
          </a:prstGeom>
          <a:noFill/>
          <a:ln/>
        </p:spPr>
        <p:txBody>
          <a:bodyPr wrap="square" lIns="0" tIns="0" rIns="0" bIns="0" rtlCol="0" anchor="ctr"/>
          <a:lstStyle/>
          <a:p>
            <a:pPr algn="ctr" indent="0" marL="0">
              <a:buNone/>
            </a:pPr>
            <a:r>
              <a:rPr lang="en-US" sz="1200" b="1" dirty="0">
                <a:solidFill>
                  <a:schemeClr val="tx1"/>
                </a:solidFill>
              </a:rPr>
              <a:t>内覧で住みたい</a:t>
            </a:r>
            <a:endParaRPr lang="en-US" sz="1200" dirty="0"/>
          </a:p>
          <a:p>
            <a:pPr algn="ctr" indent="0" marL="0">
              <a:buNone/>
            </a:pPr>
            <a:r>
              <a:rPr lang="en-US" sz="1200" b="1" dirty="0">
                <a:solidFill>
                  <a:schemeClr val="tx1"/>
                </a:solidFill>
              </a:rPr>
              <a:t>と思ってもらう</a:t>
            </a:r>
            <a:endParaRPr lang="en-US" sz="1200" dirty="0"/>
          </a:p>
        </p:txBody>
      </p:sp>
      <p:sp>
        <p:nvSpPr>
          <p:cNvPr id="20" name="card"/>
          <p:cNvSpPr/>
          <p:nvPr/>
        </p:nvSpPr>
        <p:spPr>
          <a:xfrm>
            <a:off x="7114032" y="1280160"/>
            <a:ext cx="1554480" cy="1737360"/>
          </a:xfrm>
          <a:prstGeom prst="roundRect">
            <a:avLst>
              <a:gd name="adj" fmla="val 4706"/>
            </a:avLst>
          </a:prstGeom>
          <a:solidFill>
            <a:schemeClr val="bg2"/>
          </a:solidFill>
          <a:ln/>
        </p:spPr>
      </p:sp>
      <p:sp>
        <p:nvSpPr>
          <p:cNvPr id="21" name="badge"/>
          <p:cNvSpPr/>
          <p:nvPr/>
        </p:nvSpPr>
        <p:spPr>
          <a:xfrm>
            <a:off x="7616952" y="1417320"/>
            <a:ext cx="548640" cy="548640"/>
          </a:xfrm>
          <a:prstGeom prst="ellipse">
            <a:avLst/>
          </a:prstGeom>
          <a:solidFill>
            <a:schemeClr val="accent2"/>
          </a:solidFill>
          <a:ln/>
        </p:spPr>
      </p:sp>
      <p:sp>
        <p:nvSpPr>
          <p:cNvPr id="22" name="Text 19"/>
          <p:cNvSpPr txBox="1"/>
          <p:nvPr/>
        </p:nvSpPr>
        <p:spPr>
          <a:xfrm>
            <a:off x="7616952"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7114032" y="2103120"/>
            <a:ext cx="1554480" cy="822960"/>
          </a:xfrm>
          <a:prstGeom prst="rect">
            <a:avLst/>
          </a:prstGeom>
          <a:noFill/>
          <a:ln/>
        </p:spPr>
        <p:txBody>
          <a:bodyPr wrap="square" lIns="0" tIns="0" rIns="0" bIns="0" rtlCol="0" anchor="ctr"/>
          <a:lstStyle/>
          <a:p>
            <a:pPr algn="ctr" indent="0" marL="0">
              <a:buNone/>
            </a:pPr>
            <a:r>
              <a:rPr lang="en-US" sz="1200" b="1" dirty="0">
                <a:solidFill>
                  <a:schemeClr val="tx1"/>
                </a:solidFill>
              </a:rPr>
              <a:t>引っ越しの</a:t>
            </a:r>
            <a:endParaRPr lang="en-US" sz="1200" dirty="0"/>
          </a:p>
          <a:p>
            <a:pPr algn="ctr" indent="0" marL="0">
              <a:buNone/>
            </a:pPr>
            <a:r>
              <a:rPr lang="en-US" sz="1200" b="1" dirty="0">
                <a:solidFill>
                  <a:schemeClr val="tx1"/>
                </a:solidFill>
              </a:rPr>
              <a:t>ハードルを下げる</a:t>
            </a:r>
            <a:endParaRPr lang="en-US" sz="1200" dirty="0"/>
          </a:p>
        </p:txBody>
      </p:sp>
      <p:sp>
        <p:nvSpPr>
          <p:cNvPr id="24" name="card"/>
          <p:cNvSpPr/>
          <p:nvPr/>
        </p:nvSpPr>
        <p:spPr>
          <a:xfrm>
            <a:off x="457200" y="3246120"/>
            <a:ext cx="8229600" cy="1234440"/>
          </a:xfrm>
          <a:prstGeom prst="roundRect">
            <a:avLst>
              <a:gd name="adj" fmla="val 5926"/>
            </a:avLst>
          </a:prstGeom>
          <a:solidFill>
            <a:schemeClr val="tx1"/>
          </a:solidFill>
          <a:ln/>
        </p:spPr>
      </p:sp>
      <p:sp>
        <p:nvSpPr>
          <p:cNvPr id="25" name="Text 22"/>
          <p:cNvSpPr txBox="1"/>
          <p:nvPr/>
        </p:nvSpPr>
        <p:spPr>
          <a:xfrm>
            <a:off x="731520" y="3337560"/>
            <a:ext cx="7680960" cy="411480"/>
          </a:xfrm>
          <a:prstGeom prst="rect">
            <a:avLst/>
          </a:prstGeom>
          <a:noFill/>
          <a:ln/>
        </p:spPr>
        <p:txBody>
          <a:bodyPr wrap="square" lIns="0" tIns="0" rIns="0" bIns="0" rtlCol="0" anchor="ctr"/>
          <a:lstStyle/>
          <a:p>
            <a:pPr indent="0" marL="0">
              <a:buNone/>
            </a:pPr>
            <a:r>
              <a:rPr lang="en-US" sz="1500" b="1" dirty="0">
                <a:solidFill>
                  <a:schemeClr val="accent1"/>
                </a:solidFill>
              </a:rPr>
              <a:t>実例：築40年・30室中18室が空室の物件が、約8か月で満室。利回り20%超</a:t>
            </a:r>
            <a:endParaRPr lang="en-US" sz="1500" dirty="0"/>
          </a:p>
        </p:txBody>
      </p:sp>
      <p:sp>
        <p:nvSpPr>
          <p:cNvPr id="26" name="Text 23"/>
          <p:cNvSpPr txBox="1"/>
          <p:nvPr/>
        </p:nvSpPr>
        <p:spPr>
          <a:xfrm>
            <a:off x="731520" y="3794760"/>
            <a:ext cx="7680960" cy="594360"/>
          </a:xfrm>
          <a:prstGeom prst="rect">
            <a:avLst/>
          </a:prstGeom>
          <a:noFill/>
          <a:ln/>
        </p:spPr>
        <p:txBody>
          <a:bodyPr wrap="square" lIns="0" tIns="0" rIns="0" bIns="0" rtlCol="0" anchor="t"/>
          <a:lstStyle/>
          <a:p>
            <a:pPr indent="0" marL="0">
              <a:buNone/>
            </a:pPr>
            <a:r>
              <a:rPr lang="en-US" sz="1300" dirty="0">
                <a:solidFill>
                  <a:schemeClr val="bg1"/>
                </a:solidFill>
              </a:rPr>
              <a:t>競合は「同じ家賃帯の物件」。その中で一番価値が高ければ選ばれる。内覧からの成約率は約8割だった。</a:t>
            </a:r>
            <a:endParaRPr lang="en-US" sz="1300" dirty="0"/>
          </a:p>
        </p:txBody>
      </p:sp>
      <p:sp>
        <p:nvSpPr>
          <p:cNvPr id="27" name="Text 24"/>
          <p:cNvSpPr txBox="1"/>
          <p:nvPr/>
        </p:nvSpPr>
        <p:spPr>
          <a:xfrm>
            <a:off x="457200" y="4617720"/>
            <a:ext cx="5486400" cy="274320"/>
          </a:xfrm>
          <a:prstGeom prst="rect">
            <a:avLst/>
          </a:prstGeom>
          <a:noFill/>
          <a:ln/>
        </p:spPr>
        <p:txBody>
          <a:bodyPr wrap="square" lIns="0" tIns="0" rIns="0" bIns="0" rtlCol="0" anchor="t"/>
          <a:lstStyle/>
          <a:p>
            <a:pPr indent="0" marL="0">
              <a:buNone/>
            </a:pPr>
            <a:r>
              <a:rPr lang="en-US" sz="1000" dirty="0">
                <a:solidFill>
                  <a:schemeClr val="accent4"/>
                </a:solidFill>
              </a:rPr>
              <a:t>MDさんから学んだ事例（サラリーマン大家TWさん「奮闘記」2013年）</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空室対策の実例：条件を整えて、客付け会社に届ける</a:t>
            </a:r>
            <a:endParaRPr lang="en-US" sz="2600" dirty="0"/>
          </a:p>
        </p:txBody>
      </p:sp>
      <p:sp>
        <p:nvSpPr>
          <p:cNvPr id="4" name="card"/>
          <p:cNvSpPr/>
          <p:nvPr/>
        </p:nvSpPr>
        <p:spPr>
          <a:xfrm>
            <a:off x="457200" y="1280160"/>
            <a:ext cx="2651760" cy="3200400"/>
          </a:xfrm>
          <a:prstGeom prst="roundRect">
            <a:avLst>
              <a:gd name="adj" fmla="val 2759"/>
            </a:avLst>
          </a:prstGeom>
          <a:solidFill>
            <a:schemeClr val="bg2"/>
          </a:solidFill>
          <a:ln/>
        </p:spPr>
      </p:sp>
      <p:sp>
        <p:nvSpPr>
          <p:cNvPr id="5" name="Text 2"/>
          <p:cNvSpPr txBox="1"/>
          <p:nvPr/>
        </p:nvSpPr>
        <p:spPr>
          <a:xfrm>
            <a:off x="685800" y="1463040"/>
            <a:ext cx="2194560" cy="457200"/>
          </a:xfrm>
          <a:prstGeom prst="rect">
            <a:avLst/>
          </a:prstGeom>
          <a:noFill/>
          <a:ln/>
        </p:spPr>
        <p:txBody>
          <a:bodyPr wrap="square" lIns="0" tIns="0" rIns="0" bIns="0" rtlCol="0" anchor="t"/>
          <a:lstStyle/>
          <a:p>
            <a:pPr indent="0" marL="0">
              <a:buNone/>
            </a:pPr>
            <a:r>
              <a:rPr lang="en-US" sz="1800" b="1" dirty="0">
                <a:solidFill>
                  <a:schemeClr val="accent2"/>
                </a:solidFill>
              </a:rPr>
              <a:t>物件</a:t>
            </a:r>
            <a:endParaRPr lang="en-US" sz="1800" dirty="0"/>
          </a:p>
        </p:txBody>
      </p:sp>
      <p:sp>
        <p:nvSpPr>
          <p:cNvPr id="6" name="Text 3"/>
          <p:cNvSpPr txBox="1"/>
          <p:nvPr/>
        </p:nvSpPr>
        <p:spPr>
          <a:xfrm>
            <a:off x="685800" y="2103120"/>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静岡県富士市・RC4階建</a:t>
            </a:r>
            <a:endParaRPr lang="en-US" sz="1300" dirty="0"/>
          </a:p>
          <a:p>
            <a:pPr marL="342900" indent="-342900">
              <a:spcAft>
                <a:spcPts val="600"/>
              </a:spcAft>
              <a:buSzPct val="100000"/>
              <a:buChar char="•"/>
            </a:pPr>
            <a:r>
              <a:rPr lang="en-US" sz="1300" dirty="0">
                <a:solidFill>
                  <a:schemeClr val="tx1"/>
                </a:solidFill>
              </a:rPr>
              <a:t>1993年築・2LDK 54㎡</a:t>
            </a:r>
            <a:endParaRPr lang="en-US" sz="1300" dirty="0"/>
          </a:p>
          <a:p>
            <a:pPr marL="342900" indent="-342900">
              <a:spcAft>
                <a:spcPts val="600"/>
              </a:spcAft>
              <a:buSzPct val="100000"/>
              <a:buChar char="•"/>
            </a:pPr>
            <a:r>
              <a:rPr lang="en-US" sz="1300" dirty="0">
                <a:solidFill>
                  <a:schemeClr val="tx1"/>
                </a:solidFill>
              </a:rPr>
              <a:t>賃料 49,800円＋管理費5,000円</a:t>
            </a:r>
            <a:endParaRPr lang="en-US" sz="1300" dirty="0"/>
          </a:p>
        </p:txBody>
      </p:sp>
      <p:sp>
        <p:nvSpPr>
          <p:cNvPr id="7" name="card"/>
          <p:cNvSpPr/>
          <p:nvPr/>
        </p:nvSpPr>
        <p:spPr>
          <a:xfrm>
            <a:off x="3291840" y="1280160"/>
            <a:ext cx="2651760" cy="3200400"/>
          </a:xfrm>
          <a:prstGeom prst="roundRect">
            <a:avLst>
              <a:gd name="adj" fmla="val 2759"/>
            </a:avLst>
          </a:prstGeom>
          <a:solidFill>
            <a:schemeClr val="accent6"/>
          </a:solidFill>
          <a:ln/>
        </p:spPr>
      </p:sp>
      <p:sp>
        <p:nvSpPr>
          <p:cNvPr id="8" name="Text 5"/>
          <p:cNvSpPr txBox="1"/>
          <p:nvPr/>
        </p:nvSpPr>
        <p:spPr>
          <a:xfrm>
            <a:off x="3520440" y="1463040"/>
            <a:ext cx="2194560" cy="457200"/>
          </a:xfrm>
          <a:prstGeom prst="rect">
            <a:avLst/>
          </a:prstGeom>
          <a:noFill/>
          <a:ln/>
        </p:spPr>
        <p:txBody>
          <a:bodyPr wrap="square" lIns="0" tIns="0" rIns="0" bIns="0" rtlCol="0" anchor="t"/>
          <a:lstStyle/>
          <a:p>
            <a:pPr indent="0" marL="0">
              <a:buNone/>
            </a:pPr>
            <a:r>
              <a:rPr lang="en-US" sz="1800" b="1" dirty="0">
                <a:solidFill>
                  <a:schemeClr val="accent2"/>
                </a:solidFill>
              </a:rPr>
              <a:t>募集条件</a:t>
            </a:r>
            <a:endParaRPr lang="en-US" sz="1800" dirty="0"/>
          </a:p>
        </p:txBody>
      </p:sp>
      <p:sp>
        <p:nvSpPr>
          <p:cNvPr id="9" name="Text 6"/>
          <p:cNvSpPr txBox="1"/>
          <p:nvPr/>
        </p:nvSpPr>
        <p:spPr>
          <a:xfrm>
            <a:off x="3520440" y="2103120"/>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広告料3か月</a:t>
            </a:r>
            <a:endParaRPr lang="en-US" sz="1300" dirty="0"/>
          </a:p>
          <a:p>
            <a:pPr marL="342900" indent="-342900">
              <a:spcAft>
                <a:spcPts val="600"/>
              </a:spcAft>
              <a:buSzPct val="100000"/>
              <a:buChar char="•"/>
            </a:pPr>
            <a:r>
              <a:rPr lang="en-US" sz="1300" dirty="0">
                <a:solidFill>
                  <a:schemeClr val="tx1"/>
                </a:solidFill>
              </a:rPr>
              <a:t>敷金・礼金ゼロ</a:t>
            </a:r>
            <a:endParaRPr lang="en-US" sz="1300" dirty="0"/>
          </a:p>
          <a:p>
            <a:pPr marL="342900" indent="-342900">
              <a:spcAft>
                <a:spcPts val="600"/>
              </a:spcAft>
              <a:buSzPct val="100000"/>
              <a:buChar char="•"/>
            </a:pPr>
            <a:r>
              <a:rPr lang="en-US" sz="1300" dirty="0">
                <a:solidFill>
                  <a:schemeClr val="tx1"/>
                </a:solidFill>
              </a:rPr>
              <a:t>ネット・CATV無料、駐車場2台無料</a:t>
            </a:r>
            <a:endParaRPr lang="en-US" sz="1300" dirty="0"/>
          </a:p>
        </p:txBody>
      </p:sp>
      <p:sp>
        <p:nvSpPr>
          <p:cNvPr id="10" name="card"/>
          <p:cNvSpPr/>
          <p:nvPr/>
        </p:nvSpPr>
        <p:spPr>
          <a:xfrm>
            <a:off x="6126480" y="1280160"/>
            <a:ext cx="2651760" cy="3200400"/>
          </a:xfrm>
          <a:prstGeom prst="roundRect">
            <a:avLst>
              <a:gd name="adj" fmla="val 2759"/>
            </a:avLst>
          </a:prstGeom>
          <a:solidFill>
            <a:schemeClr val="bg2"/>
          </a:solidFill>
          <a:ln/>
        </p:spPr>
      </p:sp>
      <p:sp>
        <p:nvSpPr>
          <p:cNvPr id="11" name="Text 8"/>
          <p:cNvSpPr txBox="1"/>
          <p:nvPr/>
        </p:nvSpPr>
        <p:spPr>
          <a:xfrm>
            <a:off x="6355080" y="1463040"/>
            <a:ext cx="2194560" cy="457200"/>
          </a:xfrm>
          <a:prstGeom prst="rect">
            <a:avLst/>
          </a:prstGeom>
          <a:noFill/>
          <a:ln/>
        </p:spPr>
        <p:txBody>
          <a:bodyPr wrap="square" lIns="0" tIns="0" rIns="0" bIns="0" rtlCol="0" anchor="t"/>
          <a:lstStyle/>
          <a:p>
            <a:pPr indent="0" marL="0">
              <a:buNone/>
            </a:pPr>
            <a:r>
              <a:rPr lang="en-US" sz="1800" b="1" dirty="0">
                <a:solidFill>
                  <a:schemeClr val="accent2"/>
                </a:solidFill>
              </a:rPr>
              <a:t>届け方</a:t>
            </a:r>
            <a:endParaRPr lang="en-US" sz="1800" dirty="0"/>
          </a:p>
        </p:txBody>
      </p:sp>
      <p:sp>
        <p:nvSpPr>
          <p:cNvPr id="12" name="Text 9"/>
          <p:cNvSpPr txBox="1"/>
          <p:nvPr/>
        </p:nvSpPr>
        <p:spPr>
          <a:xfrm>
            <a:off x="6355080" y="2103120"/>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募集条件と空室状況をFAXで客付け会社へ</a:t>
            </a:r>
            <a:endParaRPr lang="en-US" sz="1300" dirty="0"/>
          </a:p>
          <a:p>
            <a:pPr marL="342900" indent="-342900">
              <a:spcAft>
                <a:spcPts val="600"/>
              </a:spcAft>
              <a:buSzPct val="100000"/>
              <a:buChar char="•"/>
            </a:pPr>
            <a:r>
              <a:rPr lang="en-US" sz="1300" dirty="0">
                <a:solidFill>
                  <a:schemeClr val="tx1"/>
                </a:solidFill>
              </a:rPr>
              <a:t>広告料の枠内で割り振りも可能に</a:t>
            </a:r>
            <a:endParaRPr lang="en-US" sz="1300" dirty="0"/>
          </a:p>
          <a:p>
            <a:pPr marL="342900" indent="-342900">
              <a:spcAft>
                <a:spcPts val="600"/>
              </a:spcAft>
              <a:buSzPct val="100000"/>
              <a:buChar char="•"/>
            </a:pPr>
            <a:r>
              <a:rPr lang="en-US" sz="1300" dirty="0">
                <a:solidFill>
                  <a:schemeClr val="tx1"/>
                </a:solidFill>
              </a:rPr>
              <a:t>内装を新しくして、写真付きで案内</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インカムで自力をつけ、次の段階へ</a:t>
            </a:r>
            <a:endParaRPr lang="en-US" sz="2600" dirty="0"/>
          </a:p>
        </p:txBody>
      </p:sp>
      <p:sp>
        <p:nvSpPr>
          <p:cNvPr id="4" name="card"/>
          <p:cNvSpPr/>
          <p:nvPr/>
        </p:nvSpPr>
        <p:spPr>
          <a:xfrm>
            <a:off x="457200" y="1554480"/>
            <a:ext cx="1828800" cy="2011680"/>
          </a:xfrm>
          <a:prstGeom prst="roundRect">
            <a:avLst>
              <a:gd name="adj" fmla="val 4000"/>
            </a:avLst>
          </a:prstGeom>
          <a:solidFill>
            <a:schemeClr val="bg2"/>
          </a:solidFill>
          <a:ln/>
        </p:spPr>
      </p:sp>
      <p:sp>
        <p:nvSpPr>
          <p:cNvPr id="5" name="Text 2"/>
          <p:cNvSpPr txBox="1"/>
          <p:nvPr/>
        </p:nvSpPr>
        <p:spPr>
          <a:xfrm>
            <a:off x="457200" y="1691640"/>
            <a:ext cx="1828800" cy="1005840"/>
          </a:xfrm>
          <a:prstGeom prst="rect">
            <a:avLst/>
          </a:prstGeom>
          <a:noFill/>
          <a:ln/>
        </p:spPr>
        <p:txBody>
          <a:bodyPr wrap="square" lIns="0" tIns="0" rIns="0" bIns="0" rtlCol="0" anchor="ctr"/>
          <a:lstStyle/>
          <a:p>
            <a:pPr algn="ctr" indent="0" marL="0">
              <a:buNone/>
            </a:pPr>
            <a:r>
              <a:rPr lang="en-US" sz="1600" b="1" dirty="0">
                <a:solidFill>
                  <a:schemeClr val="tx1"/>
                </a:solidFill>
              </a:rPr>
              <a:t>お金を使わず</a:t>
            </a:r>
            <a:endParaRPr lang="en-US" sz="1600" dirty="0"/>
          </a:p>
          <a:p>
            <a:pPr algn="ctr" indent="0" marL="0">
              <a:buNone/>
            </a:pPr>
            <a:r>
              <a:rPr lang="en-US" sz="1600" b="1" dirty="0">
                <a:solidFill>
                  <a:schemeClr val="tx1"/>
                </a:solidFill>
              </a:rPr>
              <a:t>物件を増やす</a:t>
            </a:r>
            <a:endParaRPr lang="en-US" sz="1600" dirty="0"/>
          </a:p>
        </p:txBody>
      </p:sp>
      <p:sp>
        <p:nvSpPr>
          <p:cNvPr id="6" name="Text 3"/>
          <p:cNvSpPr txBox="1"/>
          <p:nvPr/>
        </p:nvSpPr>
        <p:spPr>
          <a:xfrm>
            <a:off x="457200" y="2743200"/>
            <a:ext cx="1828800" cy="548640"/>
          </a:xfrm>
          <a:prstGeom prst="rect">
            <a:avLst/>
          </a:prstGeom>
          <a:noFill/>
          <a:ln/>
        </p:spPr>
        <p:txBody>
          <a:bodyPr wrap="square" lIns="0" tIns="0" rIns="0" bIns="0" rtlCol="0" anchor="t"/>
          <a:lstStyle/>
          <a:p>
            <a:pPr algn="ctr" indent="0" marL="0">
              <a:buNone/>
            </a:pPr>
            <a:r>
              <a:rPr lang="en-US" sz="1300" dirty="0">
                <a:solidFill>
                  <a:schemeClr val="accent4"/>
                </a:solidFill>
              </a:rPr>
              <a:t>積算と融資で買う</a:t>
            </a:r>
            <a:endParaRPr lang="en-US" sz="1300" dirty="0"/>
          </a:p>
        </p:txBody>
      </p:sp>
      <p:sp>
        <p:nvSpPr>
          <p:cNvPr id="7" name="Text 4"/>
          <p:cNvSpPr txBox="1"/>
          <p:nvPr/>
        </p:nvSpPr>
        <p:spPr>
          <a:xfrm>
            <a:off x="2286000" y="2194560"/>
            <a:ext cx="320040" cy="457200"/>
          </a:xfrm>
          <a:prstGeom prst="rect">
            <a:avLst/>
          </a:prstGeom>
          <a:noFill/>
          <a:ln/>
        </p:spPr>
        <p:txBody>
          <a:bodyPr wrap="square" lIns="0" tIns="0" rIns="0" bIns="0" rtlCol="0" anchor="t"/>
          <a:lstStyle/>
          <a:p>
            <a:pPr algn="ctr" indent="0" marL="0">
              <a:buNone/>
            </a:pPr>
            <a:r>
              <a:rPr lang="en-US" sz="1800" dirty="0">
                <a:solidFill>
                  <a:schemeClr val="accent4"/>
                </a:solidFill>
              </a:rPr>
              <a:t>▶</a:t>
            </a:r>
            <a:endParaRPr lang="en-US" sz="1800" dirty="0"/>
          </a:p>
        </p:txBody>
      </p:sp>
      <p:sp>
        <p:nvSpPr>
          <p:cNvPr id="8" name="card"/>
          <p:cNvSpPr/>
          <p:nvPr/>
        </p:nvSpPr>
        <p:spPr>
          <a:xfrm>
            <a:off x="2606040" y="1554480"/>
            <a:ext cx="1828800" cy="2011680"/>
          </a:xfrm>
          <a:prstGeom prst="roundRect">
            <a:avLst>
              <a:gd name="adj" fmla="val 4000"/>
            </a:avLst>
          </a:prstGeom>
          <a:solidFill>
            <a:schemeClr val="bg2"/>
          </a:solidFill>
          <a:ln/>
        </p:spPr>
      </p:sp>
      <p:sp>
        <p:nvSpPr>
          <p:cNvPr id="9" name="Text 6"/>
          <p:cNvSpPr txBox="1"/>
          <p:nvPr/>
        </p:nvSpPr>
        <p:spPr>
          <a:xfrm>
            <a:off x="2606040" y="1691640"/>
            <a:ext cx="1828800" cy="1005840"/>
          </a:xfrm>
          <a:prstGeom prst="rect">
            <a:avLst/>
          </a:prstGeom>
          <a:noFill/>
          <a:ln/>
        </p:spPr>
        <p:txBody>
          <a:bodyPr wrap="square" lIns="0" tIns="0" rIns="0" bIns="0" rtlCol="0" anchor="ctr"/>
          <a:lstStyle/>
          <a:p>
            <a:pPr algn="ctr" indent="0" marL="0">
              <a:buNone/>
            </a:pPr>
            <a:r>
              <a:rPr lang="en-US" sz="1600" b="1" dirty="0">
                <a:solidFill>
                  <a:schemeClr val="tx1"/>
                </a:solidFill>
              </a:rPr>
              <a:t>インカムで</a:t>
            </a:r>
            <a:endParaRPr lang="en-US" sz="1600" dirty="0"/>
          </a:p>
          <a:p>
            <a:pPr algn="ctr" indent="0" marL="0">
              <a:buNone/>
            </a:pPr>
            <a:r>
              <a:rPr lang="en-US" sz="1600" b="1" dirty="0">
                <a:solidFill>
                  <a:schemeClr val="tx1"/>
                </a:solidFill>
              </a:rPr>
              <a:t>返済して現金が残る</a:t>
            </a:r>
            <a:endParaRPr lang="en-US" sz="1600" dirty="0"/>
          </a:p>
        </p:txBody>
      </p:sp>
      <p:sp>
        <p:nvSpPr>
          <p:cNvPr id="10" name="Text 7"/>
          <p:cNvSpPr txBox="1"/>
          <p:nvPr/>
        </p:nvSpPr>
        <p:spPr>
          <a:xfrm>
            <a:off x="2606040" y="2743200"/>
            <a:ext cx="1828800" cy="548640"/>
          </a:xfrm>
          <a:prstGeom prst="rect">
            <a:avLst/>
          </a:prstGeom>
          <a:noFill/>
          <a:ln/>
        </p:spPr>
        <p:txBody>
          <a:bodyPr wrap="square" lIns="0" tIns="0" rIns="0" bIns="0" rtlCol="0" anchor="t"/>
          <a:lstStyle/>
          <a:p>
            <a:pPr algn="ctr" indent="0" marL="0">
              <a:buNone/>
            </a:pPr>
            <a:r>
              <a:rPr lang="en-US" sz="1300" dirty="0">
                <a:solidFill>
                  <a:schemeClr val="accent4"/>
                </a:solidFill>
              </a:rPr>
              <a:t>満室の家賃収入</a:t>
            </a:r>
            <a:endParaRPr lang="en-US" sz="1300" dirty="0"/>
          </a:p>
        </p:txBody>
      </p:sp>
      <p:sp>
        <p:nvSpPr>
          <p:cNvPr id="11" name="Text 8"/>
          <p:cNvSpPr txBox="1"/>
          <p:nvPr/>
        </p:nvSpPr>
        <p:spPr>
          <a:xfrm>
            <a:off x="4434840" y="2194560"/>
            <a:ext cx="320040" cy="457200"/>
          </a:xfrm>
          <a:prstGeom prst="rect">
            <a:avLst/>
          </a:prstGeom>
          <a:noFill/>
          <a:ln/>
        </p:spPr>
        <p:txBody>
          <a:bodyPr wrap="square" lIns="0" tIns="0" rIns="0" bIns="0" rtlCol="0" anchor="t"/>
          <a:lstStyle/>
          <a:p>
            <a:pPr algn="ctr" indent="0" marL="0">
              <a:buNone/>
            </a:pPr>
            <a:r>
              <a:rPr lang="en-US" sz="1800" dirty="0">
                <a:solidFill>
                  <a:schemeClr val="accent4"/>
                </a:solidFill>
              </a:rPr>
              <a:t>▶</a:t>
            </a:r>
            <a:endParaRPr lang="en-US" sz="1800" dirty="0"/>
          </a:p>
        </p:txBody>
      </p:sp>
      <p:sp>
        <p:nvSpPr>
          <p:cNvPr id="12" name="card"/>
          <p:cNvSpPr/>
          <p:nvPr/>
        </p:nvSpPr>
        <p:spPr>
          <a:xfrm>
            <a:off x="4754880" y="1554480"/>
            <a:ext cx="1828800" cy="2011680"/>
          </a:xfrm>
          <a:prstGeom prst="roundRect">
            <a:avLst>
              <a:gd name="adj" fmla="val 4000"/>
            </a:avLst>
          </a:prstGeom>
          <a:solidFill>
            <a:schemeClr val="bg2"/>
          </a:solidFill>
          <a:ln/>
        </p:spPr>
      </p:sp>
      <p:sp>
        <p:nvSpPr>
          <p:cNvPr id="13" name="Text 10"/>
          <p:cNvSpPr txBox="1"/>
          <p:nvPr/>
        </p:nvSpPr>
        <p:spPr>
          <a:xfrm>
            <a:off x="4754880" y="1691640"/>
            <a:ext cx="1828800" cy="1005840"/>
          </a:xfrm>
          <a:prstGeom prst="rect">
            <a:avLst/>
          </a:prstGeom>
          <a:noFill/>
          <a:ln/>
        </p:spPr>
        <p:txBody>
          <a:bodyPr wrap="square" lIns="0" tIns="0" rIns="0" bIns="0" rtlCol="0" anchor="ctr"/>
          <a:lstStyle/>
          <a:p>
            <a:pPr algn="ctr" indent="0" marL="0">
              <a:buNone/>
            </a:pPr>
            <a:r>
              <a:rPr lang="en-US" sz="1600" b="1" dirty="0">
                <a:solidFill>
                  <a:schemeClr val="tx1"/>
                </a:solidFill>
              </a:rPr>
              <a:t>決算書が整い</a:t>
            </a:r>
            <a:endParaRPr lang="en-US" sz="1600" dirty="0"/>
          </a:p>
          <a:p>
            <a:pPr algn="ctr" indent="0" marL="0">
              <a:buNone/>
            </a:pPr>
            <a:r>
              <a:rPr lang="en-US" sz="1600" b="1" dirty="0">
                <a:solidFill>
                  <a:schemeClr val="tx1"/>
                </a:solidFill>
              </a:rPr>
              <a:t>次の融資が通る</a:t>
            </a:r>
            <a:endParaRPr lang="en-US" sz="1600" dirty="0"/>
          </a:p>
        </p:txBody>
      </p:sp>
      <p:sp>
        <p:nvSpPr>
          <p:cNvPr id="14" name="Text 11"/>
          <p:cNvSpPr txBox="1"/>
          <p:nvPr/>
        </p:nvSpPr>
        <p:spPr>
          <a:xfrm>
            <a:off x="4754880" y="2743200"/>
            <a:ext cx="1828800" cy="548640"/>
          </a:xfrm>
          <a:prstGeom prst="rect">
            <a:avLst/>
          </a:prstGeom>
          <a:noFill/>
          <a:ln/>
        </p:spPr>
        <p:txBody>
          <a:bodyPr wrap="square" lIns="0" tIns="0" rIns="0" bIns="0" rtlCol="0" anchor="t"/>
          <a:lstStyle/>
          <a:p>
            <a:pPr algn="ctr" indent="0" marL="0">
              <a:buNone/>
            </a:pPr>
            <a:r>
              <a:rPr lang="en-US" sz="1300" dirty="0">
                <a:solidFill>
                  <a:schemeClr val="accent4"/>
                </a:solidFill>
              </a:rPr>
              <a:t>追加融資を引き続ける</a:t>
            </a:r>
            <a:endParaRPr lang="en-US" sz="1300" dirty="0"/>
          </a:p>
        </p:txBody>
      </p:sp>
      <p:sp>
        <p:nvSpPr>
          <p:cNvPr id="15" name="Text 12"/>
          <p:cNvSpPr txBox="1"/>
          <p:nvPr/>
        </p:nvSpPr>
        <p:spPr>
          <a:xfrm>
            <a:off x="6583680" y="2194560"/>
            <a:ext cx="320040" cy="457200"/>
          </a:xfrm>
          <a:prstGeom prst="rect">
            <a:avLst/>
          </a:prstGeom>
          <a:noFill/>
          <a:ln/>
        </p:spPr>
        <p:txBody>
          <a:bodyPr wrap="square" lIns="0" tIns="0" rIns="0" bIns="0" rtlCol="0" anchor="t"/>
          <a:lstStyle/>
          <a:p>
            <a:pPr algn="ctr" indent="0" marL="0">
              <a:buNone/>
            </a:pPr>
            <a:r>
              <a:rPr lang="en-US" sz="1800" dirty="0">
                <a:solidFill>
                  <a:schemeClr val="accent4"/>
                </a:solidFill>
              </a:rPr>
              <a:t>▶</a:t>
            </a:r>
            <a:endParaRPr lang="en-US" sz="1800" dirty="0"/>
          </a:p>
        </p:txBody>
      </p:sp>
      <p:sp>
        <p:nvSpPr>
          <p:cNvPr id="16" name="card"/>
          <p:cNvSpPr/>
          <p:nvPr/>
        </p:nvSpPr>
        <p:spPr>
          <a:xfrm>
            <a:off x="6903720" y="1554480"/>
            <a:ext cx="1828800" cy="2011680"/>
          </a:xfrm>
          <a:prstGeom prst="roundRect">
            <a:avLst>
              <a:gd name="adj" fmla="val 4000"/>
            </a:avLst>
          </a:prstGeom>
          <a:solidFill>
            <a:schemeClr val="accent6"/>
          </a:solidFill>
          <a:ln/>
        </p:spPr>
      </p:sp>
      <p:sp>
        <p:nvSpPr>
          <p:cNvPr id="17" name="Text 14"/>
          <p:cNvSpPr txBox="1"/>
          <p:nvPr/>
        </p:nvSpPr>
        <p:spPr>
          <a:xfrm>
            <a:off x="6903720" y="1691640"/>
            <a:ext cx="1828800" cy="1005840"/>
          </a:xfrm>
          <a:prstGeom prst="rect">
            <a:avLst/>
          </a:prstGeom>
          <a:noFill/>
          <a:ln/>
        </p:spPr>
        <p:txBody>
          <a:bodyPr wrap="square" lIns="0" tIns="0" rIns="0" bIns="0" rtlCol="0" anchor="ctr"/>
          <a:lstStyle/>
          <a:p>
            <a:pPr algn="ctr" indent="0" marL="0">
              <a:buNone/>
            </a:pPr>
            <a:r>
              <a:rPr lang="en-US" sz="1600" b="1" dirty="0">
                <a:solidFill>
                  <a:schemeClr val="tx1"/>
                </a:solidFill>
              </a:rPr>
              <a:t>再生・新築へ</a:t>
            </a:r>
            <a:endParaRPr lang="en-US" sz="1600" dirty="0"/>
          </a:p>
          <a:p>
            <a:pPr algn="ctr" indent="0" marL="0">
              <a:buNone/>
            </a:pPr>
            <a:r>
              <a:rPr lang="en-US" sz="1600" b="1" dirty="0">
                <a:solidFill>
                  <a:schemeClr val="tx1"/>
                </a:solidFill>
              </a:rPr>
              <a:t>進む</a:t>
            </a:r>
            <a:endParaRPr lang="en-US" sz="1600" dirty="0"/>
          </a:p>
        </p:txBody>
      </p:sp>
      <p:sp>
        <p:nvSpPr>
          <p:cNvPr id="18" name="Text 15"/>
          <p:cNvSpPr txBox="1"/>
          <p:nvPr/>
        </p:nvSpPr>
        <p:spPr>
          <a:xfrm>
            <a:off x="6903720" y="2743200"/>
            <a:ext cx="1828800" cy="548640"/>
          </a:xfrm>
          <a:prstGeom prst="rect">
            <a:avLst/>
          </a:prstGeom>
          <a:noFill/>
          <a:ln/>
        </p:spPr>
        <p:txBody>
          <a:bodyPr wrap="square" lIns="0" tIns="0" rIns="0" bIns="0" rtlCol="0" anchor="t"/>
          <a:lstStyle/>
          <a:p>
            <a:pPr algn="ctr" indent="0" marL="0">
              <a:buNone/>
            </a:pPr>
            <a:r>
              <a:rPr lang="en-US" sz="1300" dirty="0">
                <a:solidFill>
                  <a:schemeClr val="accent4"/>
                </a:solidFill>
              </a:rPr>
              <a:t>自力で価値をつくる</a:t>
            </a:r>
            <a:endParaRPr lang="en-US" sz="1300" dirty="0"/>
          </a:p>
        </p:txBody>
      </p:sp>
      <p:sp>
        <p:nvSpPr>
          <p:cNvPr id="19" name="Text 16"/>
          <p:cNvSpPr txBox="1"/>
          <p:nvPr/>
        </p:nvSpPr>
        <p:spPr>
          <a:xfrm>
            <a:off x="457200" y="3931920"/>
            <a:ext cx="8229600" cy="457200"/>
          </a:xfrm>
          <a:prstGeom prst="rect">
            <a:avLst/>
          </a:prstGeom>
          <a:noFill/>
          <a:ln/>
        </p:spPr>
        <p:txBody>
          <a:bodyPr wrap="square" lIns="0" tIns="0" rIns="0" bIns="0" rtlCol="0" anchor="t"/>
          <a:lstStyle/>
          <a:p>
            <a:pPr algn="ctr" indent="0" marL="0">
              <a:buNone/>
            </a:pPr>
            <a:r>
              <a:rPr lang="en-US" sz="2000" b="1" dirty="0">
                <a:solidFill>
                  <a:schemeClr val="accent2"/>
                </a:solidFill>
              </a:rPr>
              <a:t>弱者は、お金を使わずに自力をつける。</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次の段階①：再生で、物件の価値を上げる</a:t>
            </a:r>
            <a:endParaRPr lang="en-US" sz="2600" dirty="0"/>
          </a:p>
        </p:txBody>
      </p:sp>
      <p:sp>
        <p:nvSpPr>
          <p:cNvPr id="4" name="Text 1"/>
          <p:cNvSpPr txBox="1"/>
          <p:nvPr/>
        </p:nvSpPr>
        <p:spPr>
          <a:xfrm>
            <a:off x="457200" y="1188720"/>
            <a:ext cx="914400" cy="274320"/>
          </a:xfrm>
          <a:prstGeom prst="rect">
            <a:avLst/>
          </a:prstGeom>
          <a:noFill/>
          <a:ln/>
        </p:spPr>
        <p:txBody>
          <a:bodyPr wrap="square" lIns="0" tIns="0" rIns="0" bIns="0" rtlCol="0" anchor="t"/>
          <a:lstStyle/>
          <a:p>
            <a:pPr indent="0" marL="0">
              <a:buNone/>
            </a:pPr>
            <a:r>
              <a:rPr lang="en-US" sz="1300" b="1" dirty="0">
                <a:solidFill>
                  <a:schemeClr val="accent2"/>
                </a:solidFill>
              </a:rPr>
              <a:t>外壁</a:t>
            </a:r>
            <a:endParaRPr lang="en-US" sz="1300" dirty="0"/>
          </a:p>
        </p:txBody>
      </p:sp>
      <p:pic>
        <p:nvPicPr>
          <p:cNvPr id="5" name="photo wall before" descr="/tmp/claude-0/-home-user-avatars1/ff7ac518-1ad5-5c32-bb06-c962a98e323e/reno/im/L-024.jpg">    </p:cNvPr>
          <p:cNvPicPr>
            <a:picLocks noChangeAspect="1"/>
          </p:cNvPicPr>
          <p:nvPr/>
        </p:nvPicPr>
        <p:blipFill>
          <a:blip r:embed="rId1"/>
          <a:srcRect l="0" r="0" t="0" b="0"/>
          <a:stretch/>
        </p:blipFill>
        <p:spPr>
          <a:xfrm>
            <a:off x="457200" y="1508760"/>
            <a:ext cx="2286000" cy="1371600"/>
          </a:xfrm>
          <a:prstGeom prst="rect">
            <a:avLst/>
          </a:prstGeom>
        </p:spPr>
      </p:pic>
      <p:sp>
        <p:nvSpPr>
          <p:cNvPr id="6" name="tag"/>
          <p:cNvSpPr/>
          <p:nvPr/>
        </p:nvSpPr>
        <p:spPr>
          <a:xfrm>
            <a:off x="548640" y="1600200"/>
            <a:ext cx="731520" cy="274320"/>
          </a:xfrm>
          <a:prstGeom prst="roundRect">
            <a:avLst>
              <a:gd name="adj" fmla="val 16667"/>
            </a:avLst>
          </a:prstGeom>
          <a:solidFill>
            <a:schemeClr val="tx1"/>
          </a:solidFill>
          <a:ln/>
        </p:spPr>
      </p:sp>
      <p:sp>
        <p:nvSpPr>
          <p:cNvPr id="7" name="Text 3"/>
          <p:cNvSpPr txBox="1"/>
          <p:nvPr/>
        </p:nvSpPr>
        <p:spPr>
          <a:xfrm>
            <a:off x="548640" y="1600200"/>
            <a:ext cx="731520" cy="274320"/>
          </a:xfrm>
          <a:prstGeom prst="rect">
            <a:avLst/>
          </a:prstGeom>
          <a:noFill/>
          <a:ln/>
        </p:spPr>
        <p:txBody>
          <a:bodyPr wrap="square" lIns="0" tIns="0" rIns="0" bIns="0" rtlCol="0" anchor="ctr"/>
          <a:lstStyle/>
          <a:p>
            <a:pPr algn="ctr" indent="0" marL="0">
              <a:buNone/>
            </a:pPr>
            <a:r>
              <a:rPr lang="en-US" sz="1100" b="1" dirty="0">
                <a:solidFill>
                  <a:schemeClr val="bg1"/>
                </a:solidFill>
              </a:rPr>
              <a:t>施工前</a:t>
            </a:r>
            <a:endParaRPr lang="en-US" sz="1100" dirty="0"/>
          </a:p>
        </p:txBody>
      </p:sp>
      <p:sp>
        <p:nvSpPr>
          <p:cNvPr id="8" name="Text 4"/>
          <p:cNvSpPr txBox="1"/>
          <p:nvPr/>
        </p:nvSpPr>
        <p:spPr>
          <a:xfrm>
            <a:off x="2743200" y="2011680"/>
            <a:ext cx="365760" cy="36576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pic>
        <p:nvPicPr>
          <p:cNvPr id="9" name="photo wall after" descr="/tmp/claude-0/-home-user-avatars1/ff7ac518-1ad5-5c32-bb06-c962a98e323e/reno/im/L-050.jpg">    </p:cNvPr>
          <p:cNvPicPr>
            <a:picLocks noChangeAspect="1"/>
          </p:cNvPicPr>
          <p:nvPr/>
        </p:nvPicPr>
        <p:blipFill>
          <a:blip r:embed="rId2"/>
          <a:srcRect l="0" r="0" t="0" b="0"/>
          <a:stretch/>
        </p:blipFill>
        <p:spPr>
          <a:xfrm>
            <a:off x="3108960" y="1508760"/>
            <a:ext cx="2286000" cy="1371600"/>
          </a:xfrm>
          <a:prstGeom prst="rect">
            <a:avLst/>
          </a:prstGeom>
        </p:spPr>
      </p:pic>
      <p:sp>
        <p:nvSpPr>
          <p:cNvPr id="10" name="tag"/>
          <p:cNvSpPr/>
          <p:nvPr/>
        </p:nvSpPr>
        <p:spPr>
          <a:xfrm>
            <a:off x="3200400" y="1600200"/>
            <a:ext cx="731520" cy="274320"/>
          </a:xfrm>
          <a:prstGeom prst="roundRect">
            <a:avLst>
              <a:gd name="adj" fmla="val 16667"/>
            </a:avLst>
          </a:prstGeom>
          <a:solidFill>
            <a:schemeClr val="accent1"/>
          </a:solidFill>
          <a:ln/>
        </p:spPr>
      </p:sp>
      <p:sp>
        <p:nvSpPr>
          <p:cNvPr id="11" name="Text 6"/>
          <p:cNvSpPr txBox="1"/>
          <p:nvPr/>
        </p:nvSpPr>
        <p:spPr>
          <a:xfrm>
            <a:off x="3200400" y="1600200"/>
            <a:ext cx="731520" cy="274320"/>
          </a:xfrm>
          <a:prstGeom prst="rect">
            <a:avLst/>
          </a:prstGeom>
          <a:noFill/>
          <a:ln/>
        </p:spPr>
        <p:txBody>
          <a:bodyPr wrap="square" lIns="0" tIns="0" rIns="0" bIns="0" rtlCol="0" anchor="ctr"/>
          <a:lstStyle/>
          <a:p>
            <a:pPr algn="ctr" indent="0" marL="0">
              <a:buNone/>
            </a:pPr>
            <a:r>
              <a:rPr lang="en-US" sz="1100" b="1" dirty="0">
                <a:solidFill>
                  <a:schemeClr val="tx1"/>
                </a:solidFill>
              </a:rPr>
              <a:t>施工後</a:t>
            </a:r>
            <a:endParaRPr lang="en-US" sz="1100" dirty="0"/>
          </a:p>
        </p:txBody>
      </p:sp>
      <p:sp>
        <p:nvSpPr>
          <p:cNvPr id="12" name="Text 7"/>
          <p:cNvSpPr txBox="1"/>
          <p:nvPr/>
        </p:nvSpPr>
        <p:spPr>
          <a:xfrm>
            <a:off x="457200" y="3017520"/>
            <a:ext cx="914400" cy="274320"/>
          </a:xfrm>
          <a:prstGeom prst="rect">
            <a:avLst/>
          </a:prstGeom>
          <a:noFill/>
          <a:ln/>
        </p:spPr>
        <p:txBody>
          <a:bodyPr wrap="square" lIns="0" tIns="0" rIns="0" bIns="0" rtlCol="0" anchor="t"/>
          <a:lstStyle/>
          <a:p>
            <a:pPr indent="0" marL="0">
              <a:buNone/>
            </a:pPr>
            <a:r>
              <a:rPr lang="en-US" sz="1300" b="1" dirty="0">
                <a:solidFill>
                  <a:schemeClr val="accent2"/>
                </a:solidFill>
              </a:rPr>
              <a:t>駐輪場</a:t>
            </a:r>
            <a:endParaRPr lang="en-US" sz="1300" dirty="0"/>
          </a:p>
        </p:txBody>
      </p:sp>
      <p:pic>
        <p:nvPicPr>
          <p:cNvPr id="13" name="photo bike before" descr="/tmp/claude-0/-home-user-avatars1/ff7ac518-1ad5-5c32-bb06-c962a98e323e/reno/im/L-066.jpg">    </p:cNvPr>
          <p:cNvPicPr>
            <a:picLocks noChangeAspect="1"/>
          </p:cNvPicPr>
          <p:nvPr/>
        </p:nvPicPr>
        <p:blipFill>
          <a:blip r:embed="rId3"/>
          <a:srcRect l="0" r="0" t="0" b="0"/>
          <a:stretch/>
        </p:blipFill>
        <p:spPr>
          <a:xfrm>
            <a:off x="457200" y="3337560"/>
            <a:ext cx="2286000" cy="1371600"/>
          </a:xfrm>
          <a:prstGeom prst="rect">
            <a:avLst/>
          </a:prstGeom>
        </p:spPr>
      </p:pic>
      <p:sp>
        <p:nvSpPr>
          <p:cNvPr id="14" name="tag"/>
          <p:cNvSpPr/>
          <p:nvPr/>
        </p:nvSpPr>
        <p:spPr>
          <a:xfrm>
            <a:off x="548640" y="3429000"/>
            <a:ext cx="731520" cy="274320"/>
          </a:xfrm>
          <a:prstGeom prst="roundRect">
            <a:avLst>
              <a:gd name="adj" fmla="val 16667"/>
            </a:avLst>
          </a:prstGeom>
          <a:solidFill>
            <a:schemeClr val="tx1"/>
          </a:solidFill>
          <a:ln/>
        </p:spPr>
      </p:sp>
      <p:sp>
        <p:nvSpPr>
          <p:cNvPr id="15" name="Text 9"/>
          <p:cNvSpPr txBox="1"/>
          <p:nvPr/>
        </p:nvSpPr>
        <p:spPr>
          <a:xfrm>
            <a:off x="548640" y="3429000"/>
            <a:ext cx="731520" cy="274320"/>
          </a:xfrm>
          <a:prstGeom prst="rect">
            <a:avLst/>
          </a:prstGeom>
          <a:noFill/>
          <a:ln/>
        </p:spPr>
        <p:txBody>
          <a:bodyPr wrap="square" lIns="0" tIns="0" rIns="0" bIns="0" rtlCol="0" anchor="ctr"/>
          <a:lstStyle/>
          <a:p>
            <a:pPr algn="ctr" indent="0" marL="0">
              <a:buNone/>
            </a:pPr>
            <a:r>
              <a:rPr lang="en-US" sz="1100" b="1" dirty="0">
                <a:solidFill>
                  <a:schemeClr val="bg1"/>
                </a:solidFill>
              </a:rPr>
              <a:t>施工中</a:t>
            </a:r>
            <a:endParaRPr lang="en-US" sz="1100" dirty="0"/>
          </a:p>
        </p:txBody>
      </p:sp>
      <p:sp>
        <p:nvSpPr>
          <p:cNvPr id="16" name="Text 10"/>
          <p:cNvSpPr txBox="1"/>
          <p:nvPr/>
        </p:nvSpPr>
        <p:spPr>
          <a:xfrm>
            <a:off x="2743200" y="3840480"/>
            <a:ext cx="365760" cy="36576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pic>
        <p:nvPicPr>
          <p:cNvPr id="17" name="photo bike after" descr="/tmp/claude-0/-home-user-avatars1/ff7ac518-1ad5-5c32-bb06-c962a98e323e/reno/im/L-076.jpg">    </p:cNvPr>
          <p:cNvPicPr>
            <a:picLocks noChangeAspect="1"/>
          </p:cNvPicPr>
          <p:nvPr/>
        </p:nvPicPr>
        <p:blipFill>
          <a:blip r:embed="rId4"/>
          <a:srcRect l="0" r="0" t="0" b="0"/>
          <a:stretch/>
        </p:blipFill>
        <p:spPr>
          <a:xfrm>
            <a:off x="3108960" y="3337560"/>
            <a:ext cx="2286000" cy="1371600"/>
          </a:xfrm>
          <a:prstGeom prst="rect">
            <a:avLst/>
          </a:prstGeom>
        </p:spPr>
      </p:pic>
      <p:sp>
        <p:nvSpPr>
          <p:cNvPr id="18" name="tag"/>
          <p:cNvSpPr/>
          <p:nvPr/>
        </p:nvSpPr>
        <p:spPr>
          <a:xfrm>
            <a:off x="3200400" y="3429000"/>
            <a:ext cx="731520" cy="274320"/>
          </a:xfrm>
          <a:prstGeom prst="roundRect">
            <a:avLst>
              <a:gd name="adj" fmla="val 16667"/>
            </a:avLst>
          </a:prstGeom>
          <a:solidFill>
            <a:schemeClr val="accent1"/>
          </a:solidFill>
          <a:ln/>
        </p:spPr>
      </p:sp>
      <p:sp>
        <p:nvSpPr>
          <p:cNvPr id="19" name="Text 12"/>
          <p:cNvSpPr txBox="1"/>
          <p:nvPr/>
        </p:nvSpPr>
        <p:spPr>
          <a:xfrm>
            <a:off x="3200400" y="3429000"/>
            <a:ext cx="731520" cy="274320"/>
          </a:xfrm>
          <a:prstGeom prst="rect">
            <a:avLst/>
          </a:prstGeom>
          <a:noFill/>
          <a:ln/>
        </p:spPr>
        <p:txBody>
          <a:bodyPr wrap="square" lIns="0" tIns="0" rIns="0" bIns="0" rtlCol="0" anchor="ctr"/>
          <a:lstStyle/>
          <a:p>
            <a:pPr algn="ctr" indent="0" marL="0">
              <a:buNone/>
            </a:pPr>
            <a:r>
              <a:rPr lang="en-US" sz="1100" b="1" dirty="0">
                <a:solidFill>
                  <a:schemeClr val="tx1"/>
                </a:solidFill>
              </a:rPr>
              <a:t>施工後</a:t>
            </a:r>
            <a:endParaRPr lang="en-US" sz="1100" dirty="0"/>
          </a:p>
        </p:txBody>
      </p:sp>
      <p:sp>
        <p:nvSpPr>
          <p:cNvPr id="20" name="card"/>
          <p:cNvSpPr/>
          <p:nvPr/>
        </p:nvSpPr>
        <p:spPr>
          <a:xfrm>
            <a:off x="5669280" y="1188720"/>
            <a:ext cx="3017520" cy="3520440"/>
          </a:xfrm>
          <a:prstGeom prst="roundRect">
            <a:avLst>
              <a:gd name="adj" fmla="val 2424"/>
            </a:avLst>
          </a:prstGeom>
          <a:solidFill>
            <a:schemeClr val="bg2"/>
          </a:solidFill>
          <a:ln/>
        </p:spPr>
      </p:sp>
      <p:sp>
        <p:nvSpPr>
          <p:cNvPr id="21" name="Text 14"/>
          <p:cNvSpPr txBox="1"/>
          <p:nvPr/>
        </p:nvSpPr>
        <p:spPr>
          <a:xfrm>
            <a:off x="5852160" y="1325880"/>
            <a:ext cx="2743200" cy="365760"/>
          </a:xfrm>
          <a:prstGeom prst="rect">
            <a:avLst/>
          </a:prstGeom>
          <a:noFill/>
          <a:ln/>
        </p:spPr>
        <p:txBody>
          <a:bodyPr wrap="square" lIns="0" tIns="0" rIns="0" bIns="0" rtlCol="0" anchor="t"/>
          <a:lstStyle/>
          <a:p>
            <a:pPr indent="0" marL="0">
              <a:buNone/>
            </a:pPr>
            <a:r>
              <a:rPr lang="en-US" sz="1400" b="1" dirty="0">
                <a:solidFill>
                  <a:schemeClr val="accent2"/>
                </a:solidFill>
              </a:rPr>
              <a:t>岐阜市 ラーク21（RC）</a:t>
            </a:r>
            <a:endParaRPr lang="en-US" sz="1400" dirty="0"/>
          </a:p>
        </p:txBody>
      </p:sp>
      <p:sp>
        <p:nvSpPr>
          <p:cNvPr id="22" name="Text 15"/>
          <p:cNvSpPr txBox="1"/>
          <p:nvPr/>
        </p:nvSpPr>
        <p:spPr>
          <a:xfrm>
            <a:off x="5852160" y="1691640"/>
            <a:ext cx="2743200" cy="274320"/>
          </a:xfrm>
          <a:prstGeom prst="rect">
            <a:avLst/>
          </a:prstGeom>
          <a:noFill/>
          <a:ln/>
        </p:spPr>
        <p:txBody>
          <a:bodyPr wrap="square" lIns="0" tIns="0" rIns="0" bIns="0" rtlCol="0" anchor="t"/>
          <a:lstStyle/>
          <a:p>
            <a:pPr indent="0" marL="0">
              <a:buNone/>
            </a:pPr>
            <a:r>
              <a:rPr lang="en-US" sz="1200" dirty="0">
                <a:solidFill>
                  <a:schemeClr val="accent4"/>
                </a:solidFill>
              </a:rPr>
              <a:t>塗装・雨樋交換工事</a:t>
            </a:r>
            <a:endParaRPr lang="en-US" sz="1200" dirty="0"/>
          </a:p>
        </p:txBody>
      </p:sp>
      <p:sp>
        <p:nvSpPr>
          <p:cNvPr id="23" name="Text 16"/>
          <p:cNvSpPr txBox="1"/>
          <p:nvPr/>
        </p:nvSpPr>
        <p:spPr>
          <a:xfrm>
            <a:off x="5852160" y="2103120"/>
            <a:ext cx="274320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高圧洗浄（ベランダ・通路・壁）</a:t>
            </a:r>
            <a:endParaRPr lang="en-US" sz="1200" dirty="0"/>
          </a:p>
          <a:p>
            <a:pPr marL="342900" indent="-342900">
              <a:spcAft>
                <a:spcPts val="600"/>
              </a:spcAft>
              <a:buSzPct val="100000"/>
              <a:buChar char="•"/>
            </a:pPr>
            <a:r>
              <a:rPr lang="en-US" sz="1200" dirty="0">
                <a:solidFill>
                  <a:schemeClr val="tx1"/>
                </a:solidFill>
              </a:rPr>
              <a:t>外壁を下塗り・中塗り・上塗り</a:t>
            </a:r>
            <a:endParaRPr lang="en-US" sz="1200" dirty="0"/>
          </a:p>
          <a:p>
            <a:pPr marL="342900" indent="-342900">
              <a:spcAft>
                <a:spcPts val="600"/>
              </a:spcAft>
              <a:buSzPct val="100000"/>
              <a:buChar char="•"/>
            </a:pPr>
            <a:r>
              <a:rPr lang="en-US" sz="1200" dirty="0">
                <a:solidFill>
                  <a:schemeClr val="tx1"/>
                </a:solidFill>
              </a:rPr>
              <a:t>軒天・鉄部・駐輪場・ガス庫を塗装</a:t>
            </a:r>
            <a:endParaRPr lang="en-US" sz="1200" dirty="0"/>
          </a:p>
          <a:p>
            <a:pPr marL="342900" indent="-342900">
              <a:spcAft>
                <a:spcPts val="600"/>
              </a:spcAft>
              <a:buSzPct val="100000"/>
              <a:buChar char="•"/>
            </a:pPr>
            <a:r>
              <a:rPr lang="en-US" sz="1200" dirty="0">
                <a:solidFill>
                  <a:schemeClr val="tx1"/>
                </a:solidFill>
              </a:rPr>
              <a:t>駐車場の白線を引き直し</a:t>
            </a:r>
            <a:endParaRPr lang="en-US" sz="1200" dirty="0"/>
          </a:p>
          <a:p>
            <a:pPr marL="342900" indent="-342900">
              <a:spcAft>
                <a:spcPts val="600"/>
              </a:spcAft>
              <a:buSzPct val="100000"/>
              <a:buChar char="•"/>
            </a:pPr>
            <a:r>
              <a:rPr lang="en-US" sz="1200" dirty="0">
                <a:solidFill>
                  <a:schemeClr val="tx1"/>
                </a:solidFill>
              </a:rPr>
              <a:t>雨樋を交換</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再生の仕上がり：第一印象が変わる</a:t>
            </a:r>
            <a:endParaRPr lang="en-US" sz="2600" dirty="0"/>
          </a:p>
        </p:txBody>
      </p:sp>
      <p:pic>
        <p:nvPicPr>
          <p:cNvPr id="4" name="photo completed 1" descr="/tmp/claude-0/-home-user-avatars1/ff7ac518-1ad5-5c32-bb06-c962a98e323e/reno/im/P20-000.jpg">    </p:cNvPr>
          <p:cNvPicPr>
            <a:picLocks noChangeAspect="1"/>
          </p:cNvPicPr>
          <p:nvPr/>
        </p:nvPicPr>
        <p:blipFill>
          <a:blip r:embed="rId1"/>
          <a:srcRect l="0" r="0" t="0" b="0"/>
          <a:stretch/>
        </p:blipFill>
        <p:spPr>
          <a:xfrm>
            <a:off x="457200" y="1188720"/>
            <a:ext cx="4023360" cy="2148840"/>
          </a:xfrm>
          <a:prstGeom prst="rect">
            <a:avLst/>
          </a:prstGeom>
        </p:spPr>
      </p:pic>
      <p:pic>
        <p:nvPicPr>
          <p:cNvPr id="5" name="photo completed 2" descr="/tmp/claude-0/-home-user-avatars1/ff7ac518-1ad5-5c32-bb06-c962a98e323e/reno/im/P20-001.jpg">    </p:cNvPr>
          <p:cNvPicPr>
            <a:picLocks noChangeAspect="1"/>
          </p:cNvPicPr>
          <p:nvPr/>
        </p:nvPicPr>
        <p:blipFill>
          <a:blip r:embed="rId2"/>
          <a:srcRect l="0" r="0" t="0" b="0"/>
          <a:stretch/>
        </p:blipFill>
        <p:spPr>
          <a:xfrm>
            <a:off x="4663440" y="1188720"/>
            <a:ext cx="4023360" cy="2148840"/>
          </a:xfrm>
          <a:prstGeom prst="rect">
            <a:avLst/>
          </a:prstGeom>
        </p:spPr>
      </p:pic>
      <p:sp>
        <p:nvSpPr>
          <p:cNvPr id="6" name="Text 1"/>
          <p:cNvSpPr txBox="1"/>
          <p:nvPr/>
        </p:nvSpPr>
        <p:spPr>
          <a:xfrm>
            <a:off x="457200" y="3383280"/>
            <a:ext cx="8229600" cy="274320"/>
          </a:xfrm>
          <a:prstGeom prst="rect">
            <a:avLst/>
          </a:prstGeom>
          <a:noFill/>
          <a:ln/>
        </p:spPr>
        <p:txBody>
          <a:bodyPr wrap="square" lIns="0" tIns="0" rIns="0" bIns="0" rtlCol="0" anchor="t"/>
          <a:lstStyle/>
          <a:p>
            <a:pPr indent="0" marL="0">
              <a:buNone/>
            </a:pPr>
            <a:r>
              <a:rPr lang="en-US" sz="1100" dirty="0">
                <a:solidFill>
                  <a:schemeClr val="accent4"/>
                </a:solidFill>
              </a:rPr>
              <a:t>ラーク21（岐阜市）工事完了</a:t>
            </a:r>
            <a:endParaRPr lang="en-US" sz="1100" dirty="0"/>
          </a:p>
        </p:txBody>
      </p:sp>
      <p:sp>
        <p:nvSpPr>
          <p:cNvPr id="7" name="card"/>
          <p:cNvSpPr/>
          <p:nvPr/>
        </p:nvSpPr>
        <p:spPr>
          <a:xfrm>
            <a:off x="457200" y="3703320"/>
            <a:ext cx="2651760" cy="1005840"/>
          </a:xfrm>
          <a:prstGeom prst="roundRect">
            <a:avLst>
              <a:gd name="adj" fmla="val 7273"/>
            </a:avLst>
          </a:prstGeom>
          <a:solidFill>
            <a:schemeClr val="bg2"/>
          </a:solidFill>
          <a:ln/>
        </p:spPr>
      </p:sp>
      <p:sp>
        <p:nvSpPr>
          <p:cNvPr id="8" name="Text 3"/>
          <p:cNvSpPr txBox="1"/>
          <p:nvPr/>
        </p:nvSpPr>
        <p:spPr>
          <a:xfrm>
            <a:off x="640080" y="3767328"/>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栃木県鹿沼市（RC）</a:t>
            </a:r>
            <a:endParaRPr lang="en-US" sz="1200" dirty="0"/>
          </a:p>
        </p:txBody>
      </p:sp>
      <p:sp>
        <p:nvSpPr>
          <p:cNvPr id="9" name="Text 4"/>
          <p:cNvSpPr txBox="1"/>
          <p:nvPr/>
        </p:nvSpPr>
        <p:spPr>
          <a:xfrm>
            <a:off x="640080" y="4069080"/>
            <a:ext cx="2377440" cy="594360"/>
          </a:xfrm>
          <a:prstGeom prst="rect">
            <a:avLst/>
          </a:prstGeom>
          <a:noFill/>
          <a:ln/>
        </p:spPr>
        <p:txBody>
          <a:bodyPr wrap="square" lIns="0" tIns="0" rIns="0" bIns="0" rtlCol="0" anchor="t"/>
          <a:lstStyle/>
          <a:p>
            <a:pPr indent="0" marL="0">
              <a:buNone/>
            </a:pPr>
            <a:r>
              <a:rPr lang="en-US" sz="1100" dirty="0">
                <a:solidFill>
                  <a:schemeClr val="tx1"/>
                </a:solidFill>
              </a:rPr>
              <a:t>高圧洗浄・フェンス新設・共用部の全面塗装</a:t>
            </a:r>
            <a:endParaRPr lang="en-US" sz="1100" dirty="0"/>
          </a:p>
          <a:p>
            <a:pPr indent="0" marL="0">
              <a:buNone/>
            </a:pPr>
            <a:r>
              <a:rPr lang="en-US" sz="1100" dirty="0">
                <a:solidFill>
                  <a:schemeClr val="tx1"/>
                </a:solidFill>
              </a:rPr>
              <a:t>（2022年9月完了）</a:t>
            </a:r>
            <a:endParaRPr lang="en-US" sz="1100" dirty="0"/>
          </a:p>
        </p:txBody>
      </p:sp>
      <p:sp>
        <p:nvSpPr>
          <p:cNvPr id="10" name="card"/>
          <p:cNvSpPr/>
          <p:nvPr/>
        </p:nvSpPr>
        <p:spPr>
          <a:xfrm>
            <a:off x="3291840" y="3703320"/>
            <a:ext cx="2651760" cy="1005840"/>
          </a:xfrm>
          <a:prstGeom prst="roundRect">
            <a:avLst>
              <a:gd name="adj" fmla="val 7273"/>
            </a:avLst>
          </a:prstGeom>
          <a:solidFill>
            <a:schemeClr val="bg2"/>
          </a:solidFill>
          <a:ln/>
        </p:spPr>
      </p:sp>
      <p:sp>
        <p:nvSpPr>
          <p:cNvPr id="11" name="Text 6"/>
          <p:cNvSpPr txBox="1"/>
          <p:nvPr/>
        </p:nvSpPr>
        <p:spPr>
          <a:xfrm>
            <a:off x="3474720" y="3767328"/>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静岡県富士市（RC）</a:t>
            </a:r>
            <a:endParaRPr lang="en-US" sz="1200" dirty="0"/>
          </a:p>
        </p:txBody>
      </p:sp>
      <p:sp>
        <p:nvSpPr>
          <p:cNvPr id="12" name="Text 7"/>
          <p:cNvSpPr txBox="1"/>
          <p:nvPr/>
        </p:nvSpPr>
        <p:spPr>
          <a:xfrm>
            <a:off x="3474720" y="4069080"/>
            <a:ext cx="2377440" cy="594360"/>
          </a:xfrm>
          <a:prstGeom prst="rect">
            <a:avLst/>
          </a:prstGeom>
          <a:noFill/>
          <a:ln/>
        </p:spPr>
        <p:txBody>
          <a:bodyPr wrap="square" lIns="0" tIns="0" rIns="0" bIns="0" rtlCol="0" anchor="t"/>
          <a:lstStyle/>
          <a:p>
            <a:pPr indent="0" marL="0">
              <a:buNone/>
            </a:pPr>
            <a:r>
              <a:rPr lang="en-US" sz="1100" dirty="0">
                <a:solidFill>
                  <a:schemeClr val="tx1"/>
                </a:solidFill>
              </a:rPr>
              <a:t>内装を新しく、ネット・CATV無料</a:t>
            </a:r>
            <a:endParaRPr lang="en-US" sz="1100" dirty="0"/>
          </a:p>
          <a:p>
            <a:pPr indent="0" marL="0">
              <a:buNone/>
            </a:pPr>
            <a:r>
              <a:rPr lang="en-US" sz="1100" dirty="0">
                <a:solidFill>
                  <a:schemeClr val="tx1"/>
                </a:solidFill>
              </a:rPr>
              <a:t>広告料3か月・敷礼ゼロで募集</a:t>
            </a:r>
            <a:endParaRPr lang="en-US" sz="1100" dirty="0"/>
          </a:p>
        </p:txBody>
      </p:sp>
      <p:sp>
        <p:nvSpPr>
          <p:cNvPr id="13" name="card"/>
          <p:cNvSpPr/>
          <p:nvPr/>
        </p:nvSpPr>
        <p:spPr>
          <a:xfrm>
            <a:off x="6126480" y="3703320"/>
            <a:ext cx="2651760" cy="1005840"/>
          </a:xfrm>
          <a:prstGeom prst="roundRect">
            <a:avLst>
              <a:gd name="adj" fmla="val 7273"/>
            </a:avLst>
          </a:prstGeom>
          <a:solidFill>
            <a:schemeClr val="accent6"/>
          </a:solidFill>
          <a:ln/>
        </p:spPr>
      </p:sp>
      <p:sp>
        <p:nvSpPr>
          <p:cNvPr id="14" name="Text 9"/>
          <p:cNvSpPr txBox="1"/>
          <p:nvPr/>
        </p:nvSpPr>
        <p:spPr>
          <a:xfrm>
            <a:off x="6309360" y="3767328"/>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再生のねらい</a:t>
            </a:r>
            <a:endParaRPr lang="en-US" sz="1200" dirty="0"/>
          </a:p>
        </p:txBody>
      </p:sp>
      <p:sp>
        <p:nvSpPr>
          <p:cNvPr id="15" name="Text 10"/>
          <p:cNvSpPr txBox="1"/>
          <p:nvPr/>
        </p:nvSpPr>
        <p:spPr>
          <a:xfrm>
            <a:off x="6309360" y="4069080"/>
            <a:ext cx="2377440" cy="594360"/>
          </a:xfrm>
          <a:prstGeom prst="rect">
            <a:avLst/>
          </a:prstGeom>
          <a:noFill/>
          <a:ln/>
        </p:spPr>
        <p:txBody>
          <a:bodyPr wrap="square" lIns="0" tIns="0" rIns="0" bIns="0" rtlCol="0" anchor="t"/>
          <a:lstStyle/>
          <a:p>
            <a:pPr indent="0" marL="0">
              <a:buNone/>
            </a:pPr>
            <a:r>
              <a:rPr lang="en-US" sz="1100" dirty="0">
                <a:solidFill>
                  <a:schemeClr val="tx1"/>
                </a:solidFill>
              </a:rPr>
              <a:t>少ないお金で、見た目と</a:t>
            </a:r>
            <a:endParaRPr lang="en-US" sz="1100" dirty="0"/>
          </a:p>
          <a:p>
            <a:pPr indent="0" marL="0">
              <a:buNone/>
            </a:pPr>
            <a:r>
              <a:rPr lang="en-US" sz="1100" dirty="0">
                <a:solidFill>
                  <a:schemeClr val="tx1"/>
                </a:solidFill>
              </a:rPr>
              <a:t>募集力を上げる</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次の段階②：新築のために、東京に戻る</a:t>
            </a:r>
            <a:endParaRPr lang="en-US" sz="2600" dirty="0"/>
          </a:p>
        </p:txBody>
      </p:sp>
      <p:sp>
        <p:nvSpPr>
          <p:cNvPr id="4" name="card"/>
          <p:cNvSpPr/>
          <p:nvPr/>
        </p:nvSpPr>
        <p:spPr>
          <a:xfrm>
            <a:off x="1828800" y="1280160"/>
            <a:ext cx="3337560" cy="457200"/>
          </a:xfrm>
          <a:prstGeom prst="roundRect">
            <a:avLst>
              <a:gd name="adj" fmla="val 16000"/>
            </a:avLst>
          </a:prstGeom>
          <a:solidFill>
            <a:schemeClr val="accent2"/>
          </a:solidFill>
          <a:ln/>
        </p:spPr>
      </p:sp>
      <p:sp>
        <p:nvSpPr>
          <p:cNvPr id="5" name="Text 2"/>
          <p:cNvSpPr txBox="1"/>
          <p:nvPr/>
        </p:nvSpPr>
        <p:spPr>
          <a:xfrm>
            <a:off x="1828800" y="1280160"/>
            <a:ext cx="3337560" cy="457200"/>
          </a:xfrm>
          <a:prstGeom prst="rect">
            <a:avLst/>
          </a:prstGeom>
          <a:noFill/>
          <a:ln/>
        </p:spPr>
        <p:txBody>
          <a:bodyPr wrap="square" lIns="0" tIns="0" rIns="0" bIns="0" rtlCol="0" anchor="ctr"/>
          <a:lstStyle/>
          <a:p>
            <a:pPr algn="ctr" indent="0" marL="0">
              <a:buNone/>
            </a:pPr>
            <a:r>
              <a:rPr lang="en-US" sz="1600" b="1" dirty="0">
                <a:solidFill>
                  <a:schemeClr val="bg1"/>
                </a:solidFill>
              </a:rPr>
              <a:t>地方の中古</a:t>
            </a:r>
            <a:endParaRPr lang="en-US" sz="1600" dirty="0"/>
          </a:p>
        </p:txBody>
      </p:sp>
      <p:sp>
        <p:nvSpPr>
          <p:cNvPr id="6" name="card"/>
          <p:cNvSpPr/>
          <p:nvPr/>
        </p:nvSpPr>
        <p:spPr>
          <a:xfrm>
            <a:off x="5257800" y="1280160"/>
            <a:ext cx="3337560" cy="457200"/>
          </a:xfrm>
          <a:prstGeom prst="roundRect">
            <a:avLst>
              <a:gd name="adj" fmla="val 16000"/>
            </a:avLst>
          </a:prstGeom>
          <a:solidFill>
            <a:schemeClr val="accent1"/>
          </a:solidFill>
          <a:ln/>
        </p:spPr>
      </p:sp>
      <p:sp>
        <p:nvSpPr>
          <p:cNvPr id="7" name="Text 4"/>
          <p:cNvSpPr txBox="1"/>
          <p:nvPr/>
        </p:nvSpPr>
        <p:spPr>
          <a:xfrm>
            <a:off x="5257800" y="1280160"/>
            <a:ext cx="3337560" cy="457200"/>
          </a:xfrm>
          <a:prstGeom prst="rect">
            <a:avLst/>
          </a:prstGeom>
          <a:noFill/>
          <a:ln/>
        </p:spPr>
        <p:txBody>
          <a:bodyPr wrap="square" lIns="0" tIns="0" rIns="0" bIns="0" rtlCol="0" anchor="ctr"/>
          <a:lstStyle/>
          <a:p>
            <a:pPr algn="ctr" indent="0" marL="0">
              <a:buNone/>
            </a:pPr>
            <a:r>
              <a:rPr lang="en-US" sz="1600" b="1" dirty="0">
                <a:solidFill>
                  <a:schemeClr val="tx1"/>
                </a:solidFill>
              </a:rPr>
              <a:t>東京の新築</a:t>
            </a:r>
            <a:endParaRPr lang="en-US" sz="1600" dirty="0"/>
          </a:p>
        </p:txBody>
      </p:sp>
      <p:sp>
        <p:nvSpPr>
          <p:cNvPr id="8" name="card"/>
          <p:cNvSpPr/>
          <p:nvPr/>
        </p:nvSpPr>
        <p:spPr>
          <a:xfrm>
            <a:off x="457200" y="1828800"/>
            <a:ext cx="1280160" cy="960120"/>
          </a:xfrm>
          <a:prstGeom prst="roundRect">
            <a:avLst>
              <a:gd name="adj" fmla="val 7619"/>
            </a:avLst>
          </a:prstGeom>
          <a:solidFill>
            <a:schemeClr val="bg2"/>
          </a:solidFill>
          <a:ln/>
        </p:spPr>
      </p:sp>
      <p:sp>
        <p:nvSpPr>
          <p:cNvPr id="9" name="Text 6"/>
          <p:cNvSpPr txBox="1"/>
          <p:nvPr/>
        </p:nvSpPr>
        <p:spPr>
          <a:xfrm>
            <a:off x="457200" y="1828800"/>
            <a:ext cx="1280160" cy="960120"/>
          </a:xfrm>
          <a:prstGeom prst="rect">
            <a:avLst/>
          </a:prstGeom>
          <a:noFill/>
          <a:ln/>
        </p:spPr>
        <p:txBody>
          <a:bodyPr wrap="square" lIns="0" tIns="0" rIns="0" bIns="0" rtlCol="0" anchor="ctr"/>
          <a:lstStyle/>
          <a:p>
            <a:pPr algn="ctr" indent="0" marL="0">
              <a:buNone/>
            </a:pPr>
            <a:r>
              <a:rPr lang="en-US" sz="1400" b="1" dirty="0">
                <a:solidFill>
                  <a:schemeClr val="tx1"/>
                </a:solidFill>
              </a:rPr>
              <a:t>強み</a:t>
            </a:r>
            <a:endParaRPr lang="en-US" sz="1400" dirty="0"/>
          </a:p>
        </p:txBody>
      </p:sp>
      <p:sp>
        <p:nvSpPr>
          <p:cNvPr id="10" name="card"/>
          <p:cNvSpPr/>
          <p:nvPr/>
        </p:nvSpPr>
        <p:spPr>
          <a:xfrm>
            <a:off x="1828800" y="1828800"/>
            <a:ext cx="3337560" cy="960120"/>
          </a:xfrm>
          <a:prstGeom prst="roundRect">
            <a:avLst>
              <a:gd name="adj" fmla="val 7619"/>
            </a:avLst>
          </a:prstGeom>
          <a:solidFill>
            <a:schemeClr val="bg2"/>
          </a:solidFill>
          <a:ln/>
        </p:spPr>
      </p:sp>
      <p:sp>
        <p:nvSpPr>
          <p:cNvPr id="11" name="Text 8"/>
          <p:cNvSpPr txBox="1"/>
          <p:nvPr/>
        </p:nvSpPr>
        <p:spPr>
          <a:xfrm>
            <a:off x="1828800" y="1828800"/>
            <a:ext cx="3337560" cy="960120"/>
          </a:xfrm>
          <a:prstGeom prst="rect">
            <a:avLst/>
          </a:prstGeom>
          <a:noFill/>
          <a:ln/>
        </p:spPr>
        <p:txBody>
          <a:bodyPr wrap="square" lIns="0" tIns="0" rIns="0" bIns="0" rtlCol="0" anchor="ctr"/>
          <a:lstStyle/>
          <a:p>
            <a:pPr algn="ctr" indent="0" marL="0">
              <a:buNone/>
            </a:pPr>
            <a:r>
              <a:rPr lang="en-US" sz="1400" dirty="0">
                <a:solidFill>
                  <a:schemeClr val="tx1"/>
                </a:solidFill>
              </a:rPr>
              <a:t>高利回り・高積算</a:t>
            </a:r>
            <a:endParaRPr lang="en-US" sz="1400" dirty="0"/>
          </a:p>
          <a:p>
            <a:pPr algn="ctr" indent="0" marL="0">
              <a:buNone/>
            </a:pPr>
            <a:r>
              <a:rPr lang="en-US" sz="1400" dirty="0">
                <a:solidFill>
                  <a:schemeClr val="tx1"/>
                </a:solidFill>
              </a:rPr>
              <a:t>買いやすい</a:t>
            </a:r>
            <a:endParaRPr lang="en-US" sz="1400" dirty="0"/>
          </a:p>
        </p:txBody>
      </p:sp>
      <p:sp>
        <p:nvSpPr>
          <p:cNvPr id="12" name="card"/>
          <p:cNvSpPr/>
          <p:nvPr/>
        </p:nvSpPr>
        <p:spPr>
          <a:xfrm>
            <a:off x="5257800" y="1828800"/>
            <a:ext cx="3337560" cy="960120"/>
          </a:xfrm>
          <a:prstGeom prst="roundRect">
            <a:avLst>
              <a:gd name="adj" fmla="val 7619"/>
            </a:avLst>
          </a:prstGeom>
          <a:solidFill>
            <a:schemeClr val="bg2"/>
          </a:solidFill>
          <a:ln/>
        </p:spPr>
      </p:sp>
      <p:sp>
        <p:nvSpPr>
          <p:cNvPr id="13" name="Text 10"/>
          <p:cNvSpPr txBox="1"/>
          <p:nvPr/>
        </p:nvSpPr>
        <p:spPr>
          <a:xfrm>
            <a:off x="5257800" y="1828800"/>
            <a:ext cx="3337560" cy="960120"/>
          </a:xfrm>
          <a:prstGeom prst="rect">
            <a:avLst/>
          </a:prstGeom>
          <a:noFill/>
          <a:ln/>
        </p:spPr>
        <p:txBody>
          <a:bodyPr wrap="square" lIns="0" tIns="0" rIns="0" bIns="0" rtlCol="0" anchor="ctr"/>
          <a:lstStyle/>
          <a:p>
            <a:pPr algn="ctr" indent="0" marL="0">
              <a:buNone/>
            </a:pPr>
            <a:r>
              <a:rPr lang="en-US" sz="1400" dirty="0">
                <a:solidFill>
                  <a:schemeClr val="tx1"/>
                </a:solidFill>
              </a:rPr>
              <a:t>資産性が高い</a:t>
            </a:r>
            <a:endParaRPr lang="en-US" sz="1400" dirty="0"/>
          </a:p>
          <a:p>
            <a:pPr algn="ctr" indent="0" marL="0">
              <a:buNone/>
            </a:pPr>
            <a:r>
              <a:rPr lang="en-US" sz="1400" dirty="0">
                <a:solidFill>
                  <a:schemeClr val="tx1"/>
                </a:solidFill>
              </a:rPr>
              <a:t>売りやすい・貸しやすい</a:t>
            </a:r>
            <a:endParaRPr lang="en-US" sz="1400" dirty="0"/>
          </a:p>
        </p:txBody>
      </p:sp>
      <p:sp>
        <p:nvSpPr>
          <p:cNvPr id="14" name="card"/>
          <p:cNvSpPr/>
          <p:nvPr/>
        </p:nvSpPr>
        <p:spPr>
          <a:xfrm>
            <a:off x="457200" y="2880360"/>
            <a:ext cx="1280160" cy="960120"/>
          </a:xfrm>
          <a:prstGeom prst="roundRect">
            <a:avLst>
              <a:gd name="adj" fmla="val 7619"/>
            </a:avLst>
          </a:prstGeom>
          <a:solidFill>
            <a:schemeClr val="bg2"/>
          </a:solidFill>
          <a:ln/>
        </p:spPr>
      </p:sp>
      <p:sp>
        <p:nvSpPr>
          <p:cNvPr id="15" name="Text 12"/>
          <p:cNvSpPr txBox="1"/>
          <p:nvPr/>
        </p:nvSpPr>
        <p:spPr>
          <a:xfrm>
            <a:off x="457200" y="2880360"/>
            <a:ext cx="1280160" cy="960120"/>
          </a:xfrm>
          <a:prstGeom prst="rect">
            <a:avLst/>
          </a:prstGeom>
          <a:noFill/>
          <a:ln/>
        </p:spPr>
        <p:txBody>
          <a:bodyPr wrap="square" lIns="0" tIns="0" rIns="0" bIns="0" rtlCol="0" anchor="ctr"/>
          <a:lstStyle/>
          <a:p>
            <a:pPr algn="ctr" indent="0" marL="0">
              <a:buNone/>
            </a:pPr>
            <a:r>
              <a:rPr lang="en-US" sz="1400" b="1" dirty="0">
                <a:solidFill>
                  <a:schemeClr val="tx1"/>
                </a:solidFill>
              </a:rPr>
              <a:t>弱み</a:t>
            </a:r>
            <a:endParaRPr lang="en-US" sz="1400" dirty="0"/>
          </a:p>
        </p:txBody>
      </p:sp>
      <p:sp>
        <p:nvSpPr>
          <p:cNvPr id="16" name="card"/>
          <p:cNvSpPr/>
          <p:nvPr/>
        </p:nvSpPr>
        <p:spPr>
          <a:xfrm>
            <a:off x="1828800" y="2880360"/>
            <a:ext cx="3337560" cy="960120"/>
          </a:xfrm>
          <a:prstGeom prst="roundRect">
            <a:avLst>
              <a:gd name="adj" fmla="val 7619"/>
            </a:avLst>
          </a:prstGeom>
          <a:solidFill>
            <a:schemeClr val="bg2"/>
          </a:solidFill>
          <a:ln/>
        </p:spPr>
      </p:sp>
      <p:sp>
        <p:nvSpPr>
          <p:cNvPr id="17" name="Text 14"/>
          <p:cNvSpPr txBox="1"/>
          <p:nvPr/>
        </p:nvSpPr>
        <p:spPr>
          <a:xfrm>
            <a:off x="1828800" y="2880360"/>
            <a:ext cx="3337560" cy="960120"/>
          </a:xfrm>
          <a:prstGeom prst="rect">
            <a:avLst/>
          </a:prstGeom>
          <a:noFill/>
          <a:ln/>
        </p:spPr>
        <p:txBody>
          <a:bodyPr wrap="square" lIns="0" tIns="0" rIns="0" bIns="0" rtlCol="0" anchor="ctr"/>
          <a:lstStyle/>
          <a:p>
            <a:pPr algn="ctr" indent="0" marL="0">
              <a:buNone/>
            </a:pPr>
            <a:r>
              <a:rPr lang="en-US" sz="1400" dirty="0">
                <a:solidFill>
                  <a:schemeClr val="tx1"/>
                </a:solidFill>
              </a:rPr>
              <a:t>出口が読みにくい</a:t>
            </a:r>
            <a:endParaRPr lang="en-US" sz="1400" dirty="0"/>
          </a:p>
          <a:p>
            <a:pPr algn="ctr" indent="0" marL="0">
              <a:buNone/>
            </a:pPr>
            <a:r>
              <a:rPr lang="en-US" sz="1400" dirty="0">
                <a:solidFill>
                  <a:schemeClr val="tx1"/>
                </a:solidFill>
              </a:rPr>
              <a:t>人口減少</a:t>
            </a:r>
            <a:endParaRPr lang="en-US" sz="1400" dirty="0"/>
          </a:p>
        </p:txBody>
      </p:sp>
      <p:sp>
        <p:nvSpPr>
          <p:cNvPr id="18" name="card"/>
          <p:cNvSpPr/>
          <p:nvPr/>
        </p:nvSpPr>
        <p:spPr>
          <a:xfrm>
            <a:off x="5257800" y="2880360"/>
            <a:ext cx="3337560" cy="960120"/>
          </a:xfrm>
          <a:prstGeom prst="roundRect">
            <a:avLst>
              <a:gd name="adj" fmla="val 7619"/>
            </a:avLst>
          </a:prstGeom>
          <a:solidFill>
            <a:schemeClr val="bg2"/>
          </a:solidFill>
          <a:ln/>
        </p:spPr>
      </p:sp>
      <p:sp>
        <p:nvSpPr>
          <p:cNvPr id="19" name="Text 16"/>
          <p:cNvSpPr txBox="1"/>
          <p:nvPr/>
        </p:nvSpPr>
        <p:spPr>
          <a:xfrm>
            <a:off x="5257800" y="2880360"/>
            <a:ext cx="3337560" cy="960120"/>
          </a:xfrm>
          <a:prstGeom prst="rect">
            <a:avLst/>
          </a:prstGeom>
          <a:noFill/>
          <a:ln/>
        </p:spPr>
        <p:txBody>
          <a:bodyPr wrap="square" lIns="0" tIns="0" rIns="0" bIns="0" rtlCol="0" anchor="ctr"/>
          <a:lstStyle/>
          <a:p>
            <a:pPr algn="ctr" indent="0" marL="0">
              <a:buNone/>
            </a:pPr>
            <a:r>
              <a:rPr lang="en-US" sz="1400" dirty="0">
                <a:solidFill>
                  <a:schemeClr val="tx1"/>
                </a:solidFill>
              </a:rPr>
              <a:t>利回りは低め</a:t>
            </a:r>
            <a:endParaRPr lang="en-US" sz="1400" dirty="0"/>
          </a:p>
          <a:p>
            <a:pPr algn="ctr" indent="0" marL="0">
              <a:buNone/>
            </a:pPr>
            <a:r>
              <a:rPr lang="en-US" sz="1400" dirty="0">
                <a:solidFill>
                  <a:schemeClr val="tx1"/>
                </a:solidFill>
              </a:rPr>
              <a:t>土地が高い</a:t>
            </a:r>
            <a:endParaRPr lang="en-US" sz="1400" dirty="0"/>
          </a:p>
        </p:txBody>
      </p:sp>
      <p:sp>
        <p:nvSpPr>
          <p:cNvPr id="20" name="card"/>
          <p:cNvSpPr/>
          <p:nvPr/>
        </p:nvSpPr>
        <p:spPr>
          <a:xfrm>
            <a:off x="457200" y="3931920"/>
            <a:ext cx="1280160" cy="960120"/>
          </a:xfrm>
          <a:prstGeom prst="roundRect">
            <a:avLst>
              <a:gd name="adj" fmla="val 7619"/>
            </a:avLst>
          </a:prstGeom>
          <a:solidFill>
            <a:schemeClr val="bg2"/>
          </a:solidFill>
          <a:ln/>
        </p:spPr>
      </p:sp>
      <p:sp>
        <p:nvSpPr>
          <p:cNvPr id="21" name="Text 18"/>
          <p:cNvSpPr txBox="1"/>
          <p:nvPr/>
        </p:nvSpPr>
        <p:spPr>
          <a:xfrm>
            <a:off x="457200" y="3931920"/>
            <a:ext cx="1280160" cy="960120"/>
          </a:xfrm>
          <a:prstGeom prst="rect">
            <a:avLst/>
          </a:prstGeom>
          <a:noFill/>
          <a:ln/>
        </p:spPr>
        <p:txBody>
          <a:bodyPr wrap="square" lIns="0" tIns="0" rIns="0" bIns="0" rtlCol="0" anchor="ctr"/>
          <a:lstStyle/>
          <a:p>
            <a:pPr algn="ctr" indent="0" marL="0">
              <a:buNone/>
            </a:pPr>
            <a:r>
              <a:rPr lang="en-US" sz="1400" b="1" dirty="0">
                <a:solidFill>
                  <a:schemeClr val="tx1"/>
                </a:solidFill>
              </a:rPr>
              <a:t>役割</a:t>
            </a:r>
            <a:endParaRPr lang="en-US" sz="1400" dirty="0"/>
          </a:p>
        </p:txBody>
      </p:sp>
      <p:sp>
        <p:nvSpPr>
          <p:cNvPr id="22" name="card"/>
          <p:cNvSpPr/>
          <p:nvPr/>
        </p:nvSpPr>
        <p:spPr>
          <a:xfrm>
            <a:off x="1828800" y="3931920"/>
            <a:ext cx="3337560" cy="960120"/>
          </a:xfrm>
          <a:prstGeom prst="roundRect">
            <a:avLst>
              <a:gd name="adj" fmla="val 7619"/>
            </a:avLst>
          </a:prstGeom>
          <a:solidFill>
            <a:schemeClr val="bg2"/>
          </a:solidFill>
          <a:ln/>
        </p:spPr>
      </p:sp>
      <p:sp>
        <p:nvSpPr>
          <p:cNvPr id="23" name="Text 20"/>
          <p:cNvSpPr txBox="1"/>
          <p:nvPr/>
        </p:nvSpPr>
        <p:spPr>
          <a:xfrm>
            <a:off x="1828800" y="3931920"/>
            <a:ext cx="3337560" cy="960120"/>
          </a:xfrm>
          <a:prstGeom prst="rect">
            <a:avLst/>
          </a:prstGeom>
          <a:noFill/>
          <a:ln/>
        </p:spPr>
        <p:txBody>
          <a:bodyPr wrap="square" lIns="0" tIns="0" rIns="0" bIns="0" rtlCol="0" anchor="ctr"/>
          <a:lstStyle/>
          <a:p>
            <a:pPr algn="ctr" indent="0" marL="0">
              <a:buNone/>
            </a:pPr>
            <a:r>
              <a:rPr lang="en-US" sz="1400" dirty="0">
                <a:solidFill>
                  <a:schemeClr val="tx1"/>
                </a:solidFill>
              </a:rPr>
              <a:t>インカムで種銭づくり</a:t>
            </a:r>
            <a:endParaRPr lang="en-US" sz="1400" dirty="0"/>
          </a:p>
        </p:txBody>
      </p:sp>
      <p:sp>
        <p:nvSpPr>
          <p:cNvPr id="24" name="card"/>
          <p:cNvSpPr/>
          <p:nvPr/>
        </p:nvSpPr>
        <p:spPr>
          <a:xfrm>
            <a:off x="5257800" y="3931920"/>
            <a:ext cx="3337560" cy="960120"/>
          </a:xfrm>
          <a:prstGeom prst="roundRect">
            <a:avLst>
              <a:gd name="adj" fmla="val 7619"/>
            </a:avLst>
          </a:prstGeom>
          <a:solidFill>
            <a:schemeClr val="bg2"/>
          </a:solidFill>
          <a:ln/>
        </p:spPr>
      </p:sp>
      <p:sp>
        <p:nvSpPr>
          <p:cNvPr id="25" name="Text 22"/>
          <p:cNvSpPr txBox="1"/>
          <p:nvPr/>
        </p:nvSpPr>
        <p:spPr>
          <a:xfrm>
            <a:off x="5257800" y="3931920"/>
            <a:ext cx="3337560" cy="960120"/>
          </a:xfrm>
          <a:prstGeom prst="rect">
            <a:avLst/>
          </a:prstGeom>
          <a:noFill/>
          <a:ln/>
        </p:spPr>
        <p:txBody>
          <a:bodyPr wrap="square" lIns="0" tIns="0" rIns="0" bIns="0" rtlCol="0" anchor="ctr"/>
          <a:lstStyle/>
          <a:p>
            <a:pPr algn="ctr" indent="0" marL="0">
              <a:buNone/>
            </a:pPr>
            <a:r>
              <a:rPr lang="en-US" sz="1400" dirty="0">
                <a:solidFill>
                  <a:schemeClr val="tx1"/>
                </a:solidFill>
              </a:rPr>
              <a:t>資産の質を高める</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練馬区関町南の新築RCマンション</a:t>
            </a:r>
            <a:endParaRPr lang="en-US" sz="2600" dirty="0"/>
          </a:p>
        </p:txBody>
      </p:sp>
      <p:sp>
        <p:nvSpPr>
          <p:cNvPr id="4" name="card"/>
          <p:cNvSpPr/>
          <p:nvPr/>
        </p:nvSpPr>
        <p:spPr>
          <a:xfrm>
            <a:off x="457200" y="1280160"/>
            <a:ext cx="4023360" cy="3200400"/>
          </a:xfrm>
          <a:prstGeom prst="roundRect">
            <a:avLst>
              <a:gd name="adj" fmla="val 2286"/>
            </a:avLst>
          </a:prstGeom>
          <a:solidFill>
            <a:schemeClr val="tx1"/>
          </a:solidFill>
          <a:ln/>
        </p:spPr>
      </p:sp>
      <p:sp>
        <p:nvSpPr>
          <p:cNvPr id="5" name="Text 2"/>
          <p:cNvSpPr txBox="1"/>
          <p:nvPr/>
        </p:nvSpPr>
        <p:spPr>
          <a:xfrm>
            <a:off x="731520" y="1463040"/>
            <a:ext cx="3474720" cy="914400"/>
          </a:xfrm>
          <a:prstGeom prst="rect">
            <a:avLst/>
          </a:prstGeom>
          <a:noFill/>
          <a:ln/>
        </p:spPr>
        <p:txBody>
          <a:bodyPr wrap="square" lIns="0" tIns="0" rIns="0" bIns="0" rtlCol="0" anchor="t"/>
          <a:lstStyle/>
          <a:p>
            <a:pPr indent="0" marL="0">
              <a:buNone/>
            </a:pPr>
            <a:r>
              <a:rPr lang="en-US" sz="5400" b="1" dirty="0">
                <a:solidFill>
                  <a:schemeClr val="accent1"/>
                </a:solidFill>
              </a:rPr>
              <a:t>17戸</a:t>
            </a:r>
            <a:endParaRPr lang="en-US" sz="5400" dirty="0"/>
          </a:p>
        </p:txBody>
      </p:sp>
      <p:sp>
        <p:nvSpPr>
          <p:cNvPr id="6" name="Text 3"/>
          <p:cNvSpPr txBox="1"/>
          <p:nvPr/>
        </p:nvSpPr>
        <p:spPr>
          <a:xfrm>
            <a:off x="731520" y="2468880"/>
            <a:ext cx="3474720" cy="365760"/>
          </a:xfrm>
          <a:prstGeom prst="rect">
            <a:avLst/>
          </a:prstGeom>
          <a:noFill/>
          <a:ln/>
        </p:spPr>
        <p:txBody>
          <a:bodyPr wrap="square" lIns="0" tIns="0" rIns="0" bIns="0" rtlCol="0" anchor="t"/>
          <a:lstStyle/>
          <a:p>
            <a:pPr indent="0" marL="0">
              <a:buNone/>
            </a:pPr>
            <a:r>
              <a:rPr lang="en-US" sz="1600" dirty="0">
                <a:solidFill>
                  <a:schemeClr val="bg1"/>
                </a:solidFill>
              </a:rPr>
              <a:t>壁式RC造 地下1階・地上3階</a:t>
            </a:r>
            <a:endParaRPr lang="en-US" sz="1600" dirty="0"/>
          </a:p>
        </p:txBody>
      </p:sp>
      <p:sp>
        <p:nvSpPr>
          <p:cNvPr id="7" name="Text 4"/>
          <p:cNvSpPr txBox="1"/>
          <p:nvPr/>
        </p:nvSpPr>
        <p:spPr>
          <a:xfrm>
            <a:off x="731520" y="2926080"/>
            <a:ext cx="3474720" cy="365760"/>
          </a:xfrm>
          <a:prstGeom prst="rect">
            <a:avLst/>
          </a:prstGeom>
          <a:noFill/>
          <a:ln/>
        </p:spPr>
        <p:txBody>
          <a:bodyPr wrap="square" lIns="0" tIns="0" rIns="0" bIns="0" rtlCol="0" anchor="t"/>
          <a:lstStyle/>
          <a:p>
            <a:pPr indent="0" marL="0">
              <a:buNone/>
            </a:pPr>
            <a:r>
              <a:rPr lang="en-US" sz="1600" b="1" dirty="0">
                <a:solidFill>
                  <a:schemeClr val="accent6"/>
                </a:solidFill>
              </a:rPr>
              <a:t>総事業費 約4.2億円（未確定）</a:t>
            </a:r>
            <a:endParaRPr lang="en-US" sz="1600" dirty="0"/>
          </a:p>
        </p:txBody>
      </p:sp>
      <p:sp>
        <p:nvSpPr>
          <p:cNvPr id="8" name="Text 5"/>
          <p:cNvSpPr txBox="1"/>
          <p:nvPr/>
        </p:nvSpPr>
        <p:spPr>
          <a:xfrm>
            <a:off x="731520" y="3840480"/>
            <a:ext cx="3474720" cy="365760"/>
          </a:xfrm>
          <a:prstGeom prst="rect">
            <a:avLst/>
          </a:prstGeom>
          <a:noFill/>
          <a:ln/>
        </p:spPr>
        <p:txBody>
          <a:bodyPr wrap="square" lIns="0" tIns="0" rIns="0" bIns="0" rtlCol="0" anchor="t"/>
          <a:lstStyle/>
          <a:p>
            <a:pPr indent="0" marL="0">
              <a:buNone/>
            </a:pPr>
            <a:r>
              <a:rPr lang="en-US" sz="1300" dirty="0">
                <a:solidFill>
                  <a:schemeClr val="bg2"/>
                </a:solidFill>
              </a:rPr>
              <a:t>東京都練馬区関町南4丁目</a:t>
            </a:r>
            <a:endParaRPr lang="en-US" sz="1300" dirty="0"/>
          </a:p>
        </p:txBody>
      </p:sp>
      <p:sp>
        <p:nvSpPr>
          <p:cNvPr id="9" name="Text 6"/>
          <p:cNvSpPr txBox="1"/>
          <p:nvPr/>
        </p:nvSpPr>
        <p:spPr>
          <a:xfrm>
            <a:off x="4754880" y="1325880"/>
            <a:ext cx="1188720" cy="502920"/>
          </a:xfrm>
          <a:prstGeom prst="rect">
            <a:avLst/>
          </a:prstGeom>
          <a:noFill/>
          <a:ln/>
        </p:spPr>
        <p:txBody>
          <a:bodyPr wrap="square" lIns="0" tIns="0" rIns="0" bIns="0" rtlCol="0" anchor="ctr"/>
          <a:lstStyle/>
          <a:p>
            <a:pPr indent="0" marL="0">
              <a:buNone/>
            </a:pPr>
            <a:r>
              <a:rPr lang="en-US" sz="1300" b="1" dirty="0">
                <a:solidFill>
                  <a:schemeClr val="accent2"/>
                </a:solidFill>
              </a:rPr>
              <a:t>最寄駅</a:t>
            </a:r>
            <a:endParaRPr lang="en-US" sz="1300" dirty="0"/>
          </a:p>
        </p:txBody>
      </p:sp>
      <p:sp>
        <p:nvSpPr>
          <p:cNvPr id="10" name="Text 7"/>
          <p:cNvSpPr txBox="1"/>
          <p:nvPr/>
        </p:nvSpPr>
        <p:spPr>
          <a:xfrm>
            <a:off x="5897880" y="1325880"/>
            <a:ext cx="2834640" cy="502920"/>
          </a:xfrm>
          <a:prstGeom prst="rect">
            <a:avLst/>
          </a:prstGeom>
          <a:noFill/>
          <a:ln/>
        </p:spPr>
        <p:txBody>
          <a:bodyPr wrap="square" lIns="0" tIns="0" rIns="0" bIns="0" rtlCol="0" anchor="ctr"/>
          <a:lstStyle/>
          <a:p>
            <a:pPr indent="0" marL="0">
              <a:buNone/>
            </a:pPr>
            <a:r>
              <a:rPr lang="en-US" sz="1300" dirty="0">
                <a:solidFill>
                  <a:schemeClr val="tx1"/>
                </a:solidFill>
              </a:rPr>
              <a:t>西武新宿線 武蔵関駅 徒歩10分</a:t>
            </a:r>
            <a:endParaRPr lang="en-US" sz="1300" dirty="0"/>
          </a:p>
        </p:txBody>
      </p:sp>
      <p:sp>
        <p:nvSpPr>
          <p:cNvPr id="11" name="Text 8"/>
          <p:cNvSpPr txBox="1"/>
          <p:nvPr/>
        </p:nvSpPr>
        <p:spPr>
          <a:xfrm>
            <a:off x="4754880" y="1965960"/>
            <a:ext cx="1188720" cy="502920"/>
          </a:xfrm>
          <a:prstGeom prst="rect">
            <a:avLst/>
          </a:prstGeom>
          <a:noFill/>
          <a:ln/>
        </p:spPr>
        <p:txBody>
          <a:bodyPr wrap="square" lIns="0" tIns="0" rIns="0" bIns="0" rtlCol="0" anchor="ctr"/>
          <a:lstStyle/>
          <a:p>
            <a:pPr indent="0" marL="0">
              <a:buNone/>
            </a:pPr>
            <a:r>
              <a:rPr lang="en-US" sz="1300" b="1" dirty="0">
                <a:solidFill>
                  <a:schemeClr val="accent2"/>
                </a:solidFill>
              </a:rPr>
              <a:t>土地面積</a:t>
            </a:r>
            <a:endParaRPr lang="en-US" sz="1300" dirty="0"/>
          </a:p>
        </p:txBody>
      </p:sp>
      <p:sp>
        <p:nvSpPr>
          <p:cNvPr id="12" name="Text 9"/>
          <p:cNvSpPr txBox="1"/>
          <p:nvPr/>
        </p:nvSpPr>
        <p:spPr>
          <a:xfrm>
            <a:off x="5897880" y="1965960"/>
            <a:ext cx="2834640" cy="502920"/>
          </a:xfrm>
          <a:prstGeom prst="rect">
            <a:avLst/>
          </a:prstGeom>
          <a:noFill/>
          <a:ln/>
        </p:spPr>
        <p:txBody>
          <a:bodyPr wrap="square" lIns="0" tIns="0" rIns="0" bIns="0" rtlCol="0" anchor="ctr"/>
          <a:lstStyle/>
          <a:p>
            <a:pPr indent="0" marL="0">
              <a:buNone/>
            </a:pPr>
            <a:r>
              <a:rPr lang="en-US" sz="1300" dirty="0">
                <a:solidFill>
                  <a:schemeClr val="tx1"/>
                </a:solidFill>
              </a:rPr>
              <a:t>242.21㎡（約73.3坪）</a:t>
            </a:r>
            <a:endParaRPr lang="en-US" sz="1300" dirty="0"/>
          </a:p>
        </p:txBody>
      </p:sp>
      <p:sp>
        <p:nvSpPr>
          <p:cNvPr id="13" name="Text 10"/>
          <p:cNvSpPr txBox="1"/>
          <p:nvPr/>
        </p:nvSpPr>
        <p:spPr>
          <a:xfrm>
            <a:off x="4754880" y="2606040"/>
            <a:ext cx="1188720" cy="502920"/>
          </a:xfrm>
          <a:prstGeom prst="rect">
            <a:avLst/>
          </a:prstGeom>
          <a:noFill/>
          <a:ln/>
        </p:spPr>
        <p:txBody>
          <a:bodyPr wrap="square" lIns="0" tIns="0" rIns="0" bIns="0" rtlCol="0" anchor="ctr"/>
          <a:lstStyle/>
          <a:p>
            <a:pPr indent="0" marL="0">
              <a:buNone/>
            </a:pPr>
            <a:r>
              <a:rPr lang="en-US" sz="1300" b="1" dirty="0">
                <a:solidFill>
                  <a:schemeClr val="accent2"/>
                </a:solidFill>
              </a:rPr>
              <a:t>延床面積</a:t>
            </a:r>
            <a:endParaRPr lang="en-US" sz="1300" dirty="0"/>
          </a:p>
        </p:txBody>
      </p:sp>
      <p:sp>
        <p:nvSpPr>
          <p:cNvPr id="14" name="Text 11"/>
          <p:cNvSpPr txBox="1"/>
          <p:nvPr/>
        </p:nvSpPr>
        <p:spPr>
          <a:xfrm>
            <a:off x="5897880" y="2606040"/>
            <a:ext cx="2834640" cy="502920"/>
          </a:xfrm>
          <a:prstGeom prst="rect">
            <a:avLst/>
          </a:prstGeom>
          <a:noFill/>
          <a:ln/>
        </p:spPr>
        <p:txBody>
          <a:bodyPr wrap="square" lIns="0" tIns="0" rIns="0" bIns="0" rtlCol="0" anchor="ctr"/>
          <a:lstStyle/>
          <a:p>
            <a:pPr indent="0" marL="0">
              <a:buNone/>
            </a:pPr>
            <a:r>
              <a:rPr lang="en-US" sz="1300" dirty="0">
                <a:solidFill>
                  <a:schemeClr val="tx1"/>
                </a:solidFill>
              </a:rPr>
              <a:t>617.84㎡（約186.9坪）</a:t>
            </a:r>
            <a:endParaRPr lang="en-US" sz="1300" dirty="0"/>
          </a:p>
        </p:txBody>
      </p:sp>
      <p:sp>
        <p:nvSpPr>
          <p:cNvPr id="15" name="Text 12"/>
          <p:cNvSpPr txBox="1"/>
          <p:nvPr/>
        </p:nvSpPr>
        <p:spPr>
          <a:xfrm>
            <a:off x="4754880" y="3246120"/>
            <a:ext cx="1188720" cy="502920"/>
          </a:xfrm>
          <a:prstGeom prst="rect">
            <a:avLst/>
          </a:prstGeom>
          <a:noFill/>
          <a:ln/>
        </p:spPr>
        <p:txBody>
          <a:bodyPr wrap="square" lIns="0" tIns="0" rIns="0" bIns="0" rtlCol="0" anchor="ctr"/>
          <a:lstStyle/>
          <a:p>
            <a:pPr indent="0" marL="0">
              <a:buNone/>
            </a:pPr>
            <a:r>
              <a:rPr lang="en-US" sz="1300" b="1" dirty="0">
                <a:solidFill>
                  <a:schemeClr val="accent2"/>
                </a:solidFill>
              </a:rPr>
              <a:t>用途地域</a:t>
            </a:r>
            <a:endParaRPr lang="en-US" sz="1300" dirty="0"/>
          </a:p>
        </p:txBody>
      </p:sp>
      <p:sp>
        <p:nvSpPr>
          <p:cNvPr id="16" name="Text 13"/>
          <p:cNvSpPr txBox="1"/>
          <p:nvPr/>
        </p:nvSpPr>
        <p:spPr>
          <a:xfrm>
            <a:off x="5897880" y="3246120"/>
            <a:ext cx="2834640" cy="502920"/>
          </a:xfrm>
          <a:prstGeom prst="rect">
            <a:avLst/>
          </a:prstGeom>
          <a:noFill/>
          <a:ln/>
        </p:spPr>
        <p:txBody>
          <a:bodyPr wrap="square" lIns="0" tIns="0" rIns="0" bIns="0" rtlCol="0" anchor="ctr"/>
          <a:lstStyle/>
          <a:p>
            <a:pPr indent="0" marL="0">
              <a:buNone/>
            </a:pPr>
            <a:r>
              <a:rPr lang="en-US" sz="1300" dirty="0">
                <a:solidFill>
                  <a:schemeClr val="tx1"/>
                </a:solidFill>
              </a:rPr>
              <a:t>近隣商業 / 第一種低層住居専用</a:t>
            </a:r>
            <a:endParaRPr lang="en-US" sz="1300" dirty="0"/>
          </a:p>
        </p:txBody>
      </p:sp>
      <p:sp>
        <p:nvSpPr>
          <p:cNvPr id="17" name="Text 14"/>
          <p:cNvSpPr txBox="1"/>
          <p:nvPr/>
        </p:nvSpPr>
        <p:spPr>
          <a:xfrm>
            <a:off x="4754880" y="3886200"/>
            <a:ext cx="1188720" cy="502920"/>
          </a:xfrm>
          <a:prstGeom prst="rect">
            <a:avLst/>
          </a:prstGeom>
          <a:noFill/>
          <a:ln/>
        </p:spPr>
        <p:txBody>
          <a:bodyPr wrap="square" lIns="0" tIns="0" rIns="0" bIns="0" rtlCol="0" anchor="ctr"/>
          <a:lstStyle/>
          <a:p>
            <a:pPr indent="0" marL="0">
              <a:buNone/>
            </a:pPr>
            <a:r>
              <a:rPr lang="en-US" sz="1300" b="1" dirty="0">
                <a:solidFill>
                  <a:schemeClr val="accent2"/>
                </a:solidFill>
              </a:rPr>
              <a:t>住戸構成</a:t>
            </a:r>
            <a:endParaRPr lang="en-US" sz="1300" dirty="0"/>
          </a:p>
        </p:txBody>
      </p:sp>
      <p:sp>
        <p:nvSpPr>
          <p:cNvPr id="18" name="Text 15"/>
          <p:cNvSpPr txBox="1"/>
          <p:nvPr/>
        </p:nvSpPr>
        <p:spPr>
          <a:xfrm>
            <a:off x="5897880" y="3886200"/>
            <a:ext cx="2834640" cy="502920"/>
          </a:xfrm>
          <a:prstGeom prst="rect">
            <a:avLst/>
          </a:prstGeom>
          <a:noFill/>
          <a:ln/>
        </p:spPr>
        <p:txBody>
          <a:bodyPr wrap="square" lIns="0" tIns="0" rIns="0" bIns="0" rtlCol="0" anchor="ctr"/>
          <a:lstStyle/>
          <a:p>
            <a:pPr indent="0" marL="0">
              <a:buNone/>
            </a:pPr>
            <a:r>
              <a:rPr lang="en-US" sz="1300" dirty="0">
                <a:solidFill>
                  <a:schemeClr val="tx1"/>
                </a:solidFill>
              </a:rPr>
              <a:t>1K・1LDK・2LDK（17戸）</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計画の進め方：竣工は2028年3月ごろを想定</a:t>
            </a:r>
            <a:endParaRPr lang="en-US" sz="2600" dirty="0"/>
          </a:p>
        </p:txBody>
      </p:sp>
      <p:sp>
        <p:nvSpPr>
          <p:cNvPr id="4" name="Shape 1"/>
          <p:cNvSpPr/>
          <p:nvPr/>
        </p:nvSpPr>
        <p:spPr>
          <a:xfrm>
            <a:off x="1097280" y="2011680"/>
            <a:ext cx="6949440" cy="0"/>
          </a:xfrm>
          <a:prstGeom prst="line">
            <a:avLst/>
          </a:prstGeom>
          <a:noFill/>
          <a:ln w="25400">
            <a:solidFill>
              <a:schemeClr val="accent4"/>
            </a:solidFill>
            <a:prstDash val="solid"/>
          </a:ln>
        </p:spPr>
      </p:sp>
      <p:sp>
        <p:nvSpPr>
          <p:cNvPr id="5" name="badge"/>
          <p:cNvSpPr/>
          <p:nvPr/>
        </p:nvSpPr>
        <p:spPr>
          <a:xfrm>
            <a:off x="1097280" y="1737360"/>
            <a:ext cx="548640" cy="548640"/>
          </a:xfrm>
          <a:prstGeom prst="ellipse">
            <a:avLst/>
          </a:prstGeom>
          <a:solidFill>
            <a:schemeClr val="accent1"/>
          </a:solidFill>
          <a:ln/>
        </p:spPr>
      </p:sp>
      <p:sp>
        <p:nvSpPr>
          <p:cNvPr id="6" name="Text 3"/>
          <p:cNvSpPr txBox="1"/>
          <p:nvPr/>
        </p:nvSpPr>
        <p:spPr>
          <a:xfrm>
            <a:off x="1097280" y="1737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4"/>
          <p:cNvSpPr txBox="1"/>
          <p:nvPr/>
        </p:nvSpPr>
        <p:spPr>
          <a:xfrm>
            <a:off x="457200" y="118872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2026年10月</a:t>
            </a:r>
            <a:endParaRPr lang="en-US" sz="1400" dirty="0"/>
          </a:p>
        </p:txBody>
      </p:sp>
      <p:sp>
        <p:nvSpPr>
          <p:cNvPr id="8" name="Text 5"/>
          <p:cNvSpPr txBox="1"/>
          <p:nvPr/>
        </p:nvSpPr>
        <p:spPr>
          <a:xfrm>
            <a:off x="457200" y="2468880"/>
            <a:ext cx="1828800" cy="731520"/>
          </a:xfrm>
          <a:prstGeom prst="rect">
            <a:avLst/>
          </a:prstGeom>
          <a:noFill/>
          <a:ln/>
        </p:spPr>
        <p:txBody>
          <a:bodyPr wrap="square" lIns="0" tIns="0" rIns="0" bIns="0" rtlCol="0" anchor="t"/>
          <a:lstStyle/>
          <a:p>
            <a:pPr algn="ctr" indent="0" marL="0">
              <a:buNone/>
            </a:pPr>
            <a:r>
              <a:rPr lang="en-US" sz="1400" dirty="0">
                <a:solidFill>
                  <a:schemeClr val="tx1"/>
                </a:solidFill>
              </a:rPr>
              <a:t>設計着手</a:t>
            </a:r>
            <a:endParaRPr lang="en-US" sz="1400" dirty="0"/>
          </a:p>
        </p:txBody>
      </p:sp>
      <p:sp>
        <p:nvSpPr>
          <p:cNvPr id="9" name="badge"/>
          <p:cNvSpPr/>
          <p:nvPr/>
        </p:nvSpPr>
        <p:spPr>
          <a:xfrm>
            <a:off x="3246120" y="1737360"/>
            <a:ext cx="548640" cy="548640"/>
          </a:xfrm>
          <a:prstGeom prst="ellipse">
            <a:avLst/>
          </a:prstGeom>
          <a:solidFill>
            <a:schemeClr val="accent1"/>
          </a:solidFill>
          <a:ln/>
        </p:spPr>
      </p:sp>
      <p:sp>
        <p:nvSpPr>
          <p:cNvPr id="10" name="Text 7"/>
          <p:cNvSpPr txBox="1"/>
          <p:nvPr/>
        </p:nvSpPr>
        <p:spPr>
          <a:xfrm>
            <a:off x="3246120" y="1737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1" name="Text 8"/>
          <p:cNvSpPr txBox="1"/>
          <p:nvPr/>
        </p:nvSpPr>
        <p:spPr>
          <a:xfrm>
            <a:off x="2606040" y="118872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2027年5月</a:t>
            </a:r>
            <a:endParaRPr lang="en-US" sz="1400" dirty="0"/>
          </a:p>
        </p:txBody>
      </p:sp>
      <p:sp>
        <p:nvSpPr>
          <p:cNvPr id="12" name="Text 9"/>
          <p:cNvSpPr txBox="1"/>
          <p:nvPr/>
        </p:nvSpPr>
        <p:spPr>
          <a:xfrm>
            <a:off x="2606040" y="2468880"/>
            <a:ext cx="1828800" cy="731520"/>
          </a:xfrm>
          <a:prstGeom prst="rect">
            <a:avLst/>
          </a:prstGeom>
          <a:noFill/>
          <a:ln/>
        </p:spPr>
        <p:txBody>
          <a:bodyPr wrap="square" lIns="0" tIns="0" rIns="0" bIns="0" rtlCol="0" anchor="t"/>
          <a:lstStyle/>
          <a:p>
            <a:pPr algn="ctr" indent="0" marL="0">
              <a:buNone/>
            </a:pPr>
            <a:r>
              <a:rPr lang="en-US" sz="1400" dirty="0">
                <a:solidFill>
                  <a:schemeClr val="tx1"/>
                </a:solidFill>
              </a:rPr>
              <a:t>設計完了</a:t>
            </a:r>
            <a:endParaRPr lang="en-US" sz="1400" dirty="0"/>
          </a:p>
          <a:p>
            <a:pPr algn="ctr" indent="0" marL="0">
              <a:buNone/>
            </a:pPr>
            <a:r>
              <a:rPr lang="en-US" sz="1400" dirty="0">
                <a:solidFill>
                  <a:schemeClr val="tx1"/>
                </a:solidFill>
              </a:rPr>
              <a:t>確認申請へ</a:t>
            </a:r>
            <a:endParaRPr lang="en-US" sz="1400" dirty="0"/>
          </a:p>
        </p:txBody>
      </p:sp>
      <p:sp>
        <p:nvSpPr>
          <p:cNvPr id="13" name="badge"/>
          <p:cNvSpPr/>
          <p:nvPr/>
        </p:nvSpPr>
        <p:spPr>
          <a:xfrm>
            <a:off x="5394960" y="1737360"/>
            <a:ext cx="548640" cy="548640"/>
          </a:xfrm>
          <a:prstGeom prst="ellipse">
            <a:avLst/>
          </a:prstGeom>
          <a:solidFill>
            <a:schemeClr val="accent1"/>
          </a:solidFill>
          <a:ln/>
        </p:spPr>
      </p:sp>
      <p:sp>
        <p:nvSpPr>
          <p:cNvPr id="14" name="Text 11"/>
          <p:cNvSpPr txBox="1"/>
          <p:nvPr/>
        </p:nvSpPr>
        <p:spPr>
          <a:xfrm>
            <a:off x="5394960" y="17373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5" name="Text 12"/>
          <p:cNvSpPr txBox="1"/>
          <p:nvPr/>
        </p:nvSpPr>
        <p:spPr>
          <a:xfrm>
            <a:off x="4754880" y="118872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2027年中</a:t>
            </a:r>
            <a:endParaRPr lang="en-US" sz="1400" dirty="0"/>
          </a:p>
        </p:txBody>
      </p:sp>
      <p:sp>
        <p:nvSpPr>
          <p:cNvPr id="16" name="Text 13"/>
          <p:cNvSpPr txBox="1"/>
          <p:nvPr/>
        </p:nvSpPr>
        <p:spPr>
          <a:xfrm>
            <a:off x="4754880" y="2468880"/>
            <a:ext cx="1828800" cy="731520"/>
          </a:xfrm>
          <a:prstGeom prst="rect">
            <a:avLst/>
          </a:prstGeom>
          <a:noFill/>
          <a:ln/>
        </p:spPr>
        <p:txBody>
          <a:bodyPr wrap="square" lIns="0" tIns="0" rIns="0" bIns="0" rtlCol="0" anchor="t"/>
          <a:lstStyle/>
          <a:p>
            <a:pPr algn="ctr" indent="0" marL="0">
              <a:buNone/>
            </a:pPr>
            <a:r>
              <a:rPr lang="en-US" sz="1400" dirty="0">
                <a:solidFill>
                  <a:schemeClr val="tx1"/>
                </a:solidFill>
              </a:rPr>
              <a:t>ゼネコン選定</a:t>
            </a:r>
            <a:endParaRPr lang="en-US" sz="1400" dirty="0"/>
          </a:p>
          <a:p>
            <a:pPr algn="ctr" indent="0" marL="0">
              <a:buNone/>
            </a:pPr>
            <a:r>
              <a:rPr lang="en-US" sz="1400" dirty="0">
                <a:solidFill>
                  <a:schemeClr val="tx1"/>
                </a:solidFill>
              </a:rPr>
              <a:t>着工</a:t>
            </a:r>
            <a:endParaRPr lang="en-US" sz="1400" dirty="0"/>
          </a:p>
        </p:txBody>
      </p:sp>
      <p:sp>
        <p:nvSpPr>
          <p:cNvPr id="17" name="badge"/>
          <p:cNvSpPr/>
          <p:nvPr/>
        </p:nvSpPr>
        <p:spPr>
          <a:xfrm>
            <a:off x="7543800" y="1737360"/>
            <a:ext cx="548640" cy="548640"/>
          </a:xfrm>
          <a:prstGeom prst="ellipse">
            <a:avLst/>
          </a:prstGeom>
          <a:solidFill>
            <a:schemeClr val="accent3"/>
          </a:solidFill>
          <a:ln/>
        </p:spPr>
      </p:sp>
      <p:sp>
        <p:nvSpPr>
          <p:cNvPr id="18" name="Text 15"/>
          <p:cNvSpPr txBox="1"/>
          <p:nvPr/>
        </p:nvSpPr>
        <p:spPr>
          <a:xfrm>
            <a:off x="754380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6903720" y="118872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2028年3月ごろ</a:t>
            </a:r>
            <a:endParaRPr lang="en-US" sz="1400" dirty="0"/>
          </a:p>
        </p:txBody>
      </p:sp>
      <p:sp>
        <p:nvSpPr>
          <p:cNvPr id="20" name="Text 17"/>
          <p:cNvSpPr txBox="1"/>
          <p:nvPr/>
        </p:nvSpPr>
        <p:spPr>
          <a:xfrm>
            <a:off x="6903720" y="2468880"/>
            <a:ext cx="1828800" cy="731520"/>
          </a:xfrm>
          <a:prstGeom prst="rect">
            <a:avLst/>
          </a:prstGeom>
          <a:noFill/>
          <a:ln/>
        </p:spPr>
        <p:txBody>
          <a:bodyPr wrap="square" lIns="0" tIns="0" rIns="0" bIns="0" rtlCol="0" anchor="t"/>
          <a:lstStyle/>
          <a:p>
            <a:pPr algn="ctr" indent="0" marL="0">
              <a:buNone/>
            </a:pPr>
            <a:r>
              <a:rPr lang="en-US" sz="1400" dirty="0">
                <a:solidFill>
                  <a:schemeClr val="tx1"/>
                </a:solidFill>
              </a:rPr>
              <a:t>竣工・募集</a:t>
            </a:r>
            <a:endParaRPr lang="en-US" sz="1400" dirty="0"/>
          </a:p>
        </p:txBody>
      </p:sp>
      <p:sp>
        <p:nvSpPr>
          <p:cNvPr id="21" name="card"/>
          <p:cNvSpPr/>
          <p:nvPr/>
        </p:nvSpPr>
        <p:spPr>
          <a:xfrm>
            <a:off x="457200" y="3474720"/>
            <a:ext cx="8229600" cy="1005840"/>
          </a:xfrm>
          <a:prstGeom prst="roundRect">
            <a:avLst>
              <a:gd name="adj" fmla="val 7273"/>
            </a:avLst>
          </a:prstGeom>
          <a:solidFill>
            <a:schemeClr val="accent6"/>
          </a:solidFill>
          <a:ln/>
        </p:spPr>
      </p:sp>
      <p:sp>
        <p:nvSpPr>
          <p:cNvPr id="22" name="Text 19"/>
          <p:cNvSpPr txBox="1"/>
          <p:nvPr/>
        </p:nvSpPr>
        <p:spPr>
          <a:xfrm>
            <a:off x="731520" y="3474720"/>
            <a:ext cx="7680960" cy="1005840"/>
          </a:xfrm>
          <a:prstGeom prst="rect">
            <a:avLst/>
          </a:prstGeom>
          <a:noFill/>
          <a:ln/>
        </p:spPr>
        <p:txBody>
          <a:bodyPr wrap="square" lIns="0" tIns="0" rIns="0" bIns="0" rtlCol="0" anchor="ctr"/>
          <a:lstStyle/>
          <a:p>
            <a:pPr indent="0" marL="0">
              <a:buNone/>
            </a:pPr>
            <a:r>
              <a:rPr lang="en-US" sz="1600" b="1" dirty="0">
                <a:solidFill>
                  <a:schemeClr val="tx1"/>
                </a:solidFill>
              </a:rPr>
              <a:t>総事業費 約4.2億円は暫定。設計が固まった段階で積算を取り、収支を確定させます。</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新築を始めるときの、私の判断基準</a:t>
            </a:r>
            <a:endParaRPr lang="en-US" sz="2600" dirty="0"/>
          </a:p>
        </p:txBody>
      </p:sp>
      <p:sp>
        <p:nvSpPr>
          <p:cNvPr id="4" name="card"/>
          <p:cNvSpPr/>
          <p:nvPr/>
        </p:nvSpPr>
        <p:spPr>
          <a:xfrm>
            <a:off x="457200" y="1280160"/>
            <a:ext cx="2651760" cy="1463040"/>
          </a:xfrm>
          <a:prstGeom prst="roundRect">
            <a:avLst>
              <a:gd name="adj" fmla="val 5000"/>
            </a:avLst>
          </a:prstGeom>
          <a:solidFill>
            <a:schemeClr val="bg2"/>
          </a:solidFill>
          <a:ln/>
        </p:spPr>
      </p:sp>
      <p:sp>
        <p:nvSpPr>
          <p:cNvPr id="5" name="Text 2"/>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300" b="1" dirty="0">
                <a:solidFill>
                  <a:schemeClr val="accent2"/>
                </a:solidFill>
              </a:rPr>
              <a:t>住戸面積</a:t>
            </a:r>
            <a:endParaRPr lang="en-US" sz="1300" dirty="0"/>
          </a:p>
        </p:txBody>
      </p:sp>
      <p:sp>
        <p:nvSpPr>
          <p:cNvPr id="6" name="Text 3"/>
          <p:cNvSpPr txBox="1"/>
          <p:nvPr/>
        </p:nvSpPr>
        <p:spPr>
          <a:xfrm>
            <a:off x="640080" y="1828800"/>
            <a:ext cx="2286000" cy="822960"/>
          </a:xfrm>
          <a:prstGeom prst="rect">
            <a:avLst/>
          </a:prstGeom>
          <a:noFill/>
          <a:ln/>
        </p:spPr>
        <p:txBody>
          <a:bodyPr wrap="square" lIns="0" tIns="0" rIns="0" bIns="0" rtlCol="0" anchor="t"/>
          <a:lstStyle/>
          <a:p>
            <a:pPr indent="0" marL="0">
              <a:buNone/>
            </a:pPr>
            <a:r>
              <a:rPr lang="en-US" sz="1500" b="1" dirty="0">
                <a:solidFill>
                  <a:schemeClr val="tx1"/>
                </a:solidFill>
              </a:rPr>
              <a:t>15㎡以上</a:t>
            </a:r>
            <a:endParaRPr lang="en-US" sz="1500" dirty="0"/>
          </a:p>
        </p:txBody>
      </p:sp>
      <p:sp>
        <p:nvSpPr>
          <p:cNvPr id="7" name="card"/>
          <p:cNvSpPr/>
          <p:nvPr/>
        </p:nvSpPr>
        <p:spPr>
          <a:xfrm>
            <a:off x="3291840" y="1280160"/>
            <a:ext cx="2651760" cy="1463040"/>
          </a:xfrm>
          <a:prstGeom prst="roundRect">
            <a:avLst>
              <a:gd name="adj" fmla="val 5000"/>
            </a:avLst>
          </a:prstGeom>
          <a:solidFill>
            <a:schemeClr val="bg2"/>
          </a:solidFill>
          <a:ln/>
        </p:spPr>
      </p:sp>
      <p:sp>
        <p:nvSpPr>
          <p:cNvPr id="8" name="Text 5"/>
          <p:cNvSpPr txBox="1"/>
          <p:nvPr/>
        </p:nvSpPr>
        <p:spPr>
          <a:xfrm>
            <a:off x="3474720" y="1417320"/>
            <a:ext cx="2286000" cy="365760"/>
          </a:xfrm>
          <a:prstGeom prst="rect">
            <a:avLst/>
          </a:prstGeom>
          <a:noFill/>
          <a:ln/>
        </p:spPr>
        <p:txBody>
          <a:bodyPr wrap="square" lIns="0" tIns="0" rIns="0" bIns="0" rtlCol="0" anchor="t"/>
          <a:lstStyle/>
          <a:p>
            <a:pPr indent="0" marL="0">
              <a:buNone/>
            </a:pPr>
            <a:r>
              <a:rPr lang="en-US" sz="1300" b="1" dirty="0">
                <a:solidFill>
                  <a:schemeClr val="accent2"/>
                </a:solidFill>
              </a:rPr>
              <a:t>構造</a:t>
            </a:r>
            <a:endParaRPr lang="en-US" sz="1300" dirty="0"/>
          </a:p>
        </p:txBody>
      </p:sp>
      <p:sp>
        <p:nvSpPr>
          <p:cNvPr id="9" name="Text 6"/>
          <p:cNvSpPr txBox="1"/>
          <p:nvPr/>
        </p:nvSpPr>
        <p:spPr>
          <a:xfrm>
            <a:off x="3474720" y="1828800"/>
            <a:ext cx="2286000" cy="822960"/>
          </a:xfrm>
          <a:prstGeom prst="rect">
            <a:avLst/>
          </a:prstGeom>
          <a:noFill/>
          <a:ln/>
        </p:spPr>
        <p:txBody>
          <a:bodyPr wrap="square" lIns="0" tIns="0" rIns="0" bIns="0" rtlCol="0" anchor="t"/>
          <a:lstStyle/>
          <a:p>
            <a:pPr indent="0" marL="0">
              <a:buNone/>
            </a:pPr>
            <a:r>
              <a:rPr lang="en-US" sz="1500" b="1" dirty="0">
                <a:solidFill>
                  <a:schemeClr val="tx1"/>
                </a:solidFill>
              </a:rPr>
              <a:t>木造3階を基本</a:t>
            </a:r>
            <a:endParaRPr lang="en-US" sz="1500" dirty="0"/>
          </a:p>
          <a:p>
            <a:pPr indent="0" marL="0">
              <a:buNone/>
            </a:pPr>
            <a:r>
              <a:rPr lang="en-US" sz="1500" b="1" dirty="0">
                <a:solidFill>
                  <a:schemeClr val="tx1"/>
                </a:solidFill>
              </a:rPr>
              <a:t>（RCは立地次第）</a:t>
            </a:r>
            <a:endParaRPr lang="en-US" sz="1500" dirty="0"/>
          </a:p>
        </p:txBody>
      </p:sp>
      <p:sp>
        <p:nvSpPr>
          <p:cNvPr id="10" name="card"/>
          <p:cNvSpPr/>
          <p:nvPr/>
        </p:nvSpPr>
        <p:spPr>
          <a:xfrm>
            <a:off x="6126480" y="1280160"/>
            <a:ext cx="2651760" cy="1463040"/>
          </a:xfrm>
          <a:prstGeom prst="roundRect">
            <a:avLst>
              <a:gd name="adj" fmla="val 5000"/>
            </a:avLst>
          </a:prstGeom>
          <a:solidFill>
            <a:schemeClr val="bg2"/>
          </a:solidFill>
          <a:ln/>
        </p:spPr>
      </p:sp>
      <p:sp>
        <p:nvSpPr>
          <p:cNvPr id="11" name="Text 8"/>
          <p:cNvSpPr txBox="1"/>
          <p:nvPr/>
        </p:nvSpPr>
        <p:spPr>
          <a:xfrm>
            <a:off x="6309360" y="1417320"/>
            <a:ext cx="2286000" cy="365760"/>
          </a:xfrm>
          <a:prstGeom prst="rect">
            <a:avLst/>
          </a:prstGeom>
          <a:noFill/>
          <a:ln/>
        </p:spPr>
        <p:txBody>
          <a:bodyPr wrap="square" lIns="0" tIns="0" rIns="0" bIns="0" rtlCol="0" anchor="t"/>
          <a:lstStyle/>
          <a:p>
            <a:pPr indent="0" marL="0">
              <a:buNone/>
            </a:pPr>
            <a:r>
              <a:rPr lang="en-US" sz="1300" b="1" dirty="0">
                <a:solidFill>
                  <a:schemeClr val="accent2"/>
                </a:solidFill>
              </a:rPr>
              <a:t>有効率</a:t>
            </a:r>
            <a:endParaRPr lang="en-US" sz="1300" dirty="0"/>
          </a:p>
        </p:txBody>
      </p:sp>
      <p:sp>
        <p:nvSpPr>
          <p:cNvPr id="12" name="Text 9"/>
          <p:cNvSpPr txBox="1"/>
          <p:nvPr/>
        </p:nvSpPr>
        <p:spPr>
          <a:xfrm>
            <a:off x="6309360" y="1828800"/>
            <a:ext cx="2286000" cy="822960"/>
          </a:xfrm>
          <a:prstGeom prst="rect">
            <a:avLst/>
          </a:prstGeom>
          <a:noFill/>
          <a:ln/>
        </p:spPr>
        <p:txBody>
          <a:bodyPr wrap="square" lIns="0" tIns="0" rIns="0" bIns="0" rtlCol="0" anchor="t"/>
          <a:lstStyle/>
          <a:p>
            <a:pPr indent="0" marL="0">
              <a:buNone/>
            </a:pPr>
            <a:r>
              <a:rPr lang="en-US" sz="1500" b="1" dirty="0">
                <a:solidFill>
                  <a:schemeClr val="tx1"/>
                </a:solidFill>
              </a:rPr>
              <a:t>80%</a:t>
            </a:r>
            <a:endParaRPr lang="en-US" sz="1500" dirty="0"/>
          </a:p>
        </p:txBody>
      </p:sp>
      <p:sp>
        <p:nvSpPr>
          <p:cNvPr id="13" name="card"/>
          <p:cNvSpPr/>
          <p:nvPr/>
        </p:nvSpPr>
        <p:spPr>
          <a:xfrm>
            <a:off x="457200" y="2926080"/>
            <a:ext cx="2651760" cy="1463040"/>
          </a:xfrm>
          <a:prstGeom prst="roundRect">
            <a:avLst>
              <a:gd name="adj" fmla="val 5000"/>
            </a:avLst>
          </a:prstGeom>
          <a:solidFill>
            <a:schemeClr val="bg2"/>
          </a:solidFill>
          <a:ln/>
        </p:spPr>
      </p:sp>
      <p:sp>
        <p:nvSpPr>
          <p:cNvPr id="14" name="Text 11"/>
          <p:cNvSpPr txBox="1"/>
          <p:nvPr/>
        </p:nvSpPr>
        <p:spPr>
          <a:xfrm>
            <a:off x="640080" y="3063240"/>
            <a:ext cx="2286000" cy="365760"/>
          </a:xfrm>
          <a:prstGeom prst="rect">
            <a:avLst/>
          </a:prstGeom>
          <a:noFill/>
          <a:ln/>
        </p:spPr>
        <p:txBody>
          <a:bodyPr wrap="square" lIns="0" tIns="0" rIns="0" bIns="0" rtlCol="0" anchor="t"/>
          <a:lstStyle/>
          <a:p>
            <a:pPr indent="0" marL="0">
              <a:buNone/>
            </a:pPr>
            <a:r>
              <a:rPr lang="en-US" sz="1300" b="1" dirty="0">
                <a:solidFill>
                  <a:schemeClr val="accent2"/>
                </a:solidFill>
              </a:rPr>
              <a:t>利回り目安</a:t>
            </a:r>
            <a:endParaRPr lang="en-US" sz="1300" dirty="0"/>
          </a:p>
        </p:txBody>
      </p:sp>
      <p:sp>
        <p:nvSpPr>
          <p:cNvPr id="15" name="Text 12"/>
          <p:cNvSpPr txBox="1"/>
          <p:nvPr/>
        </p:nvSpPr>
        <p:spPr>
          <a:xfrm>
            <a:off x="640080" y="3474720"/>
            <a:ext cx="2286000" cy="822960"/>
          </a:xfrm>
          <a:prstGeom prst="rect">
            <a:avLst/>
          </a:prstGeom>
          <a:noFill/>
          <a:ln/>
        </p:spPr>
        <p:txBody>
          <a:bodyPr wrap="square" lIns="0" tIns="0" rIns="0" bIns="0" rtlCol="0" anchor="t"/>
          <a:lstStyle/>
          <a:p>
            <a:pPr indent="0" marL="0">
              <a:buNone/>
            </a:pPr>
            <a:r>
              <a:rPr lang="en-US" sz="1500" b="1" dirty="0">
                <a:solidFill>
                  <a:schemeClr val="tx1"/>
                </a:solidFill>
              </a:rPr>
              <a:t>木造は8.5%以上</a:t>
            </a:r>
            <a:endParaRPr lang="en-US" sz="1500" dirty="0"/>
          </a:p>
          <a:p>
            <a:pPr indent="0" marL="0">
              <a:buNone/>
            </a:pPr>
            <a:r>
              <a:rPr lang="en-US" sz="1500" b="1" dirty="0">
                <a:solidFill>
                  <a:schemeClr val="tx1"/>
                </a:solidFill>
              </a:rPr>
              <a:t>（16号線内側）</a:t>
            </a:r>
            <a:endParaRPr lang="en-US" sz="1500" dirty="0"/>
          </a:p>
        </p:txBody>
      </p:sp>
      <p:sp>
        <p:nvSpPr>
          <p:cNvPr id="16" name="card"/>
          <p:cNvSpPr/>
          <p:nvPr/>
        </p:nvSpPr>
        <p:spPr>
          <a:xfrm>
            <a:off x="3291840" y="2926080"/>
            <a:ext cx="2651760" cy="1463040"/>
          </a:xfrm>
          <a:prstGeom prst="roundRect">
            <a:avLst>
              <a:gd name="adj" fmla="val 5000"/>
            </a:avLst>
          </a:prstGeom>
          <a:solidFill>
            <a:schemeClr val="bg2"/>
          </a:solidFill>
          <a:ln/>
        </p:spPr>
      </p:sp>
      <p:sp>
        <p:nvSpPr>
          <p:cNvPr id="17" name="Text 14"/>
          <p:cNvSpPr txBox="1"/>
          <p:nvPr/>
        </p:nvSpPr>
        <p:spPr>
          <a:xfrm>
            <a:off x="3474720" y="3063240"/>
            <a:ext cx="2286000" cy="365760"/>
          </a:xfrm>
          <a:prstGeom prst="rect">
            <a:avLst/>
          </a:prstGeom>
          <a:noFill/>
          <a:ln/>
        </p:spPr>
        <p:txBody>
          <a:bodyPr wrap="square" lIns="0" tIns="0" rIns="0" bIns="0" rtlCol="0" anchor="t"/>
          <a:lstStyle/>
          <a:p>
            <a:pPr indent="0" marL="0">
              <a:buNone/>
            </a:pPr>
            <a:r>
              <a:rPr lang="en-US" sz="1300" b="1" dirty="0">
                <a:solidFill>
                  <a:schemeClr val="accent2"/>
                </a:solidFill>
              </a:rPr>
              <a:t>規制確認</a:t>
            </a:r>
            <a:endParaRPr lang="en-US" sz="1300" dirty="0"/>
          </a:p>
        </p:txBody>
      </p:sp>
      <p:sp>
        <p:nvSpPr>
          <p:cNvPr id="18" name="Text 15"/>
          <p:cNvSpPr txBox="1"/>
          <p:nvPr/>
        </p:nvSpPr>
        <p:spPr>
          <a:xfrm>
            <a:off x="3474720" y="3474720"/>
            <a:ext cx="2286000" cy="822960"/>
          </a:xfrm>
          <a:prstGeom prst="rect">
            <a:avLst/>
          </a:prstGeom>
          <a:noFill/>
          <a:ln/>
        </p:spPr>
        <p:txBody>
          <a:bodyPr wrap="square" lIns="0" tIns="0" rIns="0" bIns="0" rtlCol="0" anchor="t"/>
          <a:lstStyle/>
          <a:p>
            <a:pPr indent="0" marL="0">
              <a:buNone/>
            </a:pPr>
            <a:r>
              <a:rPr lang="en-US" sz="1500" b="1" dirty="0">
                <a:solidFill>
                  <a:schemeClr val="tx1"/>
                </a:solidFill>
              </a:rPr>
              <a:t>区のワンルーム条例・</a:t>
            </a:r>
            <a:endParaRPr lang="en-US" sz="1500" dirty="0"/>
          </a:p>
          <a:p>
            <a:pPr indent="0" marL="0">
              <a:buNone/>
            </a:pPr>
            <a:r>
              <a:rPr lang="en-US" sz="1500" b="1" dirty="0">
                <a:solidFill>
                  <a:schemeClr val="tx1"/>
                </a:solidFill>
              </a:rPr>
              <a:t>指導要綱に必ず照合</a:t>
            </a:r>
            <a:endParaRPr lang="en-US" sz="1500" dirty="0"/>
          </a:p>
        </p:txBody>
      </p:sp>
      <p:sp>
        <p:nvSpPr>
          <p:cNvPr id="19" name="card"/>
          <p:cNvSpPr/>
          <p:nvPr/>
        </p:nvSpPr>
        <p:spPr>
          <a:xfrm>
            <a:off x="6126480" y="2926080"/>
            <a:ext cx="2651760" cy="1463040"/>
          </a:xfrm>
          <a:prstGeom prst="roundRect">
            <a:avLst>
              <a:gd name="adj" fmla="val 5000"/>
            </a:avLst>
          </a:prstGeom>
          <a:solidFill>
            <a:schemeClr val="bg2"/>
          </a:solidFill>
          <a:ln/>
        </p:spPr>
      </p:sp>
      <p:sp>
        <p:nvSpPr>
          <p:cNvPr id="20" name="Text 17"/>
          <p:cNvSpPr txBox="1"/>
          <p:nvPr/>
        </p:nvSpPr>
        <p:spPr>
          <a:xfrm>
            <a:off x="6309360" y="3063240"/>
            <a:ext cx="2286000" cy="365760"/>
          </a:xfrm>
          <a:prstGeom prst="rect">
            <a:avLst/>
          </a:prstGeom>
          <a:noFill/>
          <a:ln/>
        </p:spPr>
        <p:txBody>
          <a:bodyPr wrap="square" lIns="0" tIns="0" rIns="0" bIns="0" rtlCol="0" anchor="t"/>
          <a:lstStyle/>
          <a:p>
            <a:pPr indent="0" marL="0">
              <a:buNone/>
            </a:pPr>
            <a:r>
              <a:rPr lang="en-US" sz="1300" b="1" dirty="0">
                <a:solidFill>
                  <a:schemeClr val="accent2"/>
                </a:solidFill>
              </a:rPr>
              <a:t>建築費</a:t>
            </a:r>
            <a:endParaRPr lang="en-US" sz="1300" dirty="0"/>
          </a:p>
        </p:txBody>
      </p:sp>
      <p:sp>
        <p:nvSpPr>
          <p:cNvPr id="21" name="Text 18"/>
          <p:cNvSpPr txBox="1"/>
          <p:nvPr/>
        </p:nvSpPr>
        <p:spPr>
          <a:xfrm>
            <a:off x="6309360" y="3474720"/>
            <a:ext cx="2286000" cy="822960"/>
          </a:xfrm>
          <a:prstGeom prst="rect">
            <a:avLst/>
          </a:prstGeom>
          <a:noFill/>
          <a:ln/>
        </p:spPr>
        <p:txBody>
          <a:bodyPr wrap="square" lIns="0" tIns="0" rIns="0" bIns="0" rtlCol="0" anchor="t"/>
          <a:lstStyle/>
          <a:p>
            <a:pPr indent="0" marL="0">
              <a:buNone/>
            </a:pPr>
            <a:r>
              <a:rPr lang="en-US" sz="1500" b="1" dirty="0">
                <a:solidFill>
                  <a:schemeClr val="tx1"/>
                </a:solidFill>
              </a:rPr>
              <a:t>木造 坪70万円</a:t>
            </a:r>
            <a:endParaRPr lang="en-US" sz="1500" dirty="0"/>
          </a:p>
          <a:p>
            <a:pPr indent="0" marL="0">
              <a:buNone/>
            </a:pPr>
            <a:r>
              <a:rPr lang="en-US" sz="1500" b="1" dirty="0">
                <a:solidFill>
                  <a:schemeClr val="tx1"/>
                </a:solidFill>
              </a:rPr>
              <a:t>（解体・諸費用は別）</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リスクと、その備え</a:t>
            </a:r>
            <a:endParaRPr lang="en-US" sz="2600" dirty="0"/>
          </a:p>
        </p:txBody>
      </p:sp>
      <p:sp>
        <p:nvSpPr>
          <p:cNvPr id="4" name="card"/>
          <p:cNvSpPr/>
          <p:nvPr/>
        </p:nvSpPr>
        <p:spPr>
          <a:xfrm>
            <a:off x="457200" y="1280160"/>
            <a:ext cx="8229600" cy="713232"/>
          </a:xfrm>
          <a:prstGeom prst="roundRect">
            <a:avLst>
              <a:gd name="adj" fmla="val 10256"/>
            </a:avLst>
          </a:prstGeom>
          <a:solidFill>
            <a:schemeClr val="bg2"/>
          </a:solidFill>
          <a:ln/>
        </p:spPr>
      </p:sp>
      <p:sp>
        <p:nvSpPr>
          <p:cNvPr id="5" name="Text 2"/>
          <p:cNvSpPr txBox="1"/>
          <p:nvPr/>
        </p:nvSpPr>
        <p:spPr>
          <a:xfrm>
            <a:off x="685800" y="1280160"/>
            <a:ext cx="2011680" cy="713232"/>
          </a:xfrm>
          <a:prstGeom prst="rect">
            <a:avLst/>
          </a:prstGeom>
          <a:noFill/>
          <a:ln/>
        </p:spPr>
        <p:txBody>
          <a:bodyPr wrap="square" lIns="0" tIns="0" rIns="0" bIns="0" rtlCol="0" anchor="ctr"/>
          <a:lstStyle/>
          <a:p>
            <a:pPr indent="0" marL="0">
              <a:buNone/>
            </a:pPr>
            <a:r>
              <a:rPr lang="en-US" sz="1600" b="1" dirty="0">
                <a:solidFill>
                  <a:schemeClr val="accent3"/>
                </a:solidFill>
              </a:rPr>
              <a:t>空室</a:t>
            </a:r>
            <a:endParaRPr lang="en-US" sz="1600" dirty="0"/>
          </a:p>
        </p:txBody>
      </p:sp>
      <p:sp>
        <p:nvSpPr>
          <p:cNvPr id="6" name="Text 3"/>
          <p:cNvSpPr txBox="1"/>
          <p:nvPr/>
        </p:nvSpPr>
        <p:spPr>
          <a:xfrm>
            <a:off x="2743200" y="1280160"/>
            <a:ext cx="5760720" cy="713232"/>
          </a:xfrm>
          <a:prstGeom prst="rect">
            <a:avLst/>
          </a:prstGeom>
          <a:noFill/>
          <a:ln/>
        </p:spPr>
        <p:txBody>
          <a:bodyPr wrap="square" lIns="0" tIns="0" rIns="0" bIns="0" rtlCol="0" anchor="ctr"/>
          <a:lstStyle/>
          <a:p>
            <a:pPr indent="0" marL="0">
              <a:buNone/>
            </a:pPr>
            <a:r>
              <a:rPr lang="en-US" sz="1400" dirty="0">
                <a:solidFill>
                  <a:schemeClr val="tx1"/>
                </a:solidFill>
              </a:rPr>
              <a:t>満室想定でなく、安い賃料でも回る物件を選ぶ</a:t>
            </a:r>
            <a:endParaRPr lang="en-US" sz="1400" dirty="0"/>
          </a:p>
        </p:txBody>
      </p:sp>
      <p:sp>
        <p:nvSpPr>
          <p:cNvPr id="7" name="card"/>
          <p:cNvSpPr/>
          <p:nvPr/>
        </p:nvSpPr>
        <p:spPr>
          <a:xfrm>
            <a:off x="457200" y="2103120"/>
            <a:ext cx="8229600" cy="713232"/>
          </a:xfrm>
          <a:prstGeom prst="roundRect">
            <a:avLst>
              <a:gd name="adj" fmla="val 10256"/>
            </a:avLst>
          </a:prstGeom>
          <a:solidFill>
            <a:schemeClr val="bg2"/>
          </a:solidFill>
          <a:ln/>
        </p:spPr>
      </p:sp>
      <p:sp>
        <p:nvSpPr>
          <p:cNvPr id="8" name="Text 5"/>
          <p:cNvSpPr txBox="1"/>
          <p:nvPr/>
        </p:nvSpPr>
        <p:spPr>
          <a:xfrm>
            <a:off x="685800" y="2103120"/>
            <a:ext cx="2011680" cy="713232"/>
          </a:xfrm>
          <a:prstGeom prst="rect">
            <a:avLst/>
          </a:prstGeom>
          <a:noFill/>
          <a:ln/>
        </p:spPr>
        <p:txBody>
          <a:bodyPr wrap="square" lIns="0" tIns="0" rIns="0" bIns="0" rtlCol="0" anchor="ctr"/>
          <a:lstStyle/>
          <a:p>
            <a:pPr indent="0" marL="0">
              <a:buNone/>
            </a:pPr>
            <a:r>
              <a:rPr lang="en-US" sz="1600" b="1" dirty="0">
                <a:solidFill>
                  <a:schemeClr val="accent3"/>
                </a:solidFill>
              </a:rPr>
              <a:t>金利上昇</a:t>
            </a:r>
            <a:endParaRPr lang="en-US" sz="1600" dirty="0"/>
          </a:p>
        </p:txBody>
      </p:sp>
      <p:sp>
        <p:nvSpPr>
          <p:cNvPr id="9" name="Text 6"/>
          <p:cNvSpPr txBox="1"/>
          <p:nvPr/>
        </p:nvSpPr>
        <p:spPr>
          <a:xfrm>
            <a:off x="2743200" y="2103120"/>
            <a:ext cx="5760720" cy="713232"/>
          </a:xfrm>
          <a:prstGeom prst="rect">
            <a:avLst/>
          </a:prstGeom>
          <a:noFill/>
          <a:ln/>
        </p:spPr>
        <p:txBody>
          <a:bodyPr wrap="square" lIns="0" tIns="0" rIns="0" bIns="0" rtlCol="0" anchor="ctr"/>
          <a:lstStyle/>
          <a:p>
            <a:pPr indent="0" marL="0">
              <a:buNone/>
            </a:pPr>
            <a:r>
              <a:rPr lang="en-US" sz="1400" dirty="0">
                <a:solidFill>
                  <a:schemeClr val="tx1"/>
                </a:solidFill>
              </a:rPr>
              <a:t>耐用年数内で返済、現金を厚めに保有</a:t>
            </a:r>
            <a:endParaRPr lang="en-US" sz="1400" dirty="0"/>
          </a:p>
        </p:txBody>
      </p:sp>
      <p:sp>
        <p:nvSpPr>
          <p:cNvPr id="10" name="card"/>
          <p:cNvSpPr/>
          <p:nvPr/>
        </p:nvSpPr>
        <p:spPr>
          <a:xfrm>
            <a:off x="457200" y="2926080"/>
            <a:ext cx="8229600" cy="713232"/>
          </a:xfrm>
          <a:prstGeom prst="roundRect">
            <a:avLst>
              <a:gd name="adj" fmla="val 10256"/>
            </a:avLst>
          </a:prstGeom>
          <a:solidFill>
            <a:schemeClr val="bg2"/>
          </a:solidFill>
          <a:ln/>
        </p:spPr>
      </p:sp>
      <p:sp>
        <p:nvSpPr>
          <p:cNvPr id="11" name="Text 8"/>
          <p:cNvSpPr txBox="1"/>
          <p:nvPr/>
        </p:nvSpPr>
        <p:spPr>
          <a:xfrm>
            <a:off x="685800" y="2926080"/>
            <a:ext cx="2011680" cy="713232"/>
          </a:xfrm>
          <a:prstGeom prst="rect">
            <a:avLst/>
          </a:prstGeom>
          <a:noFill/>
          <a:ln/>
        </p:spPr>
        <p:txBody>
          <a:bodyPr wrap="square" lIns="0" tIns="0" rIns="0" bIns="0" rtlCol="0" anchor="ctr"/>
          <a:lstStyle/>
          <a:p>
            <a:pPr indent="0" marL="0">
              <a:buNone/>
            </a:pPr>
            <a:r>
              <a:rPr lang="en-US" sz="1600" b="1" dirty="0">
                <a:solidFill>
                  <a:schemeClr val="accent3"/>
                </a:solidFill>
              </a:rPr>
              <a:t>建築費の高騰</a:t>
            </a:r>
            <a:endParaRPr lang="en-US" sz="1600" dirty="0"/>
          </a:p>
        </p:txBody>
      </p:sp>
      <p:sp>
        <p:nvSpPr>
          <p:cNvPr id="12" name="Text 9"/>
          <p:cNvSpPr txBox="1"/>
          <p:nvPr/>
        </p:nvSpPr>
        <p:spPr>
          <a:xfrm>
            <a:off x="2743200" y="2926080"/>
            <a:ext cx="5760720" cy="713232"/>
          </a:xfrm>
          <a:prstGeom prst="rect">
            <a:avLst/>
          </a:prstGeom>
          <a:noFill/>
          <a:ln/>
        </p:spPr>
        <p:txBody>
          <a:bodyPr wrap="square" lIns="0" tIns="0" rIns="0" bIns="0" rtlCol="0" anchor="ctr"/>
          <a:lstStyle/>
          <a:p>
            <a:pPr indent="0" marL="0">
              <a:buNone/>
            </a:pPr>
            <a:r>
              <a:rPr lang="en-US" sz="1400" dirty="0">
                <a:solidFill>
                  <a:schemeClr val="tx1"/>
                </a:solidFill>
              </a:rPr>
              <a:t>設計段階で積算し、予算に合わせて設計を見直す</a:t>
            </a:r>
            <a:endParaRPr lang="en-US" sz="1400" dirty="0"/>
          </a:p>
        </p:txBody>
      </p:sp>
      <p:sp>
        <p:nvSpPr>
          <p:cNvPr id="13" name="card"/>
          <p:cNvSpPr/>
          <p:nvPr/>
        </p:nvSpPr>
        <p:spPr>
          <a:xfrm>
            <a:off x="457200" y="3749040"/>
            <a:ext cx="8229600" cy="713232"/>
          </a:xfrm>
          <a:prstGeom prst="roundRect">
            <a:avLst>
              <a:gd name="adj" fmla="val 10256"/>
            </a:avLst>
          </a:prstGeom>
          <a:solidFill>
            <a:schemeClr val="bg2"/>
          </a:solidFill>
          <a:ln/>
        </p:spPr>
      </p:sp>
      <p:sp>
        <p:nvSpPr>
          <p:cNvPr id="14" name="Text 11"/>
          <p:cNvSpPr txBox="1"/>
          <p:nvPr/>
        </p:nvSpPr>
        <p:spPr>
          <a:xfrm>
            <a:off x="685800" y="3749040"/>
            <a:ext cx="2011680" cy="713232"/>
          </a:xfrm>
          <a:prstGeom prst="rect">
            <a:avLst/>
          </a:prstGeom>
          <a:noFill/>
          <a:ln/>
        </p:spPr>
        <p:txBody>
          <a:bodyPr wrap="square" lIns="0" tIns="0" rIns="0" bIns="0" rtlCol="0" anchor="ctr"/>
          <a:lstStyle/>
          <a:p>
            <a:pPr indent="0" marL="0">
              <a:buNone/>
            </a:pPr>
            <a:r>
              <a:rPr lang="en-US" sz="1600" b="1" dirty="0">
                <a:solidFill>
                  <a:schemeClr val="accent3"/>
                </a:solidFill>
              </a:rPr>
              <a:t>出口</a:t>
            </a:r>
            <a:endParaRPr lang="en-US" sz="1600" dirty="0"/>
          </a:p>
        </p:txBody>
      </p:sp>
      <p:sp>
        <p:nvSpPr>
          <p:cNvPr id="15" name="Text 12"/>
          <p:cNvSpPr txBox="1"/>
          <p:nvPr/>
        </p:nvSpPr>
        <p:spPr>
          <a:xfrm>
            <a:off x="2743200" y="3749040"/>
            <a:ext cx="5760720" cy="713232"/>
          </a:xfrm>
          <a:prstGeom prst="rect">
            <a:avLst/>
          </a:prstGeom>
          <a:noFill/>
          <a:ln/>
        </p:spPr>
        <p:txBody>
          <a:bodyPr wrap="square" lIns="0" tIns="0" rIns="0" bIns="0" rtlCol="0" anchor="ctr"/>
          <a:lstStyle/>
          <a:p>
            <a:pPr indent="0" marL="0">
              <a:buNone/>
            </a:pPr>
            <a:r>
              <a:rPr lang="en-US" sz="1400" dirty="0">
                <a:solidFill>
                  <a:schemeClr val="tx1"/>
                </a:solidFill>
              </a:rPr>
              <a:t>積算が厚く、売っても銀行に説明できる物件を持つ</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今後のロードマップ</a:t>
            </a:r>
            <a:endParaRPr lang="en-US" sz="2600" dirty="0"/>
          </a:p>
        </p:txBody>
      </p:sp>
      <p:sp>
        <p:nvSpPr>
          <p:cNvPr id="4" name="card"/>
          <p:cNvSpPr/>
          <p:nvPr/>
        </p:nvSpPr>
        <p:spPr>
          <a:xfrm>
            <a:off x="457200" y="1371600"/>
            <a:ext cx="2651760" cy="2743200"/>
          </a:xfrm>
          <a:prstGeom prst="roundRect">
            <a:avLst>
              <a:gd name="adj" fmla="val 2759"/>
            </a:avLst>
          </a:prstGeom>
          <a:solidFill>
            <a:schemeClr val="bg2"/>
          </a:solidFill>
          <a:ln/>
        </p:spPr>
      </p:sp>
      <p:sp>
        <p:nvSpPr>
          <p:cNvPr id="5" name="badge"/>
          <p:cNvSpPr/>
          <p:nvPr/>
        </p:nvSpPr>
        <p:spPr>
          <a:xfrm>
            <a:off x="685800" y="1554480"/>
            <a:ext cx="548640" cy="548640"/>
          </a:xfrm>
          <a:prstGeom prst="ellipse">
            <a:avLst/>
          </a:prstGeom>
          <a:solidFill>
            <a:schemeClr val="accent1"/>
          </a:solidFill>
          <a:ln/>
        </p:spPr>
      </p:sp>
      <p:sp>
        <p:nvSpPr>
          <p:cNvPr id="6" name="Text 3"/>
          <p:cNvSpPr txBox="1"/>
          <p:nvPr/>
        </p:nvSpPr>
        <p:spPr>
          <a:xfrm>
            <a:off x="685800" y="1554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4"/>
          <p:cNvSpPr txBox="1"/>
          <p:nvPr/>
        </p:nvSpPr>
        <p:spPr>
          <a:xfrm>
            <a:off x="685800" y="2286000"/>
            <a:ext cx="2286000" cy="457200"/>
          </a:xfrm>
          <a:prstGeom prst="rect">
            <a:avLst/>
          </a:prstGeom>
          <a:noFill/>
          <a:ln/>
        </p:spPr>
        <p:txBody>
          <a:bodyPr wrap="square" lIns="0" tIns="0" rIns="0" bIns="0" rtlCol="0" anchor="t"/>
          <a:lstStyle/>
          <a:p>
            <a:pPr indent="0" marL="0">
              <a:buNone/>
            </a:pPr>
            <a:r>
              <a:rPr lang="en-US" sz="1700" b="1" dirty="0">
                <a:solidFill>
                  <a:schemeClr val="accent2"/>
                </a:solidFill>
              </a:rPr>
              <a:t>いま〜2027年</a:t>
            </a:r>
            <a:endParaRPr lang="en-US" sz="1700" dirty="0"/>
          </a:p>
        </p:txBody>
      </p:sp>
      <p:sp>
        <p:nvSpPr>
          <p:cNvPr id="8" name="Text 5"/>
          <p:cNvSpPr txBox="1"/>
          <p:nvPr/>
        </p:nvSpPr>
        <p:spPr>
          <a:xfrm>
            <a:off x="685800" y="2834640"/>
            <a:ext cx="2286000" cy="1097280"/>
          </a:xfrm>
          <a:prstGeom prst="rect">
            <a:avLst/>
          </a:prstGeom>
          <a:noFill/>
          <a:ln/>
        </p:spPr>
        <p:txBody>
          <a:bodyPr wrap="square" lIns="0" tIns="0" rIns="0" bIns="0" rtlCol="0" anchor="t"/>
          <a:lstStyle/>
          <a:p>
            <a:pPr indent="0" marL="0">
              <a:buNone/>
            </a:pPr>
            <a:r>
              <a:rPr lang="en-US" sz="1400" dirty="0">
                <a:solidFill>
                  <a:schemeClr val="tx1"/>
                </a:solidFill>
              </a:rPr>
              <a:t>再生を進めつつ</a:t>
            </a:r>
            <a:endParaRPr lang="en-US" sz="1400" dirty="0"/>
          </a:p>
          <a:p>
            <a:pPr indent="0" marL="0">
              <a:buNone/>
            </a:pPr>
            <a:r>
              <a:rPr lang="en-US" sz="1400" dirty="0">
                <a:solidFill>
                  <a:schemeClr val="tx1"/>
                </a:solidFill>
              </a:rPr>
              <a:t>関町南の設計・確認申請</a:t>
            </a:r>
            <a:endParaRPr lang="en-US" sz="1400" dirty="0"/>
          </a:p>
        </p:txBody>
      </p:sp>
      <p:sp>
        <p:nvSpPr>
          <p:cNvPr id="9" name="card"/>
          <p:cNvSpPr/>
          <p:nvPr/>
        </p:nvSpPr>
        <p:spPr>
          <a:xfrm>
            <a:off x="3291840" y="1371600"/>
            <a:ext cx="2651760" cy="2743200"/>
          </a:xfrm>
          <a:prstGeom prst="roundRect">
            <a:avLst>
              <a:gd name="adj" fmla="val 2759"/>
            </a:avLst>
          </a:prstGeom>
          <a:solidFill>
            <a:schemeClr val="bg2"/>
          </a:solidFill>
          <a:ln/>
        </p:spPr>
      </p:sp>
      <p:sp>
        <p:nvSpPr>
          <p:cNvPr id="10" name="badge"/>
          <p:cNvSpPr/>
          <p:nvPr/>
        </p:nvSpPr>
        <p:spPr>
          <a:xfrm>
            <a:off x="3520440" y="1554480"/>
            <a:ext cx="548640" cy="548640"/>
          </a:xfrm>
          <a:prstGeom prst="ellipse">
            <a:avLst/>
          </a:prstGeom>
          <a:solidFill>
            <a:schemeClr val="accent1"/>
          </a:solidFill>
          <a:ln/>
        </p:spPr>
      </p:sp>
      <p:sp>
        <p:nvSpPr>
          <p:cNvPr id="11" name="Text 8"/>
          <p:cNvSpPr txBox="1"/>
          <p:nvPr/>
        </p:nvSpPr>
        <p:spPr>
          <a:xfrm>
            <a:off x="3520440" y="1554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9"/>
          <p:cNvSpPr txBox="1"/>
          <p:nvPr/>
        </p:nvSpPr>
        <p:spPr>
          <a:xfrm>
            <a:off x="3520440" y="2286000"/>
            <a:ext cx="2286000" cy="457200"/>
          </a:xfrm>
          <a:prstGeom prst="rect">
            <a:avLst/>
          </a:prstGeom>
          <a:noFill/>
          <a:ln/>
        </p:spPr>
        <p:txBody>
          <a:bodyPr wrap="square" lIns="0" tIns="0" rIns="0" bIns="0" rtlCol="0" anchor="t"/>
          <a:lstStyle/>
          <a:p>
            <a:pPr indent="0" marL="0">
              <a:buNone/>
            </a:pPr>
            <a:r>
              <a:rPr lang="en-US" sz="1700" b="1" dirty="0">
                <a:solidFill>
                  <a:schemeClr val="accent2"/>
                </a:solidFill>
              </a:rPr>
              <a:t>2027〜2028年</a:t>
            </a:r>
            <a:endParaRPr lang="en-US" sz="1700" dirty="0"/>
          </a:p>
        </p:txBody>
      </p:sp>
      <p:sp>
        <p:nvSpPr>
          <p:cNvPr id="13" name="Text 10"/>
          <p:cNvSpPr txBox="1"/>
          <p:nvPr/>
        </p:nvSpPr>
        <p:spPr>
          <a:xfrm>
            <a:off x="3520440" y="2834640"/>
            <a:ext cx="2286000" cy="1097280"/>
          </a:xfrm>
          <a:prstGeom prst="rect">
            <a:avLst/>
          </a:prstGeom>
          <a:noFill/>
          <a:ln/>
        </p:spPr>
        <p:txBody>
          <a:bodyPr wrap="square" lIns="0" tIns="0" rIns="0" bIns="0" rtlCol="0" anchor="t"/>
          <a:lstStyle/>
          <a:p>
            <a:pPr indent="0" marL="0">
              <a:buNone/>
            </a:pPr>
            <a:r>
              <a:rPr lang="en-US" sz="1400" dirty="0">
                <a:solidFill>
                  <a:schemeClr val="tx1"/>
                </a:solidFill>
              </a:rPr>
              <a:t>着工・竣工</a:t>
            </a:r>
            <a:endParaRPr lang="en-US" sz="1400" dirty="0"/>
          </a:p>
          <a:p>
            <a:pPr indent="0" marL="0">
              <a:buNone/>
            </a:pPr>
            <a:r>
              <a:rPr lang="en-US" sz="1400" dirty="0">
                <a:solidFill>
                  <a:schemeClr val="tx1"/>
                </a:solidFill>
              </a:rPr>
              <a:t>満室稼働へ</a:t>
            </a:r>
            <a:endParaRPr lang="en-US" sz="1400" dirty="0"/>
          </a:p>
        </p:txBody>
      </p:sp>
      <p:sp>
        <p:nvSpPr>
          <p:cNvPr id="14" name="card"/>
          <p:cNvSpPr/>
          <p:nvPr/>
        </p:nvSpPr>
        <p:spPr>
          <a:xfrm>
            <a:off x="6126480" y="1371600"/>
            <a:ext cx="2651760" cy="2743200"/>
          </a:xfrm>
          <a:prstGeom prst="roundRect">
            <a:avLst>
              <a:gd name="adj" fmla="val 2759"/>
            </a:avLst>
          </a:prstGeom>
          <a:solidFill>
            <a:schemeClr val="tx1"/>
          </a:solidFill>
          <a:ln/>
        </p:spPr>
      </p:sp>
      <p:sp>
        <p:nvSpPr>
          <p:cNvPr id="15" name="badge"/>
          <p:cNvSpPr/>
          <p:nvPr/>
        </p:nvSpPr>
        <p:spPr>
          <a:xfrm>
            <a:off x="6355080" y="1554480"/>
            <a:ext cx="548640" cy="548640"/>
          </a:xfrm>
          <a:prstGeom prst="ellipse">
            <a:avLst/>
          </a:prstGeom>
          <a:solidFill>
            <a:schemeClr val="accent1"/>
          </a:solidFill>
          <a:ln/>
        </p:spPr>
      </p:sp>
      <p:sp>
        <p:nvSpPr>
          <p:cNvPr id="16" name="Text 13"/>
          <p:cNvSpPr txBox="1"/>
          <p:nvPr/>
        </p:nvSpPr>
        <p:spPr>
          <a:xfrm>
            <a:off x="6355080" y="1554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7" name="Text 14"/>
          <p:cNvSpPr txBox="1"/>
          <p:nvPr/>
        </p:nvSpPr>
        <p:spPr>
          <a:xfrm>
            <a:off x="6355080" y="2286000"/>
            <a:ext cx="2286000" cy="457200"/>
          </a:xfrm>
          <a:prstGeom prst="rect">
            <a:avLst/>
          </a:prstGeom>
          <a:noFill/>
          <a:ln/>
        </p:spPr>
        <p:txBody>
          <a:bodyPr wrap="square" lIns="0" tIns="0" rIns="0" bIns="0" rtlCol="0" anchor="t"/>
          <a:lstStyle/>
          <a:p>
            <a:pPr indent="0" marL="0">
              <a:buNone/>
            </a:pPr>
            <a:r>
              <a:rPr lang="en-US" sz="1700" b="1" dirty="0">
                <a:solidFill>
                  <a:schemeClr val="accent1"/>
                </a:solidFill>
              </a:rPr>
              <a:t>その先</a:t>
            </a:r>
            <a:endParaRPr lang="en-US" sz="1700" dirty="0"/>
          </a:p>
        </p:txBody>
      </p:sp>
      <p:sp>
        <p:nvSpPr>
          <p:cNvPr id="18" name="Text 15"/>
          <p:cNvSpPr txBox="1"/>
          <p:nvPr/>
        </p:nvSpPr>
        <p:spPr>
          <a:xfrm>
            <a:off x="6355080" y="2834640"/>
            <a:ext cx="2286000" cy="1097280"/>
          </a:xfrm>
          <a:prstGeom prst="rect">
            <a:avLst/>
          </a:prstGeom>
          <a:noFill/>
          <a:ln/>
        </p:spPr>
        <p:txBody>
          <a:bodyPr wrap="square" lIns="0" tIns="0" rIns="0" bIns="0" rtlCol="0" anchor="t"/>
          <a:lstStyle/>
          <a:p>
            <a:pPr indent="0" marL="0">
              <a:buNone/>
            </a:pPr>
            <a:r>
              <a:rPr lang="en-US" sz="1400" dirty="0">
                <a:solidFill>
                  <a:schemeClr val="bg1"/>
                </a:solidFill>
              </a:rPr>
              <a:t>地方から都市部へ</a:t>
            </a:r>
            <a:endParaRPr lang="en-US" sz="1400" dirty="0"/>
          </a:p>
          <a:p>
            <a:pPr indent="0" marL="0">
              <a:buNone/>
            </a:pPr>
            <a:r>
              <a:rPr lang="en-US" sz="1400" dirty="0">
                <a:solidFill>
                  <a:schemeClr val="bg1"/>
                </a:solidFill>
              </a:rPr>
              <a:t>資産を入れ替え</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600" b="1" dirty="0">
                <a:solidFill>
                  <a:schemeClr val="tx1"/>
                </a:solidFill>
              </a:rPr>
              <a:t>初心者の方へ：まず「お金を使わずに」増やす</a:t>
            </a:r>
            <a:endParaRPr lang="en-US" sz="2600" dirty="0"/>
          </a:p>
        </p:txBody>
      </p:sp>
      <p:sp>
        <p:nvSpPr>
          <p:cNvPr id="4" name="card"/>
          <p:cNvSpPr/>
          <p:nvPr/>
        </p:nvSpPr>
        <p:spPr>
          <a:xfrm>
            <a:off x="457200" y="1280160"/>
            <a:ext cx="8229600" cy="960120"/>
          </a:xfrm>
          <a:prstGeom prst="roundRect">
            <a:avLst>
              <a:gd name="adj" fmla="val 7619"/>
            </a:avLst>
          </a:prstGeom>
          <a:solidFill>
            <a:schemeClr val="bg2"/>
          </a:solidFill>
          <a:ln/>
        </p:spPr>
      </p:sp>
      <p:sp>
        <p:nvSpPr>
          <p:cNvPr id="5" name="badge"/>
          <p:cNvSpPr/>
          <p:nvPr/>
        </p:nvSpPr>
        <p:spPr>
          <a:xfrm>
            <a:off x="685800" y="1463040"/>
            <a:ext cx="594360" cy="594360"/>
          </a:xfrm>
          <a:prstGeom prst="ellipse">
            <a:avLst/>
          </a:prstGeom>
          <a:solidFill>
            <a:schemeClr val="accent2"/>
          </a:solidFill>
          <a:ln/>
        </p:spPr>
      </p:sp>
      <p:sp>
        <p:nvSpPr>
          <p:cNvPr id="6" name="Text 3"/>
          <p:cNvSpPr txBox="1"/>
          <p:nvPr/>
        </p:nvSpPr>
        <p:spPr>
          <a:xfrm>
            <a:off x="685800" y="146304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554480" y="1280160"/>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お金を使わずに買う</a:t>
            </a:r>
            <a:endParaRPr lang="en-US" sz="1800" dirty="0"/>
          </a:p>
        </p:txBody>
      </p:sp>
      <p:sp>
        <p:nvSpPr>
          <p:cNvPr id="8" name="Text 5"/>
          <p:cNvSpPr txBox="1"/>
          <p:nvPr/>
        </p:nvSpPr>
        <p:spPr>
          <a:xfrm>
            <a:off x="4389120" y="1280160"/>
            <a:ext cx="4114800" cy="960120"/>
          </a:xfrm>
          <a:prstGeom prst="rect">
            <a:avLst/>
          </a:prstGeom>
          <a:noFill/>
          <a:ln/>
        </p:spPr>
        <p:txBody>
          <a:bodyPr wrap="square" lIns="0" tIns="0" rIns="0" bIns="0" rtlCol="0" anchor="ctr"/>
          <a:lstStyle/>
          <a:p>
            <a:pPr indent="0" marL="0">
              <a:buNone/>
            </a:pPr>
            <a:r>
              <a:rPr lang="en-US" sz="1400" dirty="0">
                <a:solidFill>
                  <a:schemeClr val="accent4"/>
                </a:solidFill>
              </a:rPr>
              <a:t>積算・利回り・満室・耐用年数内。この条件に合う物件だけを買う</a:t>
            </a:r>
            <a:endParaRPr lang="en-US" sz="1400" dirty="0"/>
          </a:p>
        </p:txBody>
      </p:sp>
      <p:sp>
        <p:nvSpPr>
          <p:cNvPr id="9" name="card"/>
          <p:cNvSpPr/>
          <p:nvPr/>
        </p:nvSpPr>
        <p:spPr>
          <a:xfrm>
            <a:off x="457200" y="2377440"/>
            <a:ext cx="8229600" cy="960120"/>
          </a:xfrm>
          <a:prstGeom prst="roundRect">
            <a:avLst>
              <a:gd name="adj" fmla="val 7619"/>
            </a:avLst>
          </a:prstGeom>
          <a:solidFill>
            <a:schemeClr val="bg2"/>
          </a:solidFill>
          <a:ln/>
        </p:spPr>
      </p:sp>
      <p:sp>
        <p:nvSpPr>
          <p:cNvPr id="10" name="badge"/>
          <p:cNvSpPr/>
          <p:nvPr/>
        </p:nvSpPr>
        <p:spPr>
          <a:xfrm>
            <a:off x="685800" y="2560320"/>
            <a:ext cx="594360" cy="594360"/>
          </a:xfrm>
          <a:prstGeom prst="ellipse">
            <a:avLst/>
          </a:prstGeom>
          <a:solidFill>
            <a:schemeClr val="accent2"/>
          </a:solidFill>
          <a:ln/>
        </p:spPr>
      </p:sp>
      <p:sp>
        <p:nvSpPr>
          <p:cNvPr id="11" name="Text 8"/>
          <p:cNvSpPr txBox="1"/>
          <p:nvPr/>
        </p:nvSpPr>
        <p:spPr>
          <a:xfrm>
            <a:off x="685800" y="256032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554480" y="2377440"/>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インカムで自力をつける</a:t>
            </a:r>
            <a:endParaRPr lang="en-US" sz="1800" dirty="0"/>
          </a:p>
        </p:txBody>
      </p:sp>
      <p:sp>
        <p:nvSpPr>
          <p:cNvPr id="13" name="Text 10"/>
          <p:cNvSpPr txBox="1"/>
          <p:nvPr/>
        </p:nvSpPr>
        <p:spPr>
          <a:xfrm>
            <a:off x="4389120" y="2377440"/>
            <a:ext cx="4114800" cy="960120"/>
          </a:xfrm>
          <a:prstGeom prst="rect">
            <a:avLst/>
          </a:prstGeom>
          <a:noFill/>
          <a:ln/>
        </p:spPr>
        <p:txBody>
          <a:bodyPr wrap="square" lIns="0" tIns="0" rIns="0" bIns="0" rtlCol="0" anchor="ctr"/>
          <a:lstStyle/>
          <a:p>
            <a:pPr indent="0" marL="0">
              <a:buNone/>
            </a:pPr>
            <a:r>
              <a:rPr lang="en-US" sz="1400" dirty="0">
                <a:solidFill>
                  <a:schemeClr val="accent4"/>
                </a:solidFill>
              </a:rPr>
              <a:t>満室で返済し、決算書を整え、次の融資を引く</a:t>
            </a:r>
            <a:endParaRPr lang="en-US" sz="1400" dirty="0"/>
          </a:p>
        </p:txBody>
      </p:sp>
      <p:sp>
        <p:nvSpPr>
          <p:cNvPr id="14" name="card"/>
          <p:cNvSpPr/>
          <p:nvPr/>
        </p:nvSpPr>
        <p:spPr>
          <a:xfrm>
            <a:off x="457200" y="3474720"/>
            <a:ext cx="8229600" cy="960120"/>
          </a:xfrm>
          <a:prstGeom prst="roundRect">
            <a:avLst>
              <a:gd name="adj" fmla="val 7619"/>
            </a:avLst>
          </a:prstGeom>
          <a:solidFill>
            <a:schemeClr val="bg2"/>
          </a:solidFill>
          <a:ln/>
        </p:spPr>
      </p:sp>
      <p:sp>
        <p:nvSpPr>
          <p:cNvPr id="15" name="badge"/>
          <p:cNvSpPr/>
          <p:nvPr/>
        </p:nvSpPr>
        <p:spPr>
          <a:xfrm>
            <a:off x="685800" y="3657600"/>
            <a:ext cx="594360" cy="594360"/>
          </a:xfrm>
          <a:prstGeom prst="ellipse">
            <a:avLst/>
          </a:prstGeom>
          <a:solidFill>
            <a:schemeClr val="accent2"/>
          </a:solidFill>
          <a:ln/>
        </p:spPr>
      </p:sp>
      <p:sp>
        <p:nvSpPr>
          <p:cNvPr id="16" name="Text 13"/>
          <p:cNvSpPr txBox="1"/>
          <p:nvPr/>
        </p:nvSpPr>
        <p:spPr>
          <a:xfrm>
            <a:off x="685800" y="36576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1554480" y="3474720"/>
            <a:ext cx="2743200" cy="960120"/>
          </a:xfrm>
          <a:prstGeom prst="rect">
            <a:avLst/>
          </a:prstGeom>
          <a:noFill/>
          <a:ln/>
        </p:spPr>
        <p:txBody>
          <a:bodyPr wrap="square" lIns="0" tIns="0" rIns="0" bIns="0" rtlCol="0" anchor="ctr"/>
          <a:lstStyle/>
          <a:p>
            <a:pPr indent="0" marL="0">
              <a:buNone/>
            </a:pPr>
            <a:r>
              <a:rPr lang="en-US" sz="1800" b="1" dirty="0">
                <a:solidFill>
                  <a:schemeClr val="tx1"/>
                </a:solidFill>
              </a:rPr>
              <a:t>再生・新築へ進む</a:t>
            </a:r>
            <a:endParaRPr lang="en-US" sz="1800" dirty="0"/>
          </a:p>
        </p:txBody>
      </p:sp>
      <p:sp>
        <p:nvSpPr>
          <p:cNvPr id="18" name="Text 15"/>
          <p:cNvSpPr txBox="1"/>
          <p:nvPr/>
        </p:nvSpPr>
        <p:spPr>
          <a:xfrm>
            <a:off x="4389120" y="3474720"/>
            <a:ext cx="4114800" cy="960120"/>
          </a:xfrm>
          <a:prstGeom prst="rect">
            <a:avLst/>
          </a:prstGeom>
          <a:noFill/>
          <a:ln/>
        </p:spPr>
        <p:txBody>
          <a:bodyPr wrap="square" lIns="0" tIns="0" rIns="0" bIns="0" rtlCol="0" anchor="ctr"/>
          <a:lstStyle/>
          <a:p>
            <a:pPr indent="0" marL="0">
              <a:buNone/>
            </a:pPr>
            <a:r>
              <a:rPr lang="en-US" sz="1400" dirty="0">
                <a:solidFill>
                  <a:schemeClr val="accent4"/>
                </a:solidFill>
              </a:rPr>
              <a:t>自力がついてから、価値を自分でつくる段階へ</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1188720"/>
            <a:ext cx="7680960" cy="1645920"/>
          </a:xfrm>
          <a:prstGeom prst="rect">
            <a:avLst/>
          </a:prstGeom>
          <a:noFill/>
          <a:ln/>
        </p:spPr>
        <p:txBody>
          <a:bodyPr wrap="square" lIns="0" tIns="0" rIns="0" bIns="0" rtlCol="0" anchor="ctr"/>
          <a:lstStyle/>
          <a:p>
            <a:pPr indent="0" marL="0">
              <a:buNone/>
            </a:pPr>
            <a:r>
              <a:rPr lang="en-US" sz="4400" b="1" dirty="0">
                <a:solidFill>
                  <a:schemeClr val="bg1"/>
                </a:solidFill>
              </a:rPr>
              <a:t>お金がなくても、</a:t>
            </a:r>
            <a:endParaRPr lang="en-US" sz="4400" dirty="0"/>
          </a:p>
          <a:p>
            <a:pPr indent="0" marL="0">
              <a:buNone/>
            </a:pPr>
            <a:r>
              <a:rPr lang="en-US" sz="4400" b="1" dirty="0">
                <a:solidFill>
                  <a:schemeClr val="bg1"/>
                </a:solidFill>
              </a:rPr>
              <a:t>戦い方はある。</a:t>
            </a:r>
            <a:endParaRPr lang="en-US" sz="4400" dirty="0"/>
          </a:p>
        </p:txBody>
      </p:sp>
      <p:sp>
        <p:nvSpPr>
          <p:cNvPr id="3" name="Text 1"/>
          <p:cNvSpPr txBox="1"/>
          <p:nvPr/>
        </p:nvSpPr>
        <p:spPr>
          <a:xfrm>
            <a:off x="731520" y="3017520"/>
            <a:ext cx="7680960" cy="457200"/>
          </a:xfrm>
          <a:prstGeom prst="rect">
            <a:avLst/>
          </a:prstGeom>
          <a:noFill/>
          <a:ln/>
        </p:spPr>
        <p:txBody>
          <a:bodyPr wrap="square" lIns="0" tIns="0" rIns="0" bIns="0" rtlCol="0" anchor="t"/>
          <a:lstStyle/>
          <a:p>
            <a:pPr indent="0" marL="0">
              <a:buNone/>
            </a:pPr>
            <a:r>
              <a:rPr lang="en-US" sz="2000" dirty="0">
                <a:solidFill>
                  <a:schemeClr val="accent1"/>
                </a:solidFill>
              </a:rPr>
              <a:t>お金を使わずに増やし、自力で次の段階へ</a:t>
            </a:r>
            <a:endParaRPr lang="en-US" sz="2000" dirty="0"/>
          </a:p>
        </p:txBody>
      </p:sp>
      <p:sp>
        <p:nvSpPr>
          <p:cNvPr id="4" name="Text 2"/>
          <p:cNvSpPr txBox="1"/>
          <p:nvPr/>
        </p:nvSpPr>
        <p:spPr>
          <a:xfrm>
            <a:off x="731520" y="4023360"/>
            <a:ext cx="7680960" cy="457200"/>
          </a:xfrm>
          <a:prstGeom prst="rect">
            <a:avLst/>
          </a:prstGeom>
          <a:noFill/>
          <a:ln/>
        </p:spPr>
        <p:txBody>
          <a:bodyPr wrap="square" lIns="0" tIns="0" rIns="0" bIns="0" rtlCol="0" anchor="t"/>
          <a:lstStyle/>
          <a:p>
            <a:pPr indent="0" marL="0">
              <a:buNone/>
            </a:pPr>
            <a:r>
              <a:rPr lang="en-US" sz="1600" dirty="0">
                <a:solidFill>
                  <a:schemeClr val="bg2"/>
                </a:solidFill>
              </a:rPr>
              <a:t>ご清聴ありがとうございました。ご質問をお願いします。</a:t>
            </a:r>
            <a:endParaRPr lang="en-US" sz="1600" dirty="0"/>
          </a:p>
        </p:txBody>
      </p:sp>
    </p:spTree>
  </p:cSld>
  <p:clrMapOvr>
    <a:masterClrMapping/>
  </p:clrMapOvr>
</p:sld>
</file>

<file path=ppt/theme/theme1.xml><?xml version="1.0" encoding="utf-8"?>
<a:theme xmlns:a="http://schemas.openxmlformats.org/drawingml/2006/main" name="Kabukicho to Tokyo">
  <a:themeElements>
    <a:clrScheme name="Kabukicho to Tokyo">
      <a:dk1>
        <a:srgbClr val="1B1F2A"/>
      </a:dk1>
      <a:lt1>
        <a:srgbClr val="FFFFFF"/>
      </a:lt1>
      <a:dk2>
        <a:srgbClr val="2B3445"/>
      </a:dk2>
      <a:lt2>
        <a:srgbClr val="F1F2F4"/>
      </a:lt2>
      <a:accent1>
        <a:srgbClr val="E0A030"/>
      </a:accent1>
      <a:accent2>
        <a:srgbClr val="2E7D6B"/>
      </a:accent2>
      <a:accent3>
        <a:srgbClr val="C8553D"/>
      </a:accent3>
      <a:accent4>
        <a:srgbClr val="6B7A90"/>
      </a:accent4>
      <a:accent5>
        <a:srgbClr val="CFE3DC"/>
      </a:accent5>
      <a:accent6>
        <a:srgbClr val="F6E3BC"/>
      </a:accent6>
      <a:hlink>
        <a:srgbClr val="2E7D6B"/>
      </a:hlink>
      <a:folHlink>
        <a:srgbClr val="6B7A90"/>
      </a:folHlink>
    </a:clrScheme>
    <a:fontScheme name="Kabukicho to Tokyo">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4年で年間家賃収入1.5億円をつくった - 弱者の戦略</dc:title>
  <dc:subject>PptxGenJS Presentation</dc:subject>
  <dc:creator>今宮大介</dc:creator>
  <cp:lastModifiedBy>今宮大介</cp:lastModifiedBy>
  <cp:revision>1</cp:revision>
  <dcterms:created xsi:type="dcterms:W3CDTF">2026-10-23T15:18:49Z</dcterms:created>
  <dcterms:modified xsi:type="dcterms:W3CDTF">2026-10-23T15:18:49Z</dcterms:modified>
</cp:coreProperties>
</file>