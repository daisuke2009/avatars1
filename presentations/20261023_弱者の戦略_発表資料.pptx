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charts/chart1.xml" ContentType="application/vnd.openxmlformats-officedocument.drawingml.chart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</p:sldIdLst>
  <p:notesMasterIdLst>
    <p:notesMasterId r:id="rId3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オープニング" id="{32e3b178-df41-13f9-ab7a-b9707d19e0ce}">
          <p14:sldIdLst>
            <p14:sldId id="256"/>
            <p14:sldId id="257"/>
            <p14:sldId id="258"/>
          </p14:sldIdLst>
        </p14:section>
        <p14:section name="第1部 生い立ちと遠回り" id="{5ce7a754-909a-48a0-18bf-c503501cc773}">
          <p14:sldIdLst>
            <p14:sldId id="259"/>
            <p14:sldId id="260"/>
            <p14:sldId id="261"/>
            <p14:sldId id="262"/>
            <p14:sldId id="263"/>
            <p14:sldId id="264"/>
            <p14:sldId id="265"/>
          </p14:sldIdLst>
        </p14:section>
        <p14:section name="第2部 弱者の戦略" id="{a0311b9a-c286-e913-3eec-403d6e653e3e}">
          <p14:sldIdLst>
            <p14:sldId id="266"/>
            <p14:sldId id="267"/>
            <p14:sldId id="268"/>
            <p14:sldId id="269"/>
            <p14:sldId id="270"/>
            <p14:sldId id="271"/>
            <p14:sldId id="272"/>
            <p14:sldId id="273"/>
            <p14:sldId id="274"/>
            <p14:sldId id="275"/>
          </p14:sldIdLst>
        </p14:section>
        <p14:section name="第3部 東京に戻る" id="{4980b756-548e-973e-0398-79a0acf7e48b}">
          <p14:sldIdLst>
            <p14:sldId id="276"/>
            <p14:sldId id="277"/>
            <p14:sldId id="278"/>
            <p14:sldId id="279"/>
            <p14:sldId id="280"/>
            <p14:sldId id="281"/>
          </p14:sldIdLst>
        </p14:section>
        <p14:section name="第4部 これから" id="{315569ff-81bf-6a5e-abf4-371de5757688}">
          <p14:sldIdLst>
            <p14:sldId id="282"/>
            <p14:sldId id="283"/>
            <p14:sldId id="284"/>
            <p14:sldId id="285"/>
            <p14:sldId id="286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B1F2A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1B1F2A"/>
                </a:solidFill>
                <a:latin typeface="+mn-lt"/>
              </a:rPr>
              <a:t>購入価格と担保評価（万円）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金額（万円）</c:v>
                </c:pt>
              </c:strCache>
            </c:strRef>
          </c:tx>
          <c:spPr>
            <a:solidFill>
              <a:srgbClr val="6B7A9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B1F2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6B7A90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2E7D6B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E0A030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購入価格</c:v>
                  </c:pt>
                  <c:pt idx="1">
                    <c:v>近隣事例評価</c:v>
                  </c:pt>
                  <c:pt idx="2">
                    <c:v>収益還元評価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25500</c:v>
                </c:pt>
                <c:pt idx="1">
                  <c:v>52683</c:v>
                </c:pt>
                <c:pt idx="2">
                  <c:v>70658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1B1F2A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2B3445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000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【導入 1分】今日は「お金も信用もない人間が、4年で年間家賃収入1.5億円まで来た道筋」を、失敗も含めて正直にお話しします。初心者の方が『これなら自分にもできるかも』と思える形で話します。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【2分】2021年末に買い始めて、現在の棟数に到達したのが2025年11月。1棟売却済みですが11棟として話します。数字は後でひとつずつ根拠を説明します。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【3分】歌舞伎町生まれ、歌舞伎町育ちの酒屋の息子です。商売の現場を子どもの頃から見ていました。環境は選べませんが未来は選べる、というのが原点です。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3分】大学卒業後は銀行、その後は総合商社のプラント営業で海外を飛び回りました。お金の流れと融資の考え方、交渉の基本はこの時代に学んでいます。その後、実家の事業をのれん分けしてコンビニ会社をスタートし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4分】一番増やしたときは14店舗。現在は7店舗まで集約しています。数字を見るほど、人手不足と過当競争で収益性が悪化していくのを肌で感じました。10年後の収益予想が全店舗赤字になった夜の怖さが、次の一歩の原動力になってい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3分】コンビニの収益悪化を感じながら、再びいくつか事業にトライしました。エニタイムフィットネス、ブルーボトルコーヒー、八百屋、コーヒーショップ、コインランドリー。それぞれ学びがありましたが、最終的に残ったのはどれも『自分の時間と人手を食う』という共通点でした。（※ここは発表前にご自身の言葉に直してください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【2分】G's Academyでプログラミングを学び、コンビニのアルバイトスタッフをシェアするアプリProShiftを開発して、2019年のGlobal Geek Auditionで優勝しました。ただ、これを事業として大きくするには別のハードルがありました。ここで『数字で語る』経験をしたことが、のちの融資交渉にもつながっています。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【2分】コンビニもアプリも、人と時間を使う事業でした。不動産は、仕組みを作れば人手がほとんどいらない。しかも銀行が融資という形で背中を押してくれる。ここから『弱者の戦略』が始まります。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【3分】弱者とは、自己資金も属性も強くない人のことです。強者は都心の一等地を現金や大きな信用で買えますが、私たちはそうではない。だから別のルールで戦います。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【3分】この4つが揃う物件だけを集中して買ってきました。逆に、1つでも欠けたら買いません。築20年で利回り9〜10%の物件が多いです。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【4分】銀行は、物件を担保として見ます。積算価格が売買価格より高ければ、銀行から見て担保が十分あることになる。だから自己資金を多く求められにくい。家賃収入で返済できることが大前提です。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4分】実際に融資をお願いしたときの事業計画書の数字です（概要）。購入価格2.55億円に対し、収益還元法の評価は約7.07億円、近隣売買事例からの評価は約5.27億円。評価が購入価格を大きく上回るため、2.95億円の借入をお願いしました。※事業計画書の概算値であり、実際の数字とは一部異なり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3分】耐用年数内で返済していくので、元金がしっかり減っていきます。満室で家賃が入り、積算が厚いので資産も見合う。結果として金融機関から見て『次も貸せる』決算書になっていきます。（※数値は各自の決算で確認の上で補足してください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【4分】2021年の年末に最初の購入、千葉県市原市のアパートでした。その後、地方の高利回り・高積算に軸足を移して買い進め、2025年11月に現在の棟数に到達。1棟売却もしていますが、11棟として話します。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【3分】過去、MDさんと一緒に物件を購入して大きくしていった時期があります。MDさんが先に歩んだ道が、地方で積み上げる戦略の原型です。私はその先、地方から東京に戻るフェーズを今実行しています。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【2分】改めて現在地です。借入総額16億円というと大きく聞こえますが、家賃収入と担保評価で支えられている数字です。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【3分】ここが戦略の肝です。家賃から返済を引いた現金を、次の新築の頭金に回す。無理に借入を増やすのではなく、自分の現金を使って、より資産性の高い物件に進んでいきます。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【3分】地方は買いやすく、インカムも厚い。ただ、出口と資産性の面で都心には敵わない。持ってよし、売ってよしの資産を持ちたい。それが東京に戻る理由です。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【3分】西武新宿線の武蔵関駅から徒歩10分。土地は242㎡、約73坪。壁式RC造、地下1階・地上3階建てで、17戸の計画です。建物は設計着手済みで、設計は岐阜の希望社さんにお願いしています。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3分】2026年10月に設計着手、2027年5月に設計完了の予定。その後、確認申請、ゼネコン選定を経て着工。工期は約10か月を想定し、竣工は2028年3月ごろを目標にしています。総事業費は4.2億円で進めていますが、積算で確定させていき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【3分】新築は地方中古と違い、判断を間違うと取り返しがつきません。だから自分の基準を持っています。区ごとのワンルーム条例も必ず照合し、抵触する場合は設計を変更します。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【3分】最終的には、地方の資産を都市部に入れ替えていきます。持ってよし、売ってよしの資産性と、インカムの収入の両方を持つのが当面のゴールです。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【4分】強い話ばかりしても信用されませんので、リスクもお話しします。空室、金利、建築費、出口。それぞれに備えを持っています。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【3分】2026〜2028年は関町南の新築を軸に、他の新築計画も進めていきます。地方は維持しつつ、徐々に都市部の比率を上げていきます。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【4分】私は2021年の年末、何も持っていない状態から始めました。特別な才能ではなく、物件の条件を絞り、数字で説明し、積み上げただけです。今日からできることを3つ挙げます。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【クロージング＋Q&amp;A】最後に一言。強い人と同じ戦い方をしなくていい。条件を絞って、数字で説明して、積み上げれば、4年で景色は変わります。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_TITLE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1737360"/>
            <a:ext cx="768096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6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82296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不動産投資 発表資料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280160"/>
            <a:ext cx="76809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4年で、年間家賃収入</a:t>
            </a:r>
            <a:endParaRPr lang="en-US" sz="4400" dirty="0"/>
          </a:p>
          <a:p>
            <a:pPr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1.5億円をつくった</a:t>
            </a:r>
            <a:endParaRPr lang="en-US" sz="44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320040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accent6"/>
                </a:solidFill>
              </a:rPr>
              <a:t>弱者の戦略 ― 地方で積み上げ、東京に戻る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429768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今宮 大介（株式会社mizunoya / 合同会社ベルフラワー）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まず結論：4年間の成果はこの4つ</a:t>
            </a:r>
            <a:endParaRPr lang="en-US" sz="2600" dirty="0"/>
          </a:p>
        </p:txBody>
      </p:sp>
      <p:sp>
        <p:nvSpPr>
          <p:cNvPr id="4" name="card"/>
          <p:cNvSpPr/>
          <p:nvPr/>
        </p:nvSpPr>
        <p:spPr>
          <a:xfrm>
            <a:off x="457200" y="1371600"/>
            <a:ext cx="1920240" cy="2377440"/>
          </a:xfrm>
          <a:prstGeom prst="roundRect">
            <a:avLst>
              <a:gd name="adj" fmla="val 3810"/>
            </a:avLst>
          </a:prstGeom>
          <a:solidFill>
            <a:schemeClr val="bg2"/>
          </a:solidFill>
          <a:ln/>
        </p:spPr>
      </p:sp>
      <p:sp>
        <p:nvSpPr>
          <p:cNvPr id="5" name="Text 2"/>
          <p:cNvSpPr txBox="1"/>
          <p:nvPr/>
        </p:nvSpPr>
        <p:spPr>
          <a:xfrm>
            <a:off x="594360" y="1554480"/>
            <a:ext cx="1691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2"/>
                </a:solidFill>
              </a:rPr>
              <a:t>4年</a:t>
            </a:r>
            <a:endParaRPr lang="en-US" sz="3200" dirty="0"/>
          </a:p>
        </p:txBody>
      </p:sp>
      <p:sp>
        <p:nvSpPr>
          <p:cNvPr id="6" name="Text 3"/>
          <p:cNvSpPr txBox="1"/>
          <p:nvPr/>
        </p:nvSpPr>
        <p:spPr>
          <a:xfrm>
            <a:off x="594360" y="2423160"/>
            <a:ext cx="1691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2021年末に購入開始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2025年11月に現在の棟数へ</a:t>
            </a:r>
            <a:endParaRPr lang="en-US" sz="1300" dirty="0"/>
          </a:p>
        </p:txBody>
      </p:sp>
      <p:sp>
        <p:nvSpPr>
          <p:cNvPr id="7" name="card"/>
          <p:cNvSpPr/>
          <p:nvPr/>
        </p:nvSpPr>
        <p:spPr>
          <a:xfrm>
            <a:off x="2542032" y="1371600"/>
            <a:ext cx="1920240" cy="2377440"/>
          </a:xfrm>
          <a:prstGeom prst="roundRect">
            <a:avLst>
              <a:gd name="adj" fmla="val 3810"/>
            </a:avLst>
          </a:prstGeom>
          <a:solidFill>
            <a:schemeClr val="bg2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2679192" y="1554480"/>
            <a:ext cx="1691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2"/>
                </a:solidFill>
              </a:rPr>
              <a:t>11棟</a:t>
            </a:r>
            <a:endParaRPr lang="en-US" sz="3200" dirty="0"/>
          </a:p>
        </p:txBody>
      </p:sp>
      <p:sp>
        <p:nvSpPr>
          <p:cNvPr id="9" name="Text 6"/>
          <p:cNvSpPr txBox="1"/>
          <p:nvPr/>
        </p:nvSpPr>
        <p:spPr>
          <a:xfrm>
            <a:off x="2679192" y="2423160"/>
            <a:ext cx="1691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地方の高積算・高利回り物件が中心</a:t>
            </a:r>
            <a:endParaRPr lang="en-US" sz="1300" dirty="0"/>
          </a:p>
        </p:txBody>
      </p:sp>
      <p:sp>
        <p:nvSpPr>
          <p:cNvPr id="10" name="card"/>
          <p:cNvSpPr/>
          <p:nvPr/>
        </p:nvSpPr>
        <p:spPr>
          <a:xfrm>
            <a:off x="4626864" y="1371600"/>
            <a:ext cx="1920240" cy="2377440"/>
          </a:xfrm>
          <a:prstGeom prst="roundRect">
            <a:avLst>
              <a:gd name="adj" fmla="val 3810"/>
            </a:avLst>
          </a:prstGeom>
          <a:solidFill>
            <a:schemeClr val="bg2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4764024" y="1554480"/>
            <a:ext cx="1691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3"/>
                </a:solidFill>
              </a:rPr>
              <a:t>1.5億円</a:t>
            </a:r>
            <a:endParaRPr lang="en-US" sz="3200" dirty="0"/>
          </a:p>
        </p:txBody>
      </p:sp>
      <p:sp>
        <p:nvSpPr>
          <p:cNvPr id="12" name="Text 9"/>
          <p:cNvSpPr txBox="1"/>
          <p:nvPr/>
        </p:nvSpPr>
        <p:spPr>
          <a:xfrm>
            <a:off x="4764024" y="2423160"/>
            <a:ext cx="1691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年間家賃収入</a:t>
            </a:r>
            <a:endParaRPr lang="en-US" sz="1300" dirty="0"/>
          </a:p>
        </p:txBody>
      </p:sp>
      <p:sp>
        <p:nvSpPr>
          <p:cNvPr id="13" name="card"/>
          <p:cNvSpPr/>
          <p:nvPr/>
        </p:nvSpPr>
        <p:spPr>
          <a:xfrm>
            <a:off x="6711696" y="1371600"/>
            <a:ext cx="1920240" cy="2377440"/>
          </a:xfrm>
          <a:prstGeom prst="roundRect">
            <a:avLst>
              <a:gd name="adj" fmla="val 3810"/>
            </a:avLst>
          </a:prstGeom>
          <a:solidFill>
            <a:schemeClr val="bg2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6848856" y="1554480"/>
            <a:ext cx="1691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2"/>
                </a:solidFill>
              </a:rPr>
              <a:t>16億円</a:t>
            </a:r>
            <a:endParaRPr lang="en-US" sz="3200" dirty="0"/>
          </a:p>
        </p:txBody>
      </p:sp>
      <p:sp>
        <p:nvSpPr>
          <p:cNvPr id="15" name="Text 12"/>
          <p:cNvSpPr txBox="1"/>
          <p:nvPr/>
        </p:nvSpPr>
        <p:spPr>
          <a:xfrm>
            <a:off x="6848856" y="2423160"/>
            <a:ext cx="1691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借入総額（法定耐用年数内で返済）</a:t>
            </a:r>
            <a:endParaRPr lang="en-US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457200" y="402336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ポイントは「お金をかけずに買える物件」だけを集中して買ったこと。それが「弱者の戦略」です。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今日の流れ（約60分）</a:t>
            </a:r>
            <a:endParaRPr lang="en-US" sz="2600" dirty="0"/>
          </a:p>
        </p:txBody>
      </p:sp>
      <p:sp>
        <p:nvSpPr>
          <p:cNvPr id="3" name="card"/>
          <p:cNvSpPr/>
          <p:nvPr/>
        </p:nvSpPr>
        <p:spPr>
          <a:xfrm>
            <a:off x="457200" y="1325880"/>
            <a:ext cx="8229600" cy="731520"/>
          </a:xfrm>
          <a:prstGeom prst="roundRect">
            <a:avLst>
              <a:gd name="adj" fmla="val 10000"/>
            </a:avLst>
          </a:prstGeom>
          <a:solidFill>
            <a:schemeClr val="bg2"/>
          </a:solidFill>
          <a:ln/>
        </p:spPr>
      </p:sp>
      <p:sp>
        <p:nvSpPr>
          <p:cNvPr id="4" name="badge"/>
          <p:cNvSpPr/>
          <p:nvPr/>
        </p:nvSpPr>
        <p:spPr>
          <a:xfrm>
            <a:off x="640080" y="1435608"/>
            <a:ext cx="512064" cy="512064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40080" y="143560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1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1371600" y="141732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歌舞伎町から不動産まで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4663440" y="1417320"/>
            <a:ext cx="3840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なぜ遠回りしたのか</a:t>
            </a:r>
            <a:endParaRPr lang="en-US" sz="1400" dirty="0"/>
          </a:p>
        </p:txBody>
      </p:sp>
      <p:sp>
        <p:nvSpPr>
          <p:cNvPr id="8" name="card"/>
          <p:cNvSpPr/>
          <p:nvPr/>
        </p:nvSpPr>
        <p:spPr>
          <a:xfrm>
            <a:off x="457200" y="2194560"/>
            <a:ext cx="8229600" cy="731520"/>
          </a:xfrm>
          <a:prstGeom prst="roundRect">
            <a:avLst>
              <a:gd name="adj" fmla="val 10000"/>
            </a:avLst>
          </a:prstGeom>
          <a:solidFill>
            <a:schemeClr val="bg2"/>
          </a:solidFill>
          <a:ln/>
        </p:spPr>
      </p:sp>
      <p:sp>
        <p:nvSpPr>
          <p:cNvPr id="9" name="badge"/>
          <p:cNvSpPr/>
          <p:nvPr/>
        </p:nvSpPr>
        <p:spPr>
          <a:xfrm>
            <a:off x="640080" y="2304288"/>
            <a:ext cx="512064" cy="512064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40080" y="230428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2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1371600" y="228600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弱者の戦略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4663440" y="2286000"/>
            <a:ext cx="3840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お金をかけずに買い、インカムで返す</a:t>
            </a:r>
            <a:endParaRPr lang="en-US" sz="1400" dirty="0"/>
          </a:p>
        </p:txBody>
      </p:sp>
      <p:sp>
        <p:nvSpPr>
          <p:cNvPr id="13" name="card"/>
          <p:cNvSpPr/>
          <p:nvPr/>
        </p:nvSpPr>
        <p:spPr>
          <a:xfrm>
            <a:off x="457200" y="3063240"/>
            <a:ext cx="8229600" cy="731520"/>
          </a:xfrm>
          <a:prstGeom prst="roundRect">
            <a:avLst>
              <a:gd name="adj" fmla="val 10000"/>
            </a:avLst>
          </a:prstGeom>
          <a:solidFill>
            <a:schemeClr val="bg2"/>
          </a:solidFill>
          <a:ln/>
        </p:spPr>
      </p:sp>
      <p:sp>
        <p:nvSpPr>
          <p:cNvPr id="14" name="badge"/>
          <p:cNvSpPr/>
          <p:nvPr/>
        </p:nvSpPr>
        <p:spPr>
          <a:xfrm>
            <a:off x="640080" y="3172968"/>
            <a:ext cx="512064" cy="512064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40080" y="317296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3</a:t>
            </a:r>
            <a:endParaRPr lang="en-US" sz="1800" dirty="0"/>
          </a:p>
        </p:txBody>
      </p:sp>
      <p:sp>
        <p:nvSpPr>
          <p:cNvPr id="16" name="Text 14"/>
          <p:cNvSpPr txBox="1"/>
          <p:nvPr/>
        </p:nvSpPr>
        <p:spPr>
          <a:xfrm>
            <a:off x="1371600" y="315468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東京に戻る</a:t>
            </a:r>
            <a:endParaRPr lang="en-US" sz="2000" dirty="0"/>
          </a:p>
        </p:txBody>
      </p:sp>
      <p:sp>
        <p:nvSpPr>
          <p:cNvPr id="17" name="Text 15"/>
          <p:cNvSpPr txBox="1"/>
          <p:nvPr/>
        </p:nvSpPr>
        <p:spPr>
          <a:xfrm>
            <a:off x="4663440" y="3154680"/>
            <a:ext cx="3840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練馬区関町南の新築RCマンション</a:t>
            </a:r>
            <a:endParaRPr lang="en-US" sz="1400" dirty="0"/>
          </a:p>
        </p:txBody>
      </p:sp>
      <p:sp>
        <p:nvSpPr>
          <p:cNvPr id="18" name="card"/>
          <p:cNvSpPr/>
          <p:nvPr/>
        </p:nvSpPr>
        <p:spPr>
          <a:xfrm>
            <a:off x="457200" y="3931920"/>
            <a:ext cx="8229600" cy="731520"/>
          </a:xfrm>
          <a:prstGeom prst="roundRect">
            <a:avLst>
              <a:gd name="adj" fmla="val 10000"/>
            </a:avLst>
          </a:prstGeom>
          <a:solidFill>
            <a:schemeClr val="bg2"/>
          </a:solidFill>
          <a:ln/>
        </p:spPr>
      </p:sp>
      <p:sp>
        <p:nvSpPr>
          <p:cNvPr id="19" name="badge"/>
          <p:cNvSpPr/>
          <p:nvPr/>
        </p:nvSpPr>
        <p:spPr>
          <a:xfrm>
            <a:off x="640080" y="4041648"/>
            <a:ext cx="512064" cy="512064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40080" y="404164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4</a:t>
            </a:r>
            <a:endParaRPr lang="en-US" sz="1800" dirty="0"/>
          </a:p>
        </p:txBody>
      </p:sp>
      <p:sp>
        <p:nvSpPr>
          <p:cNvPr id="21" name="Text 19"/>
          <p:cNvSpPr txBox="1"/>
          <p:nvPr/>
        </p:nvSpPr>
        <p:spPr>
          <a:xfrm>
            <a:off x="1371600" y="402336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これから</a:t>
            </a:r>
            <a:endParaRPr lang="en-US" sz="2000" dirty="0"/>
          </a:p>
        </p:txBody>
      </p:sp>
      <p:sp>
        <p:nvSpPr>
          <p:cNvPr id="22" name="Text 20"/>
          <p:cNvSpPr txBox="1"/>
          <p:nvPr/>
        </p:nvSpPr>
        <p:spPr>
          <a:xfrm>
            <a:off x="4663440" y="4023360"/>
            <a:ext cx="3840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資産の入れ替えとロードマップ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1737360"/>
            <a:ext cx="7680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歌舞伎町から</a:t>
            </a:r>
            <a:endParaRPr lang="en-US" sz="3600" dirty="0"/>
          </a:p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不動産まで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23444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PART 1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3108960"/>
            <a:ext cx="7680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bg2"/>
                </a:solidFill>
              </a:rPr>
              <a:t>遠回りの20年が、そのまま戦略の土台になっています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人生のスタートは、新宿・歌舞伎町の酒屋</a:t>
            </a:r>
            <a:endParaRPr lang="en-US" sz="2600" dirty="0"/>
          </a:p>
        </p:txBody>
      </p:sp>
      <p:sp>
        <p:nvSpPr>
          <p:cNvPr id="4" name="card"/>
          <p:cNvSpPr/>
          <p:nvPr/>
        </p:nvSpPr>
        <p:spPr>
          <a:xfrm>
            <a:off x="457200" y="1280160"/>
            <a:ext cx="3931920" cy="3200400"/>
          </a:xfrm>
          <a:prstGeom prst="roundRect">
            <a:avLst>
              <a:gd name="adj" fmla="val 2286"/>
            </a:avLst>
          </a:prstGeom>
          <a:solidFill>
            <a:schemeClr val="tx1"/>
          </a:solidFill>
          <a:ln/>
        </p:spPr>
      </p:sp>
      <p:sp>
        <p:nvSpPr>
          <p:cNvPr id="5" name="Text 2"/>
          <p:cNvSpPr txBox="1"/>
          <p:nvPr/>
        </p:nvSpPr>
        <p:spPr>
          <a:xfrm>
            <a:off x="731520" y="1645920"/>
            <a:ext cx="3474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bg1"/>
                </a:solidFill>
              </a:rPr>
              <a:t>環境は選べない。</a:t>
            </a:r>
            <a:endParaRPr lang="en-US" sz="2600" dirty="0"/>
          </a:p>
          <a:p>
            <a:pPr indent="0" marL="0">
              <a:buNone/>
            </a:pPr>
            <a:r>
              <a:rPr lang="en-US" sz="2600" b="1" dirty="0">
                <a:solidFill>
                  <a:schemeClr val="bg1"/>
                </a:solidFill>
              </a:rPr>
              <a:t>だが未来は選べる。</a:t>
            </a:r>
            <a:endParaRPr lang="en-US" sz="2600" dirty="0"/>
          </a:p>
        </p:txBody>
      </p:sp>
      <p:sp>
        <p:nvSpPr>
          <p:cNvPr id="6" name="Text 3"/>
          <p:cNvSpPr txBox="1"/>
          <p:nvPr/>
        </p:nvSpPr>
        <p:spPr>
          <a:xfrm>
            <a:off x="731520" y="3200400"/>
            <a:ext cx="3474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歌舞伎町生まれ・歌舞伎町育ち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実家は酒屋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4754880" y="1371600"/>
            <a:ext cx="39319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夜の街の商売を、子どもの頃から間近で見て育った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「お客さんが来る場所」と「お金の回り方」が体に入った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のちに、立地と数字で判断する習慣につながる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銀行・商社、そして実家のコンビニ会社へ</a:t>
            </a:r>
            <a:endParaRPr lang="en-US" sz="2600" dirty="0"/>
          </a:p>
        </p:txBody>
      </p:sp>
      <p:sp>
        <p:nvSpPr>
          <p:cNvPr id="4" name="card"/>
          <p:cNvSpPr/>
          <p:nvPr/>
        </p:nvSpPr>
        <p:spPr>
          <a:xfrm>
            <a:off x="457200" y="1371600"/>
            <a:ext cx="2651760" cy="2926080"/>
          </a:xfrm>
          <a:prstGeom prst="roundRect">
            <a:avLst>
              <a:gd name="adj" fmla="val 2759"/>
            </a:avLst>
          </a:prstGeom>
          <a:solidFill>
            <a:schemeClr val="bg2"/>
          </a:solidFill>
          <a:ln/>
        </p:spPr>
      </p:sp>
      <p:sp>
        <p:nvSpPr>
          <p:cNvPr id="5" name="badge"/>
          <p:cNvSpPr/>
          <p:nvPr/>
        </p:nvSpPr>
        <p:spPr>
          <a:xfrm>
            <a:off x="640080" y="1554480"/>
            <a:ext cx="640080" cy="64008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640080" y="15544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20代</a:t>
            </a:r>
            <a:endParaRPr lang="en-US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2377440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銀行・商社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プラント営業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640080" y="3200400"/>
            <a:ext cx="2286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海外を飛び回る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融資と契約の基礎</a:t>
            </a:r>
            <a:endParaRPr lang="en-US" sz="1400" dirty="0"/>
          </a:p>
        </p:txBody>
      </p:sp>
      <p:sp>
        <p:nvSpPr>
          <p:cNvPr id="9" name="card"/>
          <p:cNvSpPr/>
          <p:nvPr/>
        </p:nvSpPr>
        <p:spPr>
          <a:xfrm>
            <a:off x="3291840" y="1371600"/>
            <a:ext cx="2651760" cy="2926080"/>
          </a:xfrm>
          <a:prstGeom prst="roundRect">
            <a:avLst>
              <a:gd name="adj" fmla="val 2759"/>
            </a:avLst>
          </a:prstGeom>
          <a:solidFill>
            <a:schemeClr val="bg2"/>
          </a:solidFill>
          <a:ln/>
        </p:spPr>
      </p:sp>
      <p:sp>
        <p:nvSpPr>
          <p:cNvPr id="10" name="badge"/>
          <p:cNvSpPr/>
          <p:nvPr/>
        </p:nvSpPr>
        <p:spPr>
          <a:xfrm>
            <a:off x="3474720" y="1554480"/>
            <a:ext cx="640080" cy="64008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3474720" y="15544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30代</a:t>
            </a:r>
            <a:endParaRPr lang="en-US" sz="1800" dirty="0"/>
          </a:p>
        </p:txBody>
      </p:sp>
      <p:sp>
        <p:nvSpPr>
          <p:cNvPr id="12" name="Text 9"/>
          <p:cNvSpPr txBox="1"/>
          <p:nvPr/>
        </p:nvSpPr>
        <p:spPr>
          <a:xfrm>
            <a:off x="3474720" y="2377440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コンビニ会社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のれん分けで独立</a:t>
            </a:r>
            <a:endParaRPr lang="en-US" sz="1800" dirty="0"/>
          </a:p>
        </p:txBody>
      </p:sp>
      <p:sp>
        <p:nvSpPr>
          <p:cNvPr id="13" name="Text 10"/>
          <p:cNvSpPr txBox="1"/>
          <p:nvPr/>
        </p:nvSpPr>
        <p:spPr>
          <a:xfrm>
            <a:off x="3474720" y="3200400"/>
            <a:ext cx="2286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最大14店舗まで拡大</a:t>
            </a:r>
            <a:endParaRPr lang="en-US" sz="1400" dirty="0"/>
          </a:p>
        </p:txBody>
      </p:sp>
      <p:sp>
        <p:nvSpPr>
          <p:cNvPr id="14" name="card"/>
          <p:cNvSpPr/>
          <p:nvPr/>
        </p:nvSpPr>
        <p:spPr>
          <a:xfrm>
            <a:off x="6126480" y="1371600"/>
            <a:ext cx="2651760" cy="2926080"/>
          </a:xfrm>
          <a:prstGeom prst="roundRect">
            <a:avLst>
              <a:gd name="adj" fmla="val 2759"/>
            </a:avLst>
          </a:prstGeom>
          <a:solidFill>
            <a:schemeClr val="bg2"/>
          </a:solidFill>
          <a:ln/>
        </p:spPr>
      </p:sp>
      <p:sp>
        <p:nvSpPr>
          <p:cNvPr id="15" name="badge"/>
          <p:cNvSpPr/>
          <p:nvPr/>
        </p:nvSpPr>
        <p:spPr>
          <a:xfrm>
            <a:off x="6309360" y="1554480"/>
            <a:ext cx="640080" cy="64008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6309360" y="15544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40代</a:t>
            </a:r>
            <a:endParaRPr lang="en-US" sz="1800" dirty="0"/>
          </a:p>
        </p:txBody>
      </p:sp>
      <p:sp>
        <p:nvSpPr>
          <p:cNvPr id="17" name="Text 14"/>
          <p:cNvSpPr txBox="1"/>
          <p:nvPr/>
        </p:nvSpPr>
        <p:spPr>
          <a:xfrm>
            <a:off x="6309360" y="2377440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新規事業の模索</a:t>
            </a:r>
            <a:endParaRPr lang="en-US" sz="1800" dirty="0"/>
          </a:p>
        </p:txBody>
      </p:sp>
      <p:sp>
        <p:nvSpPr>
          <p:cNvPr id="18" name="Text 15"/>
          <p:cNvSpPr txBox="1"/>
          <p:nvPr/>
        </p:nvSpPr>
        <p:spPr>
          <a:xfrm>
            <a:off x="6309360" y="3200400"/>
            <a:ext cx="2286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アプリ開発へ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そして不動産へ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コンビニ最大14店舗。そして危機感</a:t>
            </a:r>
            <a:endParaRPr lang="en-US" sz="26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128016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1"/>
                </a:solidFill>
              </a:rPr>
              <a:t>14店舗</a:t>
            </a:r>
            <a:endParaRPr lang="en-US" sz="32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214884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最大時</a:t>
            </a:r>
            <a:endParaRPr lang="en-US" sz="1300" dirty="0"/>
          </a:p>
        </p:txBody>
      </p:sp>
      <p:sp>
        <p:nvSpPr>
          <p:cNvPr id="6" name="Text 3"/>
          <p:cNvSpPr txBox="1"/>
          <p:nvPr/>
        </p:nvSpPr>
        <p:spPr>
          <a:xfrm>
            <a:off x="2743200" y="17373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600" b="1" dirty="0">
                <a:solidFill>
                  <a:schemeClr val="accent4"/>
                </a:solidFill>
              </a:rPr>
              <a:t>→</a:t>
            </a:r>
            <a:endParaRPr lang="en-US" sz="3600" dirty="0"/>
          </a:p>
        </p:txBody>
      </p:sp>
      <p:sp>
        <p:nvSpPr>
          <p:cNvPr id="7" name="Text 4"/>
          <p:cNvSpPr txBox="1"/>
          <p:nvPr/>
        </p:nvSpPr>
        <p:spPr>
          <a:xfrm>
            <a:off x="3383280" y="128016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3"/>
                </a:solidFill>
              </a:rPr>
              <a:t>7店舗</a:t>
            </a:r>
            <a:endParaRPr lang="en-US" sz="3200" dirty="0"/>
          </a:p>
        </p:txBody>
      </p:sp>
      <p:sp>
        <p:nvSpPr>
          <p:cNvPr id="8" name="Text 5"/>
          <p:cNvSpPr txBox="1"/>
          <p:nvPr/>
        </p:nvSpPr>
        <p:spPr>
          <a:xfrm>
            <a:off x="3383280" y="214884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現在（集約）</a:t>
            </a:r>
            <a:endParaRPr lang="en-US" sz="1300" dirty="0"/>
          </a:p>
        </p:txBody>
      </p:sp>
      <p:sp>
        <p:nvSpPr>
          <p:cNvPr id="9" name="card"/>
          <p:cNvSpPr/>
          <p:nvPr/>
        </p:nvSpPr>
        <p:spPr>
          <a:xfrm>
            <a:off x="5760720" y="1188720"/>
            <a:ext cx="2926080" cy="3200400"/>
          </a:xfrm>
          <a:prstGeom prst="roundRect">
            <a:avLst>
              <a:gd name="adj" fmla="val 2500"/>
            </a:avLst>
          </a:prstGeom>
          <a:solidFill>
            <a:schemeClr val="tx1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5989320" y="137160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本音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5989320" y="1783080"/>
            <a:ext cx="25146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人手不足で社員が倒れていく。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10年後の収益予想は、全店舗赤字。</a:t>
            </a:r>
            <a:endParaRPr lang="en-US" sz="1500" dirty="0"/>
          </a:p>
          <a:p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眠れなかったあの夜の恐怖が、原動力になった。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548640" y="3108960"/>
            <a:ext cx="49377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人が足りない → 利益が出ない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自分が張り付かないと回らない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「人に頼らない収益」が欲しい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そこから、いくつもの事業に挑戦した</a:t>
            </a:r>
            <a:endParaRPr lang="en-US" sz="2600" dirty="0"/>
          </a:p>
        </p:txBody>
      </p:sp>
      <p:sp>
        <p:nvSpPr>
          <p:cNvPr id="4" name="card"/>
          <p:cNvSpPr/>
          <p:nvPr/>
        </p:nvSpPr>
        <p:spPr>
          <a:xfrm>
            <a:off x="457200" y="1371600"/>
            <a:ext cx="1508760" cy="1188720"/>
          </a:xfrm>
          <a:prstGeom prst="roundRect">
            <a:avLst>
              <a:gd name="adj" fmla="val 6154"/>
            </a:avLst>
          </a:prstGeom>
          <a:solidFill>
            <a:schemeClr val="bg2"/>
          </a:solidFill>
          <a:ln/>
        </p:spPr>
      </p:sp>
      <p:sp>
        <p:nvSpPr>
          <p:cNvPr id="5" name="Text 2"/>
          <p:cNvSpPr txBox="1"/>
          <p:nvPr/>
        </p:nvSpPr>
        <p:spPr>
          <a:xfrm>
            <a:off x="457200" y="1371600"/>
            <a:ext cx="15087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エニタイム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フィットネス</a:t>
            </a:r>
            <a:endParaRPr lang="en-US" sz="1400" dirty="0"/>
          </a:p>
        </p:txBody>
      </p:sp>
      <p:sp>
        <p:nvSpPr>
          <p:cNvPr id="6" name="card"/>
          <p:cNvSpPr/>
          <p:nvPr/>
        </p:nvSpPr>
        <p:spPr>
          <a:xfrm>
            <a:off x="2103120" y="1371600"/>
            <a:ext cx="1508760" cy="1188720"/>
          </a:xfrm>
          <a:prstGeom prst="roundRect">
            <a:avLst>
              <a:gd name="adj" fmla="val 6154"/>
            </a:avLst>
          </a:prstGeom>
          <a:solidFill>
            <a:schemeClr val="bg2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2103120" y="1371600"/>
            <a:ext cx="15087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ブルーボトル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コーヒー</a:t>
            </a:r>
            <a:endParaRPr lang="en-US" sz="1400" dirty="0"/>
          </a:p>
        </p:txBody>
      </p:sp>
      <p:sp>
        <p:nvSpPr>
          <p:cNvPr id="8" name="card"/>
          <p:cNvSpPr/>
          <p:nvPr/>
        </p:nvSpPr>
        <p:spPr>
          <a:xfrm>
            <a:off x="3749040" y="1371600"/>
            <a:ext cx="1508760" cy="1188720"/>
          </a:xfrm>
          <a:prstGeom prst="roundRect">
            <a:avLst>
              <a:gd name="adj" fmla="val 6154"/>
            </a:avLst>
          </a:prstGeom>
          <a:solidFill>
            <a:schemeClr val="bg2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3749040" y="1371600"/>
            <a:ext cx="15087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八百屋</a:t>
            </a:r>
            <a:endParaRPr lang="en-US" sz="1400" dirty="0"/>
          </a:p>
        </p:txBody>
      </p:sp>
      <p:sp>
        <p:nvSpPr>
          <p:cNvPr id="10" name="card"/>
          <p:cNvSpPr/>
          <p:nvPr/>
        </p:nvSpPr>
        <p:spPr>
          <a:xfrm>
            <a:off x="5394960" y="1371600"/>
            <a:ext cx="1508760" cy="1188720"/>
          </a:xfrm>
          <a:prstGeom prst="roundRect">
            <a:avLst>
              <a:gd name="adj" fmla="val 6154"/>
            </a:avLst>
          </a:prstGeom>
          <a:solidFill>
            <a:schemeClr val="bg2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5394960" y="1371600"/>
            <a:ext cx="15087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コーヒー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ショップ</a:t>
            </a:r>
            <a:endParaRPr lang="en-US" sz="1400" dirty="0"/>
          </a:p>
        </p:txBody>
      </p:sp>
      <p:sp>
        <p:nvSpPr>
          <p:cNvPr id="12" name="card"/>
          <p:cNvSpPr/>
          <p:nvPr/>
        </p:nvSpPr>
        <p:spPr>
          <a:xfrm>
            <a:off x="7040880" y="1371600"/>
            <a:ext cx="1508760" cy="1188720"/>
          </a:xfrm>
          <a:prstGeom prst="roundRect">
            <a:avLst>
              <a:gd name="adj" fmla="val 6154"/>
            </a:avLst>
          </a:prstGeom>
          <a:solidFill>
            <a:schemeClr val="bg2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7040880" y="1371600"/>
            <a:ext cx="15087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コイン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ランドリー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457200" y="29260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挑戦から見えてきた「欲しい事業」の条件</a:t>
            </a:r>
            <a:endParaRPr lang="en-US" sz="1800" dirty="0"/>
          </a:p>
        </p:txBody>
      </p:sp>
      <p:sp>
        <p:nvSpPr>
          <p:cNvPr id="15" name="badge"/>
          <p:cNvSpPr/>
          <p:nvPr/>
        </p:nvSpPr>
        <p:spPr>
          <a:xfrm>
            <a:off x="457200" y="3474720"/>
            <a:ext cx="457200" cy="45720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457200" y="34747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1005840" y="342900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自分が張り付かなくても回る</a:t>
            </a:r>
            <a:endParaRPr lang="en-US" sz="1400" dirty="0"/>
          </a:p>
        </p:txBody>
      </p:sp>
      <p:sp>
        <p:nvSpPr>
          <p:cNvPr id="18" name="badge"/>
          <p:cNvSpPr/>
          <p:nvPr/>
        </p:nvSpPr>
        <p:spPr>
          <a:xfrm>
            <a:off x="3246120" y="3474720"/>
            <a:ext cx="457200" cy="45720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3246120" y="34747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3794760" y="342900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数字で説明でき、融資が使える</a:t>
            </a:r>
            <a:endParaRPr lang="en-US" sz="1400" dirty="0"/>
          </a:p>
        </p:txBody>
      </p:sp>
      <p:sp>
        <p:nvSpPr>
          <p:cNvPr id="21" name="badge"/>
          <p:cNvSpPr/>
          <p:nvPr/>
        </p:nvSpPr>
        <p:spPr>
          <a:xfrm>
            <a:off x="6035040" y="3474720"/>
            <a:ext cx="457200" cy="45720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6035040" y="34747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6583680" y="342900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小さく始めて、積み上げられる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アプリ開発で、投資家ピッチに優勝した</a:t>
            </a:r>
            <a:endParaRPr lang="en-US" sz="2600" dirty="0"/>
          </a:p>
        </p:txBody>
      </p:sp>
      <p:sp>
        <p:nvSpPr>
          <p:cNvPr id="4" name="card"/>
          <p:cNvSpPr/>
          <p:nvPr/>
        </p:nvSpPr>
        <p:spPr>
          <a:xfrm>
            <a:off x="457200" y="1280160"/>
            <a:ext cx="4023360" cy="3200400"/>
          </a:xfrm>
          <a:prstGeom prst="roundRect">
            <a:avLst>
              <a:gd name="adj" fmla="val 2286"/>
            </a:avLst>
          </a:prstGeom>
          <a:solidFill>
            <a:schemeClr val="tx1"/>
          </a:solidFill>
          <a:ln/>
        </p:spPr>
      </p:sp>
      <p:sp>
        <p:nvSpPr>
          <p:cNvPr id="5" name="Text 2"/>
          <p:cNvSpPr txBox="1"/>
          <p:nvPr/>
        </p:nvSpPr>
        <p:spPr>
          <a:xfrm>
            <a:off x="731520" y="1554480"/>
            <a:ext cx="3474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chemeClr val="accent1"/>
                </a:solidFill>
              </a:rPr>
              <a:t>優勝</a:t>
            </a:r>
            <a:endParaRPr lang="en-US" sz="4400" dirty="0"/>
          </a:p>
        </p:txBody>
      </p:sp>
      <p:sp>
        <p:nvSpPr>
          <p:cNvPr id="6" name="Text 3"/>
          <p:cNvSpPr txBox="1"/>
          <p:nvPr/>
        </p:nvSpPr>
        <p:spPr>
          <a:xfrm>
            <a:off x="731520" y="2468880"/>
            <a:ext cx="3474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Global Geek Audition vol.13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（G's ACADEMY TOKYO / 2019年）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731520" y="3383280"/>
            <a:ext cx="3474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ProShift：現場の人手不足を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アプリで解決するサービス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4846320" y="1463040"/>
            <a:ext cx="384048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自分の課題（人手不足）を、自分で形にできた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投資家に「数字と根拠」で説明する経験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この経験が、金融機関への説明力につながった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不動産と出会い、人生が動き始めた</a:t>
            </a:r>
            <a:endParaRPr lang="en-US" sz="2600" dirty="0"/>
          </a:p>
        </p:txBody>
      </p:sp>
      <p:sp>
        <p:nvSpPr>
          <p:cNvPr id="4" name="card"/>
          <p:cNvSpPr/>
          <p:nvPr/>
        </p:nvSpPr>
        <p:spPr>
          <a:xfrm>
            <a:off x="457200" y="1371600"/>
            <a:ext cx="3931920" cy="2651760"/>
          </a:xfrm>
          <a:prstGeom prst="roundRect">
            <a:avLst>
              <a:gd name="adj" fmla="val 2759"/>
            </a:avLst>
          </a:prstGeom>
          <a:solidFill>
            <a:schemeClr val="bg2"/>
          </a:solidFill>
          <a:ln/>
        </p:spPr>
      </p:sp>
      <p:sp>
        <p:nvSpPr>
          <p:cNvPr id="5" name="Text 2"/>
          <p:cNvSpPr txBox="1"/>
          <p:nvPr/>
        </p:nvSpPr>
        <p:spPr>
          <a:xfrm>
            <a:off x="731520" y="155448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3"/>
                </a:solidFill>
              </a:rPr>
              <a:t>人手の事業</a:t>
            </a:r>
            <a:endParaRPr lang="en-US" sz="2200" dirty="0"/>
          </a:p>
        </p:txBody>
      </p:sp>
      <p:sp>
        <p:nvSpPr>
          <p:cNvPr id="6" name="Text 3"/>
          <p:cNvSpPr txBox="1"/>
          <p:nvPr/>
        </p:nvSpPr>
        <p:spPr>
          <a:xfrm>
            <a:off x="731520" y="210312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店舗・アプリ・飲食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731520" y="2651760"/>
            <a:ext cx="3383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自分と社員の時間が必要</a:t>
            </a:r>
            <a:endParaRPr lang="en-US" sz="1600" dirty="0"/>
          </a:p>
        </p:txBody>
      </p:sp>
      <p:sp>
        <p:nvSpPr>
          <p:cNvPr id="8" name="card"/>
          <p:cNvSpPr/>
          <p:nvPr/>
        </p:nvSpPr>
        <p:spPr>
          <a:xfrm>
            <a:off x="4754880" y="1371600"/>
            <a:ext cx="3931920" cy="2651760"/>
          </a:xfrm>
          <a:prstGeom prst="roundRect">
            <a:avLst>
              <a:gd name="adj" fmla="val 2759"/>
            </a:avLst>
          </a:prstGeom>
          <a:solidFill>
            <a:schemeClr val="bg2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5029200" y="155448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不動産</a:t>
            </a:r>
            <a:endParaRPr lang="en-US" sz="2200" dirty="0"/>
          </a:p>
        </p:txBody>
      </p:sp>
      <p:sp>
        <p:nvSpPr>
          <p:cNvPr id="10" name="Text 7"/>
          <p:cNvSpPr txBox="1"/>
          <p:nvPr/>
        </p:nvSpPr>
        <p:spPr>
          <a:xfrm>
            <a:off x="5029200" y="210312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賃貸アパート・マンション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5029200" y="2651760"/>
            <a:ext cx="3383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仕組みが回れば自分は不要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融資が使える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457200" y="42519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</a:rPr>
              <a:t>→ 2021年末、最初の1棟（千葉県市原市）を購入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1737360"/>
            <a:ext cx="7680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弱者の戦略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23444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PART 2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3108960"/>
            <a:ext cx="7680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bg2"/>
                </a:solidFill>
              </a:rPr>
              <a:t>お金をかけずに買い、インカムで返し、現金を貯める</a:t>
            </a:r>
            <a:endParaRPr lang="en-US" sz="1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「弱者の戦略」とは何か</a:t>
            </a:r>
            <a:endParaRPr lang="en-US" sz="2600" dirty="0"/>
          </a:p>
        </p:txBody>
      </p:sp>
      <p:sp>
        <p:nvSpPr>
          <p:cNvPr id="4" name="card"/>
          <p:cNvSpPr/>
          <p:nvPr/>
        </p:nvSpPr>
        <p:spPr>
          <a:xfrm>
            <a:off x="457200" y="1280160"/>
            <a:ext cx="3931920" cy="3108960"/>
          </a:xfrm>
          <a:prstGeom prst="roundRect">
            <a:avLst>
              <a:gd name="adj" fmla="val 2353"/>
            </a:avLst>
          </a:prstGeom>
          <a:solidFill>
            <a:schemeClr val="bg2"/>
          </a:solidFill>
          <a:ln/>
        </p:spPr>
      </p:sp>
      <p:sp>
        <p:nvSpPr>
          <p:cNvPr id="5" name="Text 2"/>
          <p:cNvSpPr txBox="1"/>
          <p:nvPr/>
        </p:nvSpPr>
        <p:spPr>
          <a:xfrm>
            <a:off x="731520" y="146304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00000"/>
                </a:solidFill>
              </a:rPr>
              <a:t>強者の戦い方</a:t>
            </a:r>
            <a:endParaRPr lang="en-US" sz="2000" dirty="0"/>
          </a:p>
        </p:txBody>
      </p:sp>
      <p:sp>
        <p:nvSpPr>
          <p:cNvPr id="6" name="Text 3"/>
          <p:cNvSpPr txBox="1"/>
          <p:nvPr/>
        </p:nvSpPr>
        <p:spPr>
          <a:xfrm>
            <a:off x="731520" y="2103120"/>
            <a:ext cx="338328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都心の一等地を買う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自己資金・属性が厚い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利回りは低くても気にしない</a:t>
            </a:r>
            <a:endParaRPr lang="en-US" sz="1500" dirty="0"/>
          </a:p>
        </p:txBody>
      </p:sp>
      <p:sp>
        <p:nvSpPr>
          <p:cNvPr id="7" name="card"/>
          <p:cNvSpPr/>
          <p:nvPr/>
        </p:nvSpPr>
        <p:spPr>
          <a:xfrm>
            <a:off x="4754880" y="1280160"/>
            <a:ext cx="3931920" cy="3108960"/>
          </a:xfrm>
          <a:prstGeom prst="roundRect">
            <a:avLst>
              <a:gd name="adj" fmla="val 2353"/>
            </a:avLst>
          </a:prstGeom>
          <a:solidFill>
            <a:schemeClr val="accent5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5029200" y="146304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00000"/>
                </a:solidFill>
              </a:rPr>
              <a:t>弱者の戦い方</a:t>
            </a:r>
            <a:endParaRPr lang="en-US" sz="2000" dirty="0"/>
          </a:p>
        </p:txBody>
      </p:sp>
      <p:sp>
        <p:nvSpPr>
          <p:cNvPr id="9" name="Text 6"/>
          <p:cNvSpPr txBox="1"/>
          <p:nvPr/>
        </p:nvSpPr>
        <p:spPr>
          <a:xfrm>
            <a:off x="5029200" y="2103120"/>
            <a:ext cx="338328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地方で、積算が売買価格を上回る物件を買う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高利回りで満室、インカムで返済する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法定耐用年数内の融資を引く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買う物件の条件は、この4つだけ</a:t>
            </a:r>
            <a:endParaRPr lang="en-US" sz="2600" dirty="0"/>
          </a:p>
        </p:txBody>
      </p:sp>
      <p:sp>
        <p:nvSpPr>
          <p:cNvPr id="4" name="card"/>
          <p:cNvSpPr/>
          <p:nvPr/>
        </p:nvSpPr>
        <p:spPr>
          <a:xfrm>
            <a:off x="457200" y="1280160"/>
            <a:ext cx="3931920" cy="146304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/>
        </p:spPr>
      </p:sp>
      <p:sp>
        <p:nvSpPr>
          <p:cNvPr id="5" name="badge"/>
          <p:cNvSpPr/>
          <p:nvPr/>
        </p:nvSpPr>
        <p:spPr>
          <a:xfrm>
            <a:off x="685800" y="1691640"/>
            <a:ext cx="640080" cy="64008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68580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1</a:t>
            </a:r>
            <a:endParaRPr lang="en-US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1508760" y="155448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積算 ≧ 売買価格</a:t>
            </a:r>
            <a:endParaRPr lang="en-US" sz="2000" dirty="0"/>
          </a:p>
        </p:txBody>
      </p:sp>
      <p:sp>
        <p:nvSpPr>
          <p:cNvPr id="8" name="Text 5"/>
          <p:cNvSpPr txBox="1"/>
          <p:nvPr/>
        </p:nvSpPr>
        <p:spPr>
          <a:xfrm>
            <a:off x="1508760" y="205740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担保評価が購入価格を上回る</a:t>
            </a:r>
            <a:endParaRPr lang="en-US" sz="1400" dirty="0"/>
          </a:p>
        </p:txBody>
      </p:sp>
      <p:sp>
        <p:nvSpPr>
          <p:cNvPr id="9" name="card"/>
          <p:cNvSpPr/>
          <p:nvPr/>
        </p:nvSpPr>
        <p:spPr>
          <a:xfrm>
            <a:off x="4754880" y="1280160"/>
            <a:ext cx="3931920" cy="146304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/>
        </p:spPr>
      </p:sp>
      <p:sp>
        <p:nvSpPr>
          <p:cNvPr id="10" name="badge"/>
          <p:cNvSpPr/>
          <p:nvPr/>
        </p:nvSpPr>
        <p:spPr>
          <a:xfrm>
            <a:off x="4983480" y="1691640"/>
            <a:ext cx="640080" cy="64008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498348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2</a:t>
            </a:r>
            <a:endParaRPr lang="en-US" sz="1800" dirty="0"/>
          </a:p>
        </p:txBody>
      </p:sp>
      <p:sp>
        <p:nvSpPr>
          <p:cNvPr id="12" name="Text 9"/>
          <p:cNvSpPr txBox="1"/>
          <p:nvPr/>
        </p:nvSpPr>
        <p:spPr>
          <a:xfrm>
            <a:off x="5806440" y="155448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高利回り</a:t>
            </a:r>
            <a:endParaRPr lang="en-US" sz="2000" dirty="0"/>
          </a:p>
        </p:txBody>
      </p:sp>
      <p:sp>
        <p:nvSpPr>
          <p:cNvPr id="13" name="Text 10"/>
          <p:cNvSpPr txBox="1"/>
          <p:nvPr/>
        </p:nvSpPr>
        <p:spPr>
          <a:xfrm>
            <a:off x="5806440" y="205740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築20年で9〜10%が中心</a:t>
            </a:r>
            <a:endParaRPr lang="en-US" sz="1400" dirty="0"/>
          </a:p>
        </p:txBody>
      </p:sp>
      <p:sp>
        <p:nvSpPr>
          <p:cNvPr id="14" name="card"/>
          <p:cNvSpPr/>
          <p:nvPr/>
        </p:nvSpPr>
        <p:spPr>
          <a:xfrm>
            <a:off x="457200" y="2926080"/>
            <a:ext cx="3931920" cy="146304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/>
        </p:spPr>
      </p:sp>
      <p:sp>
        <p:nvSpPr>
          <p:cNvPr id="15" name="badge"/>
          <p:cNvSpPr/>
          <p:nvPr/>
        </p:nvSpPr>
        <p:spPr>
          <a:xfrm>
            <a:off x="685800" y="3337560"/>
            <a:ext cx="640080" cy="64008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685800" y="33375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3</a:t>
            </a:r>
            <a:endParaRPr lang="en-US" sz="1800" dirty="0"/>
          </a:p>
        </p:txBody>
      </p:sp>
      <p:sp>
        <p:nvSpPr>
          <p:cNvPr id="17" name="Text 14"/>
          <p:cNvSpPr txBox="1"/>
          <p:nvPr/>
        </p:nvSpPr>
        <p:spPr>
          <a:xfrm>
            <a:off x="1508760" y="320040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満室で稼働</a:t>
            </a:r>
            <a:endParaRPr lang="en-US" sz="2000" dirty="0"/>
          </a:p>
        </p:txBody>
      </p:sp>
      <p:sp>
        <p:nvSpPr>
          <p:cNvPr id="18" name="Text 15"/>
          <p:cNvSpPr txBox="1"/>
          <p:nvPr/>
        </p:nvSpPr>
        <p:spPr>
          <a:xfrm>
            <a:off x="1508760" y="370332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家賃がきちんと入っている</a:t>
            </a:r>
            <a:endParaRPr lang="en-US" sz="1400" dirty="0"/>
          </a:p>
        </p:txBody>
      </p:sp>
      <p:sp>
        <p:nvSpPr>
          <p:cNvPr id="19" name="card"/>
          <p:cNvSpPr/>
          <p:nvPr/>
        </p:nvSpPr>
        <p:spPr>
          <a:xfrm>
            <a:off x="4754880" y="2926080"/>
            <a:ext cx="3931920" cy="146304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/>
        </p:spPr>
      </p:sp>
      <p:sp>
        <p:nvSpPr>
          <p:cNvPr id="20" name="badge"/>
          <p:cNvSpPr/>
          <p:nvPr/>
        </p:nvSpPr>
        <p:spPr>
          <a:xfrm>
            <a:off x="4983480" y="3337560"/>
            <a:ext cx="640080" cy="64008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4983480" y="33375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4</a:t>
            </a:r>
            <a:endParaRPr lang="en-US" sz="1800" dirty="0"/>
          </a:p>
        </p:txBody>
      </p:sp>
      <p:sp>
        <p:nvSpPr>
          <p:cNvPr id="22" name="Text 19"/>
          <p:cNvSpPr txBox="1"/>
          <p:nvPr/>
        </p:nvSpPr>
        <p:spPr>
          <a:xfrm>
            <a:off x="5806440" y="320040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耐用年数内融資</a:t>
            </a:r>
            <a:endParaRPr lang="en-US" sz="2000" dirty="0"/>
          </a:p>
        </p:txBody>
      </p:sp>
      <p:sp>
        <p:nvSpPr>
          <p:cNvPr id="23" name="Text 20"/>
          <p:cNvSpPr txBox="1"/>
          <p:nvPr/>
        </p:nvSpPr>
        <p:spPr>
          <a:xfrm>
            <a:off x="5806440" y="370332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法定耐用年数の範囲で返済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なぜ、お金をかけずに買えるのか</a:t>
            </a:r>
            <a:endParaRPr lang="en-US" sz="2600" dirty="0"/>
          </a:p>
        </p:txBody>
      </p:sp>
      <p:sp>
        <p:nvSpPr>
          <p:cNvPr id="4" name="card"/>
          <p:cNvSpPr/>
          <p:nvPr/>
        </p:nvSpPr>
        <p:spPr>
          <a:xfrm>
            <a:off x="457200" y="1554480"/>
            <a:ext cx="1828800" cy="1371600"/>
          </a:xfrm>
          <a:prstGeom prst="roundRect">
            <a:avLst>
              <a:gd name="adj" fmla="val 5333"/>
            </a:avLst>
          </a:prstGeom>
          <a:solidFill>
            <a:schemeClr val="accent5"/>
          </a:solidFill>
          <a:ln/>
        </p:spPr>
      </p:sp>
      <p:sp>
        <p:nvSpPr>
          <p:cNvPr id="5" name="Text 2"/>
          <p:cNvSpPr txBox="1"/>
          <p:nvPr/>
        </p:nvSpPr>
        <p:spPr>
          <a:xfrm>
            <a:off x="457200" y="1554480"/>
            <a:ext cx="18288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積算価格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が高い物件を買う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2286000" y="2011680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>
                <a:solidFill>
                  <a:schemeClr val="accent4"/>
                </a:solidFill>
              </a:rPr>
              <a:t>▶</a:t>
            </a:r>
            <a:endParaRPr lang="en-US" sz="1800" dirty="0"/>
          </a:p>
        </p:txBody>
      </p:sp>
      <p:sp>
        <p:nvSpPr>
          <p:cNvPr id="7" name="card"/>
          <p:cNvSpPr/>
          <p:nvPr/>
        </p:nvSpPr>
        <p:spPr>
          <a:xfrm>
            <a:off x="2606040" y="1554480"/>
            <a:ext cx="1828800" cy="1371600"/>
          </a:xfrm>
          <a:prstGeom prst="roundRect">
            <a:avLst>
              <a:gd name="adj" fmla="val 5333"/>
            </a:avLst>
          </a:prstGeom>
          <a:solidFill>
            <a:schemeClr val="accent6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2606040" y="1554480"/>
            <a:ext cx="18288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銀行から見て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担保が十分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4434840" y="2011680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>
                <a:solidFill>
                  <a:schemeClr val="accent4"/>
                </a:solidFill>
              </a:rPr>
              <a:t>▶</a:t>
            </a:r>
            <a:endParaRPr lang="en-US" sz="1800" dirty="0"/>
          </a:p>
        </p:txBody>
      </p:sp>
      <p:sp>
        <p:nvSpPr>
          <p:cNvPr id="10" name="card"/>
          <p:cNvSpPr/>
          <p:nvPr/>
        </p:nvSpPr>
        <p:spPr>
          <a:xfrm>
            <a:off x="4754880" y="1554480"/>
            <a:ext cx="1828800" cy="1371600"/>
          </a:xfrm>
          <a:prstGeom prst="roundRect">
            <a:avLst>
              <a:gd name="adj" fmla="val 5333"/>
            </a:avLst>
          </a:prstGeom>
          <a:solidFill>
            <a:schemeClr val="accent5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4754880" y="1554480"/>
            <a:ext cx="18288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自己資金を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抑えて融資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6583680" y="2011680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>
                <a:solidFill>
                  <a:schemeClr val="accent4"/>
                </a:solidFill>
              </a:rPr>
              <a:t>▶</a:t>
            </a:r>
            <a:endParaRPr lang="en-US" sz="1800" dirty="0"/>
          </a:p>
        </p:txBody>
      </p:sp>
      <p:sp>
        <p:nvSpPr>
          <p:cNvPr id="13" name="card"/>
          <p:cNvSpPr/>
          <p:nvPr/>
        </p:nvSpPr>
        <p:spPr>
          <a:xfrm>
            <a:off x="6903720" y="1554480"/>
            <a:ext cx="1828800" cy="1371600"/>
          </a:xfrm>
          <a:prstGeom prst="roundRect">
            <a:avLst>
              <a:gd name="adj" fmla="val 5333"/>
            </a:avLst>
          </a:prstGeom>
          <a:solidFill>
            <a:schemeClr val="accent6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6903720" y="1554480"/>
            <a:ext cx="18288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家賃収入で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返済</a:t>
            </a:r>
            <a:endParaRPr lang="en-US" sz="1500" dirty="0"/>
          </a:p>
        </p:txBody>
      </p:sp>
      <p:sp>
        <p:nvSpPr>
          <p:cNvPr id="15" name="card"/>
          <p:cNvSpPr/>
          <p:nvPr/>
        </p:nvSpPr>
        <p:spPr>
          <a:xfrm>
            <a:off x="457200" y="3291840"/>
            <a:ext cx="8229600" cy="1188720"/>
          </a:xfrm>
          <a:prstGeom prst="roundRect">
            <a:avLst>
              <a:gd name="adj" fmla="val 6154"/>
            </a:avLst>
          </a:prstGeom>
          <a:solidFill>
            <a:schemeClr val="tx1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731520" y="3291840"/>
            <a:ext cx="7680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お金を借りることが目的ではない。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「物件の価値」と「家賃収入」で返せる範囲だけ借りる。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事例：岐阜県北方町のRC7階建マンション</a:t>
            </a:r>
            <a:endParaRPr lang="en-US" sz="26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365760" y="1188720"/>
          <a:ext cx="4937760" cy="33832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card"/>
          <p:cNvSpPr/>
          <p:nvPr/>
        </p:nvSpPr>
        <p:spPr>
          <a:xfrm>
            <a:off x="5577840" y="1280160"/>
            <a:ext cx="3108960" cy="3200400"/>
          </a:xfrm>
          <a:prstGeom prst="roundRect">
            <a:avLst>
              <a:gd name="adj" fmla="val 2353"/>
            </a:avLst>
          </a:prstGeom>
          <a:solidFill>
            <a:schemeClr val="bg2"/>
          </a:solidFill>
          <a:ln/>
        </p:spPr>
      </p:sp>
      <p:sp>
        <p:nvSpPr>
          <p:cNvPr id="6" name="Text 2"/>
          <p:cNvSpPr txBox="1"/>
          <p:nvPr/>
        </p:nvSpPr>
        <p:spPr>
          <a:xfrm>
            <a:off x="5806440" y="141732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</a:rPr>
              <a:t>物件概要</a:t>
            </a:r>
            <a:endParaRPr lang="en-US" sz="1400" dirty="0"/>
          </a:p>
        </p:txBody>
      </p:sp>
      <p:sp>
        <p:nvSpPr>
          <p:cNvPr id="7" name="Text 3"/>
          <p:cNvSpPr txBox="1"/>
          <p:nvPr/>
        </p:nvSpPr>
        <p:spPr>
          <a:xfrm>
            <a:off x="5806440" y="1828800"/>
            <a:ext cx="274320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RC7階建・築22年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24戸＋テナント4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駐車場58台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年間収入 約2,897万円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借入 2.95億円</a:t>
            </a:r>
            <a:endParaRPr lang="en-US" sz="1300" dirty="0"/>
          </a:p>
        </p:txBody>
      </p:sp>
      <p:sp>
        <p:nvSpPr>
          <p:cNvPr id="8" name="Text 4"/>
          <p:cNvSpPr txBox="1"/>
          <p:nvPr/>
        </p:nvSpPr>
        <p:spPr>
          <a:xfrm>
            <a:off x="457200" y="46177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※融資申込時の事業計画書より（概算値）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決算書が「いい内容」で回る理由</a:t>
            </a:r>
            <a:endParaRPr lang="en-US" sz="2600" dirty="0"/>
          </a:p>
        </p:txBody>
      </p:sp>
      <p:sp>
        <p:nvSpPr>
          <p:cNvPr id="4" name="card"/>
          <p:cNvSpPr/>
          <p:nvPr/>
        </p:nvSpPr>
        <p:spPr>
          <a:xfrm>
            <a:off x="457200" y="1371600"/>
            <a:ext cx="2651760" cy="1828800"/>
          </a:xfrm>
          <a:prstGeom prst="roundRect">
            <a:avLst>
              <a:gd name="adj" fmla="val 4000"/>
            </a:avLst>
          </a:prstGeom>
          <a:solidFill>
            <a:schemeClr val="bg2"/>
          </a:solidFill>
          <a:ln/>
        </p:spPr>
      </p:sp>
      <p:sp>
        <p:nvSpPr>
          <p:cNvPr id="5" name="badge"/>
          <p:cNvSpPr/>
          <p:nvPr/>
        </p:nvSpPr>
        <p:spPr>
          <a:xfrm>
            <a:off x="685800" y="1554480"/>
            <a:ext cx="548640" cy="54864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685800" y="15544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1</a:t>
            </a:r>
            <a:endParaRPr lang="en-US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224028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満室の家賃収入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685800" y="269748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売上が安定して入る</a:t>
            </a:r>
            <a:endParaRPr lang="en-US" sz="1300" dirty="0"/>
          </a:p>
        </p:txBody>
      </p:sp>
      <p:sp>
        <p:nvSpPr>
          <p:cNvPr id="9" name="card"/>
          <p:cNvSpPr/>
          <p:nvPr/>
        </p:nvSpPr>
        <p:spPr>
          <a:xfrm>
            <a:off x="3291840" y="1371600"/>
            <a:ext cx="2651760" cy="1828800"/>
          </a:xfrm>
          <a:prstGeom prst="roundRect">
            <a:avLst>
              <a:gd name="adj" fmla="val 4000"/>
            </a:avLst>
          </a:prstGeom>
          <a:solidFill>
            <a:schemeClr val="bg2"/>
          </a:solidFill>
          <a:ln/>
        </p:spPr>
      </p:sp>
      <p:sp>
        <p:nvSpPr>
          <p:cNvPr id="10" name="badge"/>
          <p:cNvSpPr/>
          <p:nvPr/>
        </p:nvSpPr>
        <p:spPr>
          <a:xfrm>
            <a:off x="3520440" y="1554480"/>
            <a:ext cx="548640" cy="54864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3520440" y="15544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2</a:t>
            </a:r>
            <a:endParaRPr lang="en-US" sz="1800" dirty="0"/>
          </a:p>
        </p:txBody>
      </p:sp>
      <p:sp>
        <p:nvSpPr>
          <p:cNvPr id="12" name="Text 9"/>
          <p:cNvSpPr txBox="1"/>
          <p:nvPr/>
        </p:nvSpPr>
        <p:spPr>
          <a:xfrm>
            <a:off x="3520440" y="224028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耐用年数内の返済</a:t>
            </a:r>
            <a:endParaRPr lang="en-US" sz="1700" dirty="0"/>
          </a:p>
        </p:txBody>
      </p:sp>
      <p:sp>
        <p:nvSpPr>
          <p:cNvPr id="13" name="Text 10"/>
          <p:cNvSpPr txBox="1"/>
          <p:nvPr/>
        </p:nvSpPr>
        <p:spPr>
          <a:xfrm>
            <a:off x="3520440" y="269748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元金が確実に減る</a:t>
            </a:r>
            <a:endParaRPr lang="en-US" sz="1300" dirty="0"/>
          </a:p>
        </p:txBody>
      </p:sp>
      <p:sp>
        <p:nvSpPr>
          <p:cNvPr id="14" name="card"/>
          <p:cNvSpPr/>
          <p:nvPr/>
        </p:nvSpPr>
        <p:spPr>
          <a:xfrm>
            <a:off x="6126480" y="1371600"/>
            <a:ext cx="2651760" cy="1828800"/>
          </a:xfrm>
          <a:prstGeom prst="roundRect">
            <a:avLst>
              <a:gd name="adj" fmla="val 4000"/>
            </a:avLst>
          </a:prstGeom>
          <a:solidFill>
            <a:schemeClr val="bg2"/>
          </a:solidFill>
          <a:ln/>
        </p:spPr>
      </p:sp>
      <p:sp>
        <p:nvSpPr>
          <p:cNvPr id="15" name="badge"/>
          <p:cNvSpPr/>
          <p:nvPr/>
        </p:nvSpPr>
        <p:spPr>
          <a:xfrm>
            <a:off x="6355080" y="1554480"/>
            <a:ext cx="548640" cy="54864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6355080" y="15544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3</a:t>
            </a:r>
            <a:endParaRPr lang="en-US" sz="1800" dirty="0"/>
          </a:p>
        </p:txBody>
      </p:sp>
      <p:sp>
        <p:nvSpPr>
          <p:cNvPr id="17" name="Text 14"/>
          <p:cNvSpPr txBox="1"/>
          <p:nvPr/>
        </p:nvSpPr>
        <p:spPr>
          <a:xfrm>
            <a:off x="6355080" y="224028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積算の厚い資産</a:t>
            </a:r>
            <a:endParaRPr lang="en-US" sz="1700" dirty="0"/>
          </a:p>
        </p:txBody>
      </p:sp>
      <p:sp>
        <p:nvSpPr>
          <p:cNvPr id="18" name="Text 15"/>
          <p:cNvSpPr txBox="1"/>
          <p:nvPr/>
        </p:nvSpPr>
        <p:spPr>
          <a:xfrm>
            <a:off x="6355080" y="269748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担保に余裕がある</a:t>
            </a:r>
            <a:endParaRPr lang="en-US" sz="1300" dirty="0"/>
          </a:p>
        </p:txBody>
      </p:sp>
      <p:sp>
        <p:nvSpPr>
          <p:cNvPr id="19" name="card"/>
          <p:cNvSpPr/>
          <p:nvPr/>
        </p:nvSpPr>
        <p:spPr>
          <a:xfrm>
            <a:off x="457200" y="3474720"/>
            <a:ext cx="8229600" cy="1005840"/>
          </a:xfrm>
          <a:prstGeom prst="roundRect">
            <a:avLst>
              <a:gd name="adj" fmla="val 7273"/>
            </a:avLst>
          </a:prstGeom>
          <a:solidFill>
            <a:schemeClr val="accent6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731520" y="3474720"/>
            <a:ext cx="7680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決算書がよいと、次の融資が通る。次の融資が通ると、物件が増える。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4年間の道のり：2021年末〜2025年11月</a:t>
            </a:r>
            <a:endParaRPr lang="en-US" sz="2600" dirty="0"/>
          </a:p>
        </p:txBody>
      </p:sp>
      <p:sp>
        <p:nvSpPr>
          <p:cNvPr id="4" name="Shape 1"/>
          <p:cNvSpPr/>
          <p:nvPr/>
        </p:nvSpPr>
        <p:spPr>
          <a:xfrm>
            <a:off x="1097280" y="2148840"/>
            <a:ext cx="6949440" cy="0"/>
          </a:xfrm>
          <a:prstGeom prst="line">
            <a:avLst/>
          </a:prstGeom>
          <a:noFill/>
          <a:ln w="25400">
            <a:solidFill>
              <a:schemeClr val="accent4"/>
            </a:solidFill>
            <a:prstDash val="solid"/>
          </a:ln>
        </p:spPr>
      </p:sp>
      <p:sp>
        <p:nvSpPr>
          <p:cNvPr id="5" name="badge"/>
          <p:cNvSpPr/>
          <p:nvPr/>
        </p:nvSpPr>
        <p:spPr>
          <a:xfrm>
            <a:off x="1371600" y="187452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1371600" y="18745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1</a:t>
            </a:r>
            <a:endParaRPr lang="en-US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128016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2021年末</a:t>
            </a:r>
            <a:endParaRPr lang="en-US" sz="1600" dirty="0"/>
          </a:p>
        </p:txBody>
      </p:sp>
      <p:sp>
        <p:nvSpPr>
          <p:cNvPr id="8" name="card"/>
          <p:cNvSpPr/>
          <p:nvPr/>
        </p:nvSpPr>
        <p:spPr>
          <a:xfrm>
            <a:off x="457200" y="2697480"/>
            <a:ext cx="2377440" cy="173736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594360" y="283464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購入開始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594360" y="3566160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千葉県市原市のアパート</a:t>
            </a:r>
            <a:endParaRPr lang="en-US" sz="1300" dirty="0"/>
          </a:p>
        </p:txBody>
      </p:sp>
      <p:sp>
        <p:nvSpPr>
          <p:cNvPr id="11" name="badge"/>
          <p:cNvSpPr/>
          <p:nvPr/>
        </p:nvSpPr>
        <p:spPr>
          <a:xfrm>
            <a:off x="4206240" y="187452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4206240" y="18745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2</a:t>
            </a:r>
            <a:endParaRPr lang="en-US" sz="1800" dirty="0"/>
          </a:p>
        </p:txBody>
      </p:sp>
      <p:sp>
        <p:nvSpPr>
          <p:cNvPr id="13" name="Text 10"/>
          <p:cNvSpPr txBox="1"/>
          <p:nvPr/>
        </p:nvSpPr>
        <p:spPr>
          <a:xfrm>
            <a:off x="3291840" y="128016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2022〜2025年</a:t>
            </a:r>
            <a:endParaRPr lang="en-US" sz="1600" dirty="0"/>
          </a:p>
        </p:txBody>
      </p:sp>
      <p:sp>
        <p:nvSpPr>
          <p:cNvPr id="14" name="card"/>
          <p:cNvSpPr/>
          <p:nvPr/>
        </p:nvSpPr>
        <p:spPr>
          <a:xfrm>
            <a:off x="3291840" y="2697480"/>
            <a:ext cx="2377440" cy="173736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3429000" y="283464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地方の高積算・高利回りに集中</a:t>
            </a:r>
            <a:endParaRPr lang="en-US" sz="1500" dirty="0"/>
          </a:p>
        </p:txBody>
      </p:sp>
      <p:sp>
        <p:nvSpPr>
          <p:cNvPr id="16" name="Text 13"/>
          <p:cNvSpPr txBox="1"/>
          <p:nvPr/>
        </p:nvSpPr>
        <p:spPr>
          <a:xfrm>
            <a:off x="3429000" y="3566160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積算を重視して十数棟を買い進める</a:t>
            </a:r>
            <a:endParaRPr lang="en-US" sz="1300" dirty="0"/>
          </a:p>
        </p:txBody>
      </p:sp>
      <p:sp>
        <p:nvSpPr>
          <p:cNvPr id="17" name="badge"/>
          <p:cNvSpPr/>
          <p:nvPr/>
        </p:nvSpPr>
        <p:spPr>
          <a:xfrm>
            <a:off x="7040880" y="1874520"/>
            <a:ext cx="548640" cy="548640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7040880" y="18745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3</a:t>
            </a:r>
            <a:endParaRPr lang="en-US" sz="1800" dirty="0"/>
          </a:p>
        </p:txBody>
      </p:sp>
      <p:sp>
        <p:nvSpPr>
          <p:cNvPr id="19" name="Text 16"/>
          <p:cNvSpPr txBox="1"/>
          <p:nvPr/>
        </p:nvSpPr>
        <p:spPr>
          <a:xfrm>
            <a:off x="6126480" y="128016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2025年11月</a:t>
            </a:r>
            <a:endParaRPr lang="en-US" sz="1600" dirty="0"/>
          </a:p>
        </p:txBody>
      </p:sp>
      <p:sp>
        <p:nvSpPr>
          <p:cNvPr id="20" name="card"/>
          <p:cNvSpPr/>
          <p:nvPr/>
        </p:nvSpPr>
        <p:spPr>
          <a:xfrm>
            <a:off x="6126480" y="2697480"/>
            <a:ext cx="2377440" cy="173736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6263640" y="283464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現在の棟数に到達</a:t>
            </a:r>
            <a:endParaRPr lang="en-US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6263640" y="3566160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11棟・年間家賃約1.5億円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MDさんと一緒に、大きくしていった</a:t>
            </a:r>
            <a:endParaRPr lang="en-US" sz="2600" dirty="0"/>
          </a:p>
        </p:txBody>
      </p:sp>
      <p:sp>
        <p:nvSpPr>
          <p:cNvPr id="4" name="card"/>
          <p:cNvSpPr/>
          <p:nvPr/>
        </p:nvSpPr>
        <p:spPr>
          <a:xfrm>
            <a:off x="457200" y="1280160"/>
            <a:ext cx="4023360" cy="3200400"/>
          </a:xfrm>
          <a:prstGeom prst="roundRect">
            <a:avLst>
              <a:gd name="adj" fmla="val 2286"/>
            </a:avLst>
          </a:prstGeom>
          <a:solidFill>
            <a:schemeClr val="bg2"/>
          </a:solidFill>
          <a:ln/>
        </p:spPr>
      </p:sp>
      <p:sp>
        <p:nvSpPr>
          <p:cNvPr id="5" name="Text 2"/>
          <p:cNvSpPr txBox="1"/>
          <p:nvPr/>
        </p:nvSpPr>
        <p:spPr>
          <a:xfrm>
            <a:off x="731520" y="146304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2"/>
                </a:solidFill>
              </a:rPr>
              <a:t>MDさんの戦略</a:t>
            </a:r>
            <a:endParaRPr lang="en-US" sz="2000" dirty="0"/>
          </a:p>
        </p:txBody>
      </p:sp>
      <p:sp>
        <p:nvSpPr>
          <p:cNvPr id="6" name="Text 3"/>
          <p:cNvSpPr txBox="1"/>
          <p:nvPr/>
        </p:nvSpPr>
        <p:spPr>
          <a:xfrm>
            <a:off x="731520" y="2103120"/>
            <a:ext cx="347472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地方の高積算・高利回りで買う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インカムで返済し、現金を残す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融資を使って規模を拡大</a:t>
            </a:r>
            <a:endParaRPr lang="en-US" sz="1500" dirty="0"/>
          </a:p>
        </p:txBody>
      </p:sp>
      <p:sp>
        <p:nvSpPr>
          <p:cNvPr id="7" name="card"/>
          <p:cNvSpPr/>
          <p:nvPr/>
        </p:nvSpPr>
        <p:spPr>
          <a:xfrm>
            <a:off x="4663440" y="1280160"/>
            <a:ext cx="4023360" cy="3200400"/>
          </a:xfrm>
          <a:prstGeom prst="roundRect">
            <a:avLst>
              <a:gd name="adj" fmla="val 2286"/>
            </a:avLst>
          </a:prstGeom>
          <a:solidFill>
            <a:schemeClr val="tx1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4937760" y="146304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その先を走る</a:t>
            </a:r>
            <a:endParaRPr lang="en-US" sz="2000" dirty="0"/>
          </a:p>
        </p:txBody>
      </p:sp>
      <p:sp>
        <p:nvSpPr>
          <p:cNvPr id="9" name="Text 6"/>
          <p:cNvSpPr txBox="1"/>
          <p:nvPr/>
        </p:nvSpPr>
        <p:spPr>
          <a:xfrm>
            <a:off x="4937760" y="2103120"/>
            <a:ext cx="347472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地方で作った現金を原資にする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東京の土地から新築で建てる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資産を都市部に入れ替える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現在の数字</a:t>
            </a:r>
            <a:endParaRPr lang="en-US" sz="2600" dirty="0"/>
          </a:p>
        </p:txBody>
      </p:sp>
      <p:sp>
        <p:nvSpPr>
          <p:cNvPr id="4" name="card"/>
          <p:cNvSpPr/>
          <p:nvPr/>
        </p:nvSpPr>
        <p:spPr>
          <a:xfrm>
            <a:off x="457200" y="1463040"/>
            <a:ext cx="1920240" cy="2103120"/>
          </a:xfrm>
          <a:prstGeom prst="roundRect">
            <a:avLst>
              <a:gd name="adj" fmla="val 3810"/>
            </a:avLst>
          </a:prstGeom>
          <a:solidFill>
            <a:schemeClr val="tx1"/>
          </a:solidFill>
          <a:ln/>
        </p:spPr>
      </p:sp>
      <p:sp>
        <p:nvSpPr>
          <p:cNvPr id="5" name="Text 2"/>
          <p:cNvSpPr txBox="1"/>
          <p:nvPr/>
        </p:nvSpPr>
        <p:spPr>
          <a:xfrm>
            <a:off x="594360" y="1600200"/>
            <a:ext cx="1691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1"/>
                </a:solidFill>
              </a:rPr>
              <a:t>11棟</a:t>
            </a:r>
            <a:endParaRPr lang="en-US" sz="3200" dirty="0"/>
          </a:p>
        </p:txBody>
      </p:sp>
      <p:sp>
        <p:nvSpPr>
          <p:cNvPr id="6" name="Text 3"/>
          <p:cNvSpPr txBox="1"/>
          <p:nvPr/>
        </p:nvSpPr>
        <p:spPr>
          <a:xfrm>
            <a:off x="594360" y="2468880"/>
            <a:ext cx="1691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保有棟数</a:t>
            </a:r>
            <a:endParaRPr lang="en-US" sz="1300" dirty="0"/>
          </a:p>
        </p:txBody>
      </p:sp>
      <p:sp>
        <p:nvSpPr>
          <p:cNvPr id="7" name="card"/>
          <p:cNvSpPr/>
          <p:nvPr/>
        </p:nvSpPr>
        <p:spPr>
          <a:xfrm>
            <a:off x="2542032" y="1463040"/>
            <a:ext cx="1920240" cy="2103120"/>
          </a:xfrm>
          <a:prstGeom prst="roundRect">
            <a:avLst>
              <a:gd name="adj" fmla="val 3810"/>
            </a:avLst>
          </a:prstGeom>
          <a:solidFill>
            <a:schemeClr val="tx1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2679192" y="1600200"/>
            <a:ext cx="1691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1"/>
                </a:solidFill>
              </a:rPr>
              <a:t>1.5億円</a:t>
            </a:r>
            <a:endParaRPr lang="en-US" sz="3200" dirty="0"/>
          </a:p>
        </p:txBody>
      </p:sp>
      <p:sp>
        <p:nvSpPr>
          <p:cNvPr id="9" name="Text 6"/>
          <p:cNvSpPr txBox="1"/>
          <p:nvPr/>
        </p:nvSpPr>
        <p:spPr>
          <a:xfrm>
            <a:off x="2679192" y="2468880"/>
            <a:ext cx="1691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年間家賃収入</a:t>
            </a:r>
            <a:endParaRPr lang="en-US" sz="1300" dirty="0"/>
          </a:p>
        </p:txBody>
      </p:sp>
      <p:sp>
        <p:nvSpPr>
          <p:cNvPr id="10" name="card"/>
          <p:cNvSpPr/>
          <p:nvPr/>
        </p:nvSpPr>
        <p:spPr>
          <a:xfrm>
            <a:off x="4626864" y="1463040"/>
            <a:ext cx="1920240" cy="2103120"/>
          </a:xfrm>
          <a:prstGeom prst="roundRect">
            <a:avLst>
              <a:gd name="adj" fmla="val 3810"/>
            </a:avLst>
          </a:prstGeom>
          <a:solidFill>
            <a:schemeClr val="tx1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4764024" y="1600200"/>
            <a:ext cx="1691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1"/>
                </a:solidFill>
              </a:rPr>
              <a:t>16億円</a:t>
            </a:r>
            <a:endParaRPr lang="en-US" sz="3200" dirty="0"/>
          </a:p>
        </p:txBody>
      </p:sp>
      <p:sp>
        <p:nvSpPr>
          <p:cNvPr id="12" name="Text 9"/>
          <p:cNvSpPr txBox="1"/>
          <p:nvPr/>
        </p:nvSpPr>
        <p:spPr>
          <a:xfrm>
            <a:off x="4764024" y="2468880"/>
            <a:ext cx="1691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借入総額</a:t>
            </a:r>
            <a:endParaRPr lang="en-US" sz="1300" dirty="0"/>
          </a:p>
        </p:txBody>
      </p:sp>
      <p:sp>
        <p:nvSpPr>
          <p:cNvPr id="13" name="card"/>
          <p:cNvSpPr/>
          <p:nvPr/>
        </p:nvSpPr>
        <p:spPr>
          <a:xfrm>
            <a:off x="6711696" y="1463040"/>
            <a:ext cx="1920240" cy="2103120"/>
          </a:xfrm>
          <a:prstGeom prst="roundRect">
            <a:avLst>
              <a:gd name="adj" fmla="val 3810"/>
            </a:avLst>
          </a:prstGeom>
          <a:solidFill>
            <a:schemeClr val="tx1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6848856" y="1600200"/>
            <a:ext cx="1691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1"/>
                </a:solidFill>
              </a:rPr>
              <a:t>9.5%前後</a:t>
            </a:r>
            <a:endParaRPr lang="en-US" sz="3200" dirty="0"/>
          </a:p>
        </p:txBody>
      </p:sp>
      <p:sp>
        <p:nvSpPr>
          <p:cNvPr id="15" name="Text 12"/>
          <p:cNvSpPr txBox="1"/>
          <p:nvPr/>
        </p:nvSpPr>
        <p:spPr>
          <a:xfrm>
            <a:off x="6848856" y="2468880"/>
            <a:ext cx="1691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平均利回り（9〜10%、築20年が中心）</a:t>
            </a:r>
            <a:endParaRPr lang="en-US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457200" y="38404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4"/>
                </a:solidFill>
              </a:rPr>
              <a:t>※保有棟数は直近1棟売却後も11棟として表記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インカムで現金を貯め、次の頭金にする</a:t>
            </a:r>
            <a:endParaRPr lang="en-US" sz="2600" dirty="0"/>
          </a:p>
        </p:txBody>
      </p:sp>
      <p:sp>
        <p:nvSpPr>
          <p:cNvPr id="4" name="card"/>
          <p:cNvSpPr/>
          <p:nvPr/>
        </p:nvSpPr>
        <p:spPr>
          <a:xfrm>
            <a:off x="457200" y="1554480"/>
            <a:ext cx="1828800" cy="2011680"/>
          </a:xfrm>
          <a:prstGeom prst="roundRect">
            <a:avLst>
              <a:gd name="adj" fmla="val 4000"/>
            </a:avLst>
          </a:prstGeom>
          <a:solidFill>
            <a:schemeClr val="bg2"/>
          </a:solidFill>
          <a:ln/>
        </p:spPr>
      </p:sp>
      <p:sp>
        <p:nvSpPr>
          <p:cNvPr id="5" name="Text 2"/>
          <p:cNvSpPr txBox="1"/>
          <p:nvPr/>
        </p:nvSpPr>
        <p:spPr>
          <a:xfrm>
            <a:off x="457200" y="1691640"/>
            <a:ext cx="1828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高利回りの</a:t>
            </a:r>
            <a:endParaRPr lang="en-US" sz="1700" dirty="0"/>
          </a:p>
          <a:p>
            <a:pPr algn="ctr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地方物件</a:t>
            </a:r>
            <a:endParaRPr lang="en-US" sz="17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274320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満室で家賃収入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2286000" y="2194560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>
                <a:solidFill>
                  <a:schemeClr val="accent4"/>
                </a:solidFill>
              </a:rPr>
              <a:t>▶</a:t>
            </a:r>
            <a:endParaRPr lang="en-US" sz="1800" dirty="0"/>
          </a:p>
        </p:txBody>
      </p:sp>
      <p:sp>
        <p:nvSpPr>
          <p:cNvPr id="8" name="card"/>
          <p:cNvSpPr/>
          <p:nvPr/>
        </p:nvSpPr>
        <p:spPr>
          <a:xfrm>
            <a:off x="2606040" y="1554480"/>
            <a:ext cx="1828800" cy="2011680"/>
          </a:xfrm>
          <a:prstGeom prst="roundRect">
            <a:avLst>
              <a:gd name="adj" fmla="val 4000"/>
            </a:avLst>
          </a:prstGeom>
          <a:solidFill>
            <a:schemeClr val="bg2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2606040" y="1691640"/>
            <a:ext cx="1828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返済して</a:t>
            </a:r>
            <a:endParaRPr lang="en-US" sz="1700" dirty="0"/>
          </a:p>
          <a:p>
            <a:pPr algn="ctr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現金が残る</a:t>
            </a:r>
            <a:endParaRPr lang="en-US" sz="1700" dirty="0"/>
          </a:p>
        </p:txBody>
      </p:sp>
      <p:sp>
        <p:nvSpPr>
          <p:cNvPr id="10" name="Text 7"/>
          <p:cNvSpPr txBox="1"/>
          <p:nvPr/>
        </p:nvSpPr>
        <p:spPr>
          <a:xfrm>
            <a:off x="2606040" y="274320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ベースの収入</a:t>
            </a:r>
            <a:endParaRPr lang="en-US" sz="1300" dirty="0"/>
          </a:p>
        </p:txBody>
      </p:sp>
      <p:sp>
        <p:nvSpPr>
          <p:cNvPr id="11" name="Text 8"/>
          <p:cNvSpPr txBox="1"/>
          <p:nvPr/>
        </p:nvSpPr>
        <p:spPr>
          <a:xfrm>
            <a:off x="4434840" y="2194560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>
                <a:solidFill>
                  <a:schemeClr val="accent4"/>
                </a:solidFill>
              </a:rPr>
              <a:t>▶</a:t>
            </a:r>
            <a:endParaRPr lang="en-US" sz="1800" dirty="0"/>
          </a:p>
        </p:txBody>
      </p:sp>
      <p:sp>
        <p:nvSpPr>
          <p:cNvPr id="12" name="card"/>
          <p:cNvSpPr/>
          <p:nvPr/>
        </p:nvSpPr>
        <p:spPr>
          <a:xfrm>
            <a:off x="4754880" y="1554480"/>
            <a:ext cx="1828800" cy="2011680"/>
          </a:xfrm>
          <a:prstGeom prst="roundRect">
            <a:avLst>
              <a:gd name="adj" fmla="val 4000"/>
            </a:avLst>
          </a:prstGeom>
          <a:solidFill>
            <a:schemeClr val="bg2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4754880" y="1691640"/>
            <a:ext cx="1828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現金が貯まる</a:t>
            </a:r>
            <a:endParaRPr lang="en-US" sz="1700" dirty="0"/>
          </a:p>
        </p:txBody>
      </p:sp>
      <p:sp>
        <p:nvSpPr>
          <p:cNvPr id="14" name="Text 11"/>
          <p:cNvSpPr txBox="1"/>
          <p:nvPr/>
        </p:nvSpPr>
        <p:spPr>
          <a:xfrm>
            <a:off x="4754880" y="274320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頭金の原資</a:t>
            </a:r>
            <a:endParaRPr lang="en-US" sz="1300" dirty="0"/>
          </a:p>
        </p:txBody>
      </p:sp>
      <p:sp>
        <p:nvSpPr>
          <p:cNvPr id="15" name="Text 12"/>
          <p:cNvSpPr txBox="1"/>
          <p:nvPr/>
        </p:nvSpPr>
        <p:spPr>
          <a:xfrm>
            <a:off x="6583680" y="2194560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>
                <a:solidFill>
                  <a:schemeClr val="accent4"/>
                </a:solidFill>
              </a:rPr>
              <a:t>▶</a:t>
            </a:r>
            <a:endParaRPr lang="en-US" sz="1800" dirty="0"/>
          </a:p>
        </p:txBody>
      </p:sp>
      <p:sp>
        <p:nvSpPr>
          <p:cNvPr id="16" name="card"/>
          <p:cNvSpPr/>
          <p:nvPr/>
        </p:nvSpPr>
        <p:spPr>
          <a:xfrm>
            <a:off x="6903720" y="1554480"/>
            <a:ext cx="1828800" cy="2011680"/>
          </a:xfrm>
          <a:prstGeom prst="roundRect">
            <a:avLst>
              <a:gd name="adj" fmla="val 4000"/>
            </a:avLst>
          </a:prstGeom>
          <a:solidFill>
            <a:schemeClr val="accent6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903720" y="1691640"/>
            <a:ext cx="1828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都心の新築へ</a:t>
            </a:r>
            <a:endParaRPr lang="en-US" sz="1700" dirty="0"/>
          </a:p>
        </p:txBody>
      </p:sp>
      <p:sp>
        <p:nvSpPr>
          <p:cNvPr id="18" name="Text 15"/>
          <p:cNvSpPr txBox="1"/>
          <p:nvPr/>
        </p:nvSpPr>
        <p:spPr>
          <a:xfrm>
            <a:off x="6903720" y="274320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資産性の高い物件</a:t>
            </a:r>
            <a:endParaRPr lang="en-US" sz="1300" dirty="0"/>
          </a:p>
        </p:txBody>
      </p:sp>
      <p:sp>
        <p:nvSpPr>
          <p:cNvPr id="19" name="Text 16"/>
          <p:cNvSpPr txBox="1"/>
          <p:nvPr/>
        </p:nvSpPr>
        <p:spPr>
          <a:xfrm>
            <a:off x="457200" y="39319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accent2"/>
                </a:solidFill>
              </a:rPr>
              <a:t>弱者は、地方で「種銭」を作る。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1737360"/>
            <a:ext cx="7680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東京に戻る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23444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PART 3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3108960"/>
            <a:ext cx="7680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bg2"/>
                </a:solidFill>
              </a:rPr>
              <a:t>地方で作った現金で、都心の新築RCに挑戦する</a:t>
            </a:r>
            <a:endParaRPr lang="en-US" sz="16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なぜ、地方から東京に戻るのか</a:t>
            </a:r>
            <a:endParaRPr lang="en-US" sz="2600" dirty="0"/>
          </a:p>
        </p:txBody>
      </p:sp>
      <p:sp>
        <p:nvSpPr>
          <p:cNvPr id="4" name="card"/>
          <p:cNvSpPr/>
          <p:nvPr/>
        </p:nvSpPr>
        <p:spPr>
          <a:xfrm>
            <a:off x="1828800" y="1280160"/>
            <a:ext cx="3337560" cy="457200"/>
          </a:xfrm>
          <a:prstGeom prst="roundRect">
            <a:avLst>
              <a:gd name="adj" fmla="val 16000"/>
            </a:avLst>
          </a:prstGeom>
          <a:solidFill>
            <a:schemeClr val="accent2"/>
          </a:solidFill>
          <a:ln/>
        </p:spPr>
      </p:sp>
      <p:sp>
        <p:nvSpPr>
          <p:cNvPr id="5" name="Text 2"/>
          <p:cNvSpPr txBox="1"/>
          <p:nvPr/>
        </p:nvSpPr>
        <p:spPr>
          <a:xfrm>
            <a:off x="1828800" y="1280160"/>
            <a:ext cx="3337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地方の中古</a:t>
            </a:r>
            <a:endParaRPr lang="en-US" sz="1600" dirty="0"/>
          </a:p>
        </p:txBody>
      </p:sp>
      <p:sp>
        <p:nvSpPr>
          <p:cNvPr id="6" name="card"/>
          <p:cNvSpPr/>
          <p:nvPr/>
        </p:nvSpPr>
        <p:spPr>
          <a:xfrm>
            <a:off x="5257800" y="1280160"/>
            <a:ext cx="3337560" cy="457200"/>
          </a:xfrm>
          <a:prstGeom prst="roundRect">
            <a:avLst>
              <a:gd name="adj" fmla="val 16000"/>
            </a:avLst>
          </a:prstGeom>
          <a:solidFill>
            <a:schemeClr val="accent1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5257800" y="1280160"/>
            <a:ext cx="3337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東京の新築</a:t>
            </a:r>
            <a:endParaRPr lang="en-US" sz="1600" dirty="0"/>
          </a:p>
        </p:txBody>
      </p:sp>
      <p:sp>
        <p:nvSpPr>
          <p:cNvPr id="8" name="card"/>
          <p:cNvSpPr/>
          <p:nvPr/>
        </p:nvSpPr>
        <p:spPr>
          <a:xfrm>
            <a:off x="457200" y="1828800"/>
            <a:ext cx="1280160" cy="960120"/>
          </a:xfrm>
          <a:prstGeom prst="roundRect">
            <a:avLst>
              <a:gd name="adj" fmla="val 7619"/>
            </a:avLst>
          </a:prstGeom>
          <a:solidFill>
            <a:schemeClr val="bg2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457200" y="1828800"/>
            <a:ext cx="12801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強み</a:t>
            </a:r>
            <a:endParaRPr lang="en-US" sz="1400" dirty="0"/>
          </a:p>
        </p:txBody>
      </p:sp>
      <p:sp>
        <p:nvSpPr>
          <p:cNvPr id="10" name="card"/>
          <p:cNvSpPr/>
          <p:nvPr/>
        </p:nvSpPr>
        <p:spPr>
          <a:xfrm>
            <a:off x="1828800" y="1828800"/>
            <a:ext cx="3337560" cy="960120"/>
          </a:xfrm>
          <a:prstGeom prst="roundRect">
            <a:avLst>
              <a:gd name="adj" fmla="val 7619"/>
            </a:avLst>
          </a:prstGeom>
          <a:solidFill>
            <a:schemeClr val="bg2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1828800" y="1828800"/>
            <a:ext cx="33375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高利回り・高積算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買いやすい</a:t>
            </a:r>
            <a:endParaRPr lang="en-US" sz="1400" dirty="0"/>
          </a:p>
        </p:txBody>
      </p:sp>
      <p:sp>
        <p:nvSpPr>
          <p:cNvPr id="12" name="card"/>
          <p:cNvSpPr/>
          <p:nvPr/>
        </p:nvSpPr>
        <p:spPr>
          <a:xfrm>
            <a:off x="5257800" y="1828800"/>
            <a:ext cx="3337560" cy="960120"/>
          </a:xfrm>
          <a:prstGeom prst="roundRect">
            <a:avLst>
              <a:gd name="adj" fmla="val 7619"/>
            </a:avLst>
          </a:prstGeom>
          <a:solidFill>
            <a:schemeClr val="bg2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5257800" y="1828800"/>
            <a:ext cx="33375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資産性が高い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売りやすい・貸しやすい</a:t>
            </a:r>
            <a:endParaRPr lang="en-US" sz="1400" dirty="0"/>
          </a:p>
        </p:txBody>
      </p:sp>
      <p:sp>
        <p:nvSpPr>
          <p:cNvPr id="14" name="card"/>
          <p:cNvSpPr/>
          <p:nvPr/>
        </p:nvSpPr>
        <p:spPr>
          <a:xfrm>
            <a:off x="457200" y="2880360"/>
            <a:ext cx="1280160" cy="960120"/>
          </a:xfrm>
          <a:prstGeom prst="roundRect">
            <a:avLst>
              <a:gd name="adj" fmla="val 7619"/>
            </a:avLst>
          </a:prstGeom>
          <a:solidFill>
            <a:schemeClr val="bg2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457200" y="2880360"/>
            <a:ext cx="12801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弱み</a:t>
            </a:r>
            <a:endParaRPr lang="en-US" sz="1400" dirty="0"/>
          </a:p>
        </p:txBody>
      </p:sp>
      <p:sp>
        <p:nvSpPr>
          <p:cNvPr id="16" name="card"/>
          <p:cNvSpPr/>
          <p:nvPr/>
        </p:nvSpPr>
        <p:spPr>
          <a:xfrm>
            <a:off x="1828800" y="2880360"/>
            <a:ext cx="3337560" cy="960120"/>
          </a:xfrm>
          <a:prstGeom prst="roundRect">
            <a:avLst>
              <a:gd name="adj" fmla="val 7619"/>
            </a:avLst>
          </a:prstGeom>
          <a:solidFill>
            <a:schemeClr val="bg2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1828800" y="2880360"/>
            <a:ext cx="33375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出口が読みにくい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人口減少</a:t>
            </a:r>
            <a:endParaRPr lang="en-US" sz="1400" dirty="0"/>
          </a:p>
        </p:txBody>
      </p:sp>
      <p:sp>
        <p:nvSpPr>
          <p:cNvPr id="18" name="card"/>
          <p:cNvSpPr/>
          <p:nvPr/>
        </p:nvSpPr>
        <p:spPr>
          <a:xfrm>
            <a:off x="5257800" y="2880360"/>
            <a:ext cx="3337560" cy="960120"/>
          </a:xfrm>
          <a:prstGeom prst="roundRect">
            <a:avLst>
              <a:gd name="adj" fmla="val 7619"/>
            </a:avLst>
          </a:prstGeom>
          <a:solidFill>
            <a:schemeClr val="bg2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5257800" y="2880360"/>
            <a:ext cx="33375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利回りは低め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土地が高い</a:t>
            </a:r>
            <a:endParaRPr lang="en-US" sz="1400" dirty="0"/>
          </a:p>
        </p:txBody>
      </p:sp>
      <p:sp>
        <p:nvSpPr>
          <p:cNvPr id="20" name="card"/>
          <p:cNvSpPr/>
          <p:nvPr/>
        </p:nvSpPr>
        <p:spPr>
          <a:xfrm>
            <a:off x="457200" y="3931920"/>
            <a:ext cx="1280160" cy="960120"/>
          </a:xfrm>
          <a:prstGeom prst="roundRect">
            <a:avLst>
              <a:gd name="adj" fmla="val 7619"/>
            </a:avLst>
          </a:prstGeom>
          <a:solidFill>
            <a:schemeClr val="bg2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457200" y="3931920"/>
            <a:ext cx="12801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役割</a:t>
            </a:r>
            <a:endParaRPr lang="en-US" sz="1400" dirty="0"/>
          </a:p>
        </p:txBody>
      </p:sp>
      <p:sp>
        <p:nvSpPr>
          <p:cNvPr id="22" name="card"/>
          <p:cNvSpPr/>
          <p:nvPr/>
        </p:nvSpPr>
        <p:spPr>
          <a:xfrm>
            <a:off x="1828800" y="3931920"/>
            <a:ext cx="3337560" cy="960120"/>
          </a:xfrm>
          <a:prstGeom prst="roundRect">
            <a:avLst>
              <a:gd name="adj" fmla="val 7619"/>
            </a:avLst>
          </a:prstGeom>
          <a:solidFill>
            <a:schemeClr val="bg2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1828800" y="3931920"/>
            <a:ext cx="33375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インカムで種銭づくり</a:t>
            </a:r>
            <a:endParaRPr lang="en-US" sz="1400" dirty="0"/>
          </a:p>
        </p:txBody>
      </p:sp>
      <p:sp>
        <p:nvSpPr>
          <p:cNvPr id="24" name="card"/>
          <p:cNvSpPr/>
          <p:nvPr/>
        </p:nvSpPr>
        <p:spPr>
          <a:xfrm>
            <a:off x="5257800" y="3931920"/>
            <a:ext cx="3337560" cy="960120"/>
          </a:xfrm>
          <a:prstGeom prst="roundRect">
            <a:avLst>
              <a:gd name="adj" fmla="val 7619"/>
            </a:avLst>
          </a:prstGeom>
          <a:solidFill>
            <a:schemeClr val="bg2"/>
          </a:solidFill>
          <a:ln/>
        </p:spPr>
      </p:sp>
      <p:sp>
        <p:nvSpPr>
          <p:cNvPr id="25" name="Text 22"/>
          <p:cNvSpPr txBox="1"/>
          <p:nvPr/>
        </p:nvSpPr>
        <p:spPr>
          <a:xfrm>
            <a:off x="5257800" y="3931920"/>
            <a:ext cx="33375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資産の質を高める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練馬区関町南の新築RCマンション</a:t>
            </a:r>
            <a:endParaRPr lang="en-US" sz="2600" dirty="0"/>
          </a:p>
        </p:txBody>
      </p:sp>
      <p:sp>
        <p:nvSpPr>
          <p:cNvPr id="4" name="card"/>
          <p:cNvSpPr/>
          <p:nvPr/>
        </p:nvSpPr>
        <p:spPr>
          <a:xfrm>
            <a:off x="457200" y="1280160"/>
            <a:ext cx="4023360" cy="3200400"/>
          </a:xfrm>
          <a:prstGeom prst="roundRect">
            <a:avLst>
              <a:gd name="adj" fmla="val 2286"/>
            </a:avLst>
          </a:prstGeom>
          <a:solidFill>
            <a:schemeClr val="tx1"/>
          </a:solidFill>
          <a:ln/>
        </p:spPr>
      </p:sp>
      <p:sp>
        <p:nvSpPr>
          <p:cNvPr id="5" name="Text 2"/>
          <p:cNvSpPr txBox="1"/>
          <p:nvPr/>
        </p:nvSpPr>
        <p:spPr>
          <a:xfrm>
            <a:off x="731520" y="1463040"/>
            <a:ext cx="3474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400" b="1" dirty="0">
                <a:solidFill>
                  <a:schemeClr val="accent1"/>
                </a:solidFill>
              </a:rPr>
              <a:t>17戸</a:t>
            </a:r>
            <a:endParaRPr lang="en-US" sz="5400" dirty="0"/>
          </a:p>
        </p:txBody>
      </p:sp>
      <p:sp>
        <p:nvSpPr>
          <p:cNvPr id="6" name="Text 3"/>
          <p:cNvSpPr txBox="1"/>
          <p:nvPr/>
        </p:nvSpPr>
        <p:spPr>
          <a:xfrm>
            <a:off x="731520" y="246888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壁式RC造 地下1階・地上3階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731520" y="292608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6"/>
                </a:solidFill>
              </a:rPr>
              <a:t>総事業費 約4.2億円（未確定）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731520" y="384048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</a:rPr>
              <a:t>東京都練馬区関町南4丁目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4754880" y="1325880"/>
            <a:ext cx="1188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最寄駅</a:t>
            </a:r>
            <a:endParaRPr lang="en-US" sz="1300" dirty="0"/>
          </a:p>
        </p:txBody>
      </p:sp>
      <p:sp>
        <p:nvSpPr>
          <p:cNvPr id="10" name="Text 7"/>
          <p:cNvSpPr txBox="1"/>
          <p:nvPr/>
        </p:nvSpPr>
        <p:spPr>
          <a:xfrm>
            <a:off x="5897880" y="1325880"/>
            <a:ext cx="2834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西武新宿線 武蔵関駅 徒歩10分</a:t>
            </a:r>
            <a:endParaRPr lang="en-US" sz="1300" dirty="0"/>
          </a:p>
        </p:txBody>
      </p:sp>
      <p:sp>
        <p:nvSpPr>
          <p:cNvPr id="11" name="Text 8"/>
          <p:cNvSpPr txBox="1"/>
          <p:nvPr/>
        </p:nvSpPr>
        <p:spPr>
          <a:xfrm>
            <a:off x="4754880" y="1965960"/>
            <a:ext cx="1188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土地面積</a:t>
            </a:r>
            <a:endParaRPr lang="en-US" sz="1300" dirty="0"/>
          </a:p>
        </p:txBody>
      </p:sp>
      <p:sp>
        <p:nvSpPr>
          <p:cNvPr id="12" name="Text 9"/>
          <p:cNvSpPr txBox="1"/>
          <p:nvPr/>
        </p:nvSpPr>
        <p:spPr>
          <a:xfrm>
            <a:off x="5897880" y="1965960"/>
            <a:ext cx="2834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242.21㎡（約73.3坪）</a:t>
            </a:r>
            <a:endParaRPr lang="en-US" sz="1300" dirty="0"/>
          </a:p>
        </p:txBody>
      </p:sp>
      <p:sp>
        <p:nvSpPr>
          <p:cNvPr id="13" name="Text 10"/>
          <p:cNvSpPr txBox="1"/>
          <p:nvPr/>
        </p:nvSpPr>
        <p:spPr>
          <a:xfrm>
            <a:off x="4754880" y="2606040"/>
            <a:ext cx="1188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延床面積</a:t>
            </a:r>
            <a:endParaRPr lang="en-US" sz="1300" dirty="0"/>
          </a:p>
        </p:txBody>
      </p:sp>
      <p:sp>
        <p:nvSpPr>
          <p:cNvPr id="14" name="Text 11"/>
          <p:cNvSpPr txBox="1"/>
          <p:nvPr/>
        </p:nvSpPr>
        <p:spPr>
          <a:xfrm>
            <a:off x="5897880" y="2606040"/>
            <a:ext cx="2834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617.84㎡（約186.9坪）</a:t>
            </a:r>
            <a:endParaRPr lang="en-US" sz="1300" dirty="0"/>
          </a:p>
        </p:txBody>
      </p:sp>
      <p:sp>
        <p:nvSpPr>
          <p:cNvPr id="15" name="Text 12"/>
          <p:cNvSpPr txBox="1"/>
          <p:nvPr/>
        </p:nvSpPr>
        <p:spPr>
          <a:xfrm>
            <a:off x="4754880" y="3246120"/>
            <a:ext cx="1188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用途地域</a:t>
            </a:r>
            <a:endParaRPr lang="en-US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5897880" y="3246120"/>
            <a:ext cx="2834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近隣商業 / 第一種低層住居専用</a:t>
            </a:r>
            <a:endParaRPr lang="en-US" sz="1300" dirty="0"/>
          </a:p>
        </p:txBody>
      </p:sp>
      <p:sp>
        <p:nvSpPr>
          <p:cNvPr id="17" name="Text 14"/>
          <p:cNvSpPr txBox="1"/>
          <p:nvPr/>
        </p:nvSpPr>
        <p:spPr>
          <a:xfrm>
            <a:off x="4754880" y="3886200"/>
            <a:ext cx="1188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住戸構成</a:t>
            </a:r>
            <a:endParaRPr lang="en-US" sz="1300" dirty="0"/>
          </a:p>
        </p:txBody>
      </p:sp>
      <p:sp>
        <p:nvSpPr>
          <p:cNvPr id="18" name="Text 15"/>
          <p:cNvSpPr txBox="1"/>
          <p:nvPr/>
        </p:nvSpPr>
        <p:spPr>
          <a:xfrm>
            <a:off x="5897880" y="3886200"/>
            <a:ext cx="2834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1K・1LDK・2LDK（17戸）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計画の進め方：竣工は2028年3月ごろを想定</a:t>
            </a:r>
            <a:endParaRPr lang="en-US" sz="2600" dirty="0"/>
          </a:p>
        </p:txBody>
      </p:sp>
      <p:sp>
        <p:nvSpPr>
          <p:cNvPr id="4" name="Shape 1"/>
          <p:cNvSpPr/>
          <p:nvPr/>
        </p:nvSpPr>
        <p:spPr>
          <a:xfrm>
            <a:off x="1097280" y="2011680"/>
            <a:ext cx="6949440" cy="0"/>
          </a:xfrm>
          <a:prstGeom prst="line">
            <a:avLst/>
          </a:prstGeom>
          <a:noFill/>
          <a:ln w="25400">
            <a:solidFill>
              <a:schemeClr val="accent4"/>
            </a:solidFill>
            <a:prstDash val="solid"/>
          </a:ln>
        </p:spPr>
      </p:sp>
      <p:sp>
        <p:nvSpPr>
          <p:cNvPr id="5" name="badge"/>
          <p:cNvSpPr/>
          <p:nvPr/>
        </p:nvSpPr>
        <p:spPr>
          <a:xfrm>
            <a:off x="1097280" y="173736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1097280" y="17373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1</a:t>
            </a:r>
            <a:endParaRPr lang="en-US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118872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2026年10月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2468880"/>
            <a:ext cx="1828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設計着手</a:t>
            </a:r>
            <a:endParaRPr lang="en-US" sz="1400" dirty="0"/>
          </a:p>
        </p:txBody>
      </p:sp>
      <p:sp>
        <p:nvSpPr>
          <p:cNvPr id="9" name="badge"/>
          <p:cNvSpPr/>
          <p:nvPr/>
        </p:nvSpPr>
        <p:spPr>
          <a:xfrm>
            <a:off x="3246120" y="173736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3246120" y="17373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2</a:t>
            </a:r>
            <a:endParaRPr lang="en-US" sz="1800" dirty="0"/>
          </a:p>
        </p:txBody>
      </p:sp>
      <p:sp>
        <p:nvSpPr>
          <p:cNvPr id="11" name="Text 8"/>
          <p:cNvSpPr txBox="1"/>
          <p:nvPr/>
        </p:nvSpPr>
        <p:spPr>
          <a:xfrm>
            <a:off x="2606040" y="118872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2027年5月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2606040" y="2468880"/>
            <a:ext cx="1828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設計完了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確認申請へ</a:t>
            </a:r>
            <a:endParaRPr lang="en-US" sz="1400" dirty="0"/>
          </a:p>
        </p:txBody>
      </p:sp>
      <p:sp>
        <p:nvSpPr>
          <p:cNvPr id="13" name="badge"/>
          <p:cNvSpPr/>
          <p:nvPr/>
        </p:nvSpPr>
        <p:spPr>
          <a:xfrm>
            <a:off x="5394960" y="173736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5394960" y="17373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3</a:t>
            </a:r>
            <a:endParaRPr lang="en-US" sz="1800" dirty="0"/>
          </a:p>
        </p:txBody>
      </p:sp>
      <p:sp>
        <p:nvSpPr>
          <p:cNvPr id="15" name="Text 12"/>
          <p:cNvSpPr txBox="1"/>
          <p:nvPr/>
        </p:nvSpPr>
        <p:spPr>
          <a:xfrm>
            <a:off x="4754880" y="118872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2027年中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4754880" y="2468880"/>
            <a:ext cx="1828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ゼネコン選定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着工</a:t>
            </a:r>
            <a:endParaRPr lang="en-US" sz="1400" dirty="0"/>
          </a:p>
        </p:txBody>
      </p:sp>
      <p:sp>
        <p:nvSpPr>
          <p:cNvPr id="17" name="badge"/>
          <p:cNvSpPr/>
          <p:nvPr/>
        </p:nvSpPr>
        <p:spPr>
          <a:xfrm>
            <a:off x="7543800" y="1737360"/>
            <a:ext cx="548640" cy="548640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7543800" y="17373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4</a:t>
            </a:r>
            <a:endParaRPr lang="en-US" sz="1800" dirty="0"/>
          </a:p>
        </p:txBody>
      </p:sp>
      <p:sp>
        <p:nvSpPr>
          <p:cNvPr id="19" name="Text 16"/>
          <p:cNvSpPr txBox="1"/>
          <p:nvPr/>
        </p:nvSpPr>
        <p:spPr>
          <a:xfrm>
            <a:off x="6903720" y="118872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2028年3月ごろ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6903720" y="2468880"/>
            <a:ext cx="1828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竣工・募集</a:t>
            </a:r>
            <a:endParaRPr lang="en-US" sz="1400" dirty="0"/>
          </a:p>
        </p:txBody>
      </p:sp>
      <p:sp>
        <p:nvSpPr>
          <p:cNvPr id="21" name="card"/>
          <p:cNvSpPr/>
          <p:nvPr/>
        </p:nvSpPr>
        <p:spPr>
          <a:xfrm>
            <a:off x="457200" y="3474720"/>
            <a:ext cx="8229600" cy="1005840"/>
          </a:xfrm>
          <a:prstGeom prst="roundRect">
            <a:avLst>
              <a:gd name="adj" fmla="val 7273"/>
            </a:avLst>
          </a:prstGeom>
          <a:solidFill>
            <a:schemeClr val="accent6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731520" y="3474720"/>
            <a:ext cx="7680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総事業費 約4.2億円は暫定。設計が固まった段階で積算を取り、収支を確定させます。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新築を始めるときの、私の判断基準</a:t>
            </a:r>
            <a:endParaRPr lang="en-US" sz="2600" dirty="0"/>
          </a:p>
        </p:txBody>
      </p:sp>
      <p:sp>
        <p:nvSpPr>
          <p:cNvPr id="4" name="card"/>
          <p:cNvSpPr/>
          <p:nvPr/>
        </p:nvSpPr>
        <p:spPr>
          <a:xfrm>
            <a:off x="457200" y="1280160"/>
            <a:ext cx="2651760" cy="146304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/>
        </p:spPr>
      </p:sp>
      <p:sp>
        <p:nvSpPr>
          <p:cNvPr id="5" name="Text 2"/>
          <p:cNvSpPr txBox="1"/>
          <p:nvPr/>
        </p:nvSpPr>
        <p:spPr>
          <a:xfrm>
            <a:off x="640080" y="141732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住戸面積</a:t>
            </a:r>
            <a:endParaRPr lang="en-US" sz="1300" dirty="0"/>
          </a:p>
        </p:txBody>
      </p:sp>
      <p:sp>
        <p:nvSpPr>
          <p:cNvPr id="6" name="Text 3"/>
          <p:cNvSpPr txBox="1"/>
          <p:nvPr/>
        </p:nvSpPr>
        <p:spPr>
          <a:xfrm>
            <a:off x="640080" y="182880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15㎡以上</a:t>
            </a:r>
            <a:endParaRPr lang="en-US" sz="1500" dirty="0"/>
          </a:p>
        </p:txBody>
      </p:sp>
      <p:sp>
        <p:nvSpPr>
          <p:cNvPr id="7" name="card"/>
          <p:cNvSpPr/>
          <p:nvPr/>
        </p:nvSpPr>
        <p:spPr>
          <a:xfrm>
            <a:off x="3291840" y="1280160"/>
            <a:ext cx="2651760" cy="146304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3474720" y="141732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構造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3474720" y="182880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木造3階を基本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（RCは立地次第）</a:t>
            </a:r>
            <a:endParaRPr lang="en-US" sz="1500" dirty="0"/>
          </a:p>
        </p:txBody>
      </p:sp>
      <p:sp>
        <p:nvSpPr>
          <p:cNvPr id="10" name="card"/>
          <p:cNvSpPr/>
          <p:nvPr/>
        </p:nvSpPr>
        <p:spPr>
          <a:xfrm>
            <a:off x="6126480" y="1280160"/>
            <a:ext cx="2651760" cy="146304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6309360" y="141732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有効率</a:t>
            </a:r>
            <a:endParaRPr lang="en-US" sz="1300" dirty="0"/>
          </a:p>
        </p:txBody>
      </p:sp>
      <p:sp>
        <p:nvSpPr>
          <p:cNvPr id="12" name="Text 9"/>
          <p:cNvSpPr txBox="1"/>
          <p:nvPr/>
        </p:nvSpPr>
        <p:spPr>
          <a:xfrm>
            <a:off x="6309360" y="182880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80%</a:t>
            </a:r>
            <a:endParaRPr lang="en-US" sz="1500" dirty="0"/>
          </a:p>
        </p:txBody>
      </p:sp>
      <p:sp>
        <p:nvSpPr>
          <p:cNvPr id="13" name="card"/>
          <p:cNvSpPr/>
          <p:nvPr/>
        </p:nvSpPr>
        <p:spPr>
          <a:xfrm>
            <a:off x="457200" y="2926080"/>
            <a:ext cx="2651760" cy="146304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640080" y="306324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利回り目安</a:t>
            </a:r>
            <a:endParaRPr lang="en-US" sz="1300" dirty="0"/>
          </a:p>
        </p:txBody>
      </p:sp>
      <p:sp>
        <p:nvSpPr>
          <p:cNvPr id="15" name="Text 12"/>
          <p:cNvSpPr txBox="1"/>
          <p:nvPr/>
        </p:nvSpPr>
        <p:spPr>
          <a:xfrm>
            <a:off x="640080" y="347472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木造は8.5%以上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（16号線内側）</a:t>
            </a:r>
            <a:endParaRPr lang="en-US" sz="1500" dirty="0"/>
          </a:p>
        </p:txBody>
      </p:sp>
      <p:sp>
        <p:nvSpPr>
          <p:cNvPr id="16" name="card"/>
          <p:cNvSpPr/>
          <p:nvPr/>
        </p:nvSpPr>
        <p:spPr>
          <a:xfrm>
            <a:off x="3291840" y="2926080"/>
            <a:ext cx="2651760" cy="146304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3474720" y="306324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規制確認</a:t>
            </a:r>
            <a:endParaRPr lang="en-US" sz="1300" dirty="0"/>
          </a:p>
        </p:txBody>
      </p:sp>
      <p:sp>
        <p:nvSpPr>
          <p:cNvPr id="18" name="Text 15"/>
          <p:cNvSpPr txBox="1"/>
          <p:nvPr/>
        </p:nvSpPr>
        <p:spPr>
          <a:xfrm>
            <a:off x="3474720" y="347472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区のワンルーム条例・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指導要綱に必ず照合</a:t>
            </a:r>
            <a:endParaRPr lang="en-US" sz="1500" dirty="0"/>
          </a:p>
        </p:txBody>
      </p:sp>
      <p:sp>
        <p:nvSpPr>
          <p:cNvPr id="19" name="card"/>
          <p:cNvSpPr/>
          <p:nvPr/>
        </p:nvSpPr>
        <p:spPr>
          <a:xfrm>
            <a:off x="6126480" y="2926080"/>
            <a:ext cx="2651760" cy="146304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6309360" y="306324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建築費</a:t>
            </a:r>
            <a:endParaRPr lang="en-US" sz="1300" dirty="0"/>
          </a:p>
        </p:txBody>
      </p:sp>
      <p:sp>
        <p:nvSpPr>
          <p:cNvPr id="21" name="Text 18"/>
          <p:cNvSpPr txBox="1"/>
          <p:nvPr/>
        </p:nvSpPr>
        <p:spPr>
          <a:xfrm>
            <a:off x="6309360" y="347472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木造 坪70万円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（解体・諸費用は別）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資産の入れ替え：地方から都市部へ</a:t>
            </a:r>
            <a:endParaRPr lang="en-US" sz="2600" dirty="0"/>
          </a:p>
        </p:txBody>
      </p:sp>
      <p:sp>
        <p:nvSpPr>
          <p:cNvPr id="4" name="card"/>
          <p:cNvSpPr/>
          <p:nvPr/>
        </p:nvSpPr>
        <p:spPr>
          <a:xfrm>
            <a:off x="548640" y="1463040"/>
            <a:ext cx="2194560" cy="13716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/>
        </p:spPr>
      </p:sp>
      <p:sp>
        <p:nvSpPr>
          <p:cNvPr id="5" name="Text 2"/>
          <p:cNvSpPr txBox="1"/>
          <p:nvPr/>
        </p:nvSpPr>
        <p:spPr>
          <a:xfrm>
            <a:off x="548640" y="1463040"/>
            <a:ext cx="21945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地方の</a:t>
            </a:r>
            <a:endParaRPr lang="en-US" sz="1700" dirty="0"/>
          </a:p>
          <a:p>
            <a:pPr algn="ctr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高利回り物件</a:t>
            </a:r>
            <a:endParaRPr lang="en-US" sz="1700" dirty="0"/>
          </a:p>
        </p:txBody>
      </p:sp>
      <p:sp>
        <p:nvSpPr>
          <p:cNvPr id="6" name="Text 3"/>
          <p:cNvSpPr txBox="1"/>
          <p:nvPr/>
        </p:nvSpPr>
        <p:spPr>
          <a:xfrm>
            <a:off x="2743200" y="1920240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00" dirty="0">
                <a:solidFill>
                  <a:schemeClr val="accent4"/>
                </a:solidFill>
              </a:rPr>
              <a:t>▶</a:t>
            </a:r>
            <a:endParaRPr lang="en-US" sz="2200" dirty="0"/>
          </a:p>
        </p:txBody>
      </p:sp>
      <p:sp>
        <p:nvSpPr>
          <p:cNvPr id="7" name="card"/>
          <p:cNvSpPr/>
          <p:nvPr/>
        </p:nvSpPr>
        <p:spPr>
          <a:xfrm>
            <a:off x="3566160" y="1463040"/>
            <a:ext cx="2194560" cy="1371600"/>
          </a:xfrm>
          <a:prstGeom prst="roundRect">
            <a:avLst>
              <a:gd name="adj" fmla="val 5333"/>
            </a:avLst>
          </a:prstGeom>
          <a:solidFill>
            <a:schemeClr val="accent6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3566160" y="1463040"/>
            <a:ext cx="21945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現金</a:t>
            </a:r>
            <a:endParaRPr lang="en-US" sz="1700" dirty="0"/>
          </a:p>
          <a:p>
            <a:pPr algn="ctr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（種銭）</a:t>
            </a:r>
            <a:endParaRPr lang="en-US" sz="1700" dirty="0"/>
          </a:p>
        </p:txBody>
      </p:sp>
      <p:sp>
        <p:nvSpPr>
          <p:cNvPr id="9" name="Text 6"/>
          <p:cNvSpPr txBox="1"/>
          <p:nvPr/>
        </p:nvSpPr>
        <p:spPr>
          <a:xfrm>
            <a:off x="5760720" y="1920240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00" dirty="0">
                <a:solidFill>
                  <a:schemeClr val="accent4"/>
                </a:solidFill>
              </a:rPr>
              <a:t>▶</a:t>
            </a:r>
            <a:endParaRPr lang="en-US" sz="2200" dirty="0"/>
          </a:p>
        </p:txBody>
      </p:sp>
      <p:sp>
        <p:nvSpPr>
          <p:cNvPr id="10" name="card"/>
          <p:cNvSpPr/>
          <p:nvPr/>
        </p:nvSpPr>
        <p:spPr>
          <a:xfrm>
            <a:off x="6400800" y="1463040"/>
            <a:ext cx="2194560" cy="1371600"/>
          </a:xfrm>
          <a:prstGeom prst="roundRect">
            <a:avLst>
              <a:gd name="adj" fmla="val 5333"/>
            </a:avLst>
          </a:prstGeom>
          <a:solidFill>
            <a:schemeClr val="accent5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6400800" y="1463040"/>
            <a:ext cx="21945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都心の</a:t>
            </a:r>
            <a:endParaRPr lang="en-US" sz="1700" dirty="0"/>
          </a:p>
          <a:p>
            <a:pPr algn="ctr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新築RC・AP</a:t>
            </a:r>
            <a:endParaRPr lang="en-US" sz="1700" dirty="0"/>
          </a:p>
        </p:txBody>
      </p:sp>
      <p:sp>
        <p:nvSpPr>
          <p:cNvPr id="12" name="card"/>
          <p:cNvSpPr/>
          <p:nvPr/>
        </p:nvSpPr>
        <p:spPr>
          <a:xfrm>
            <a:off x="548640" y="3200400"/>
            <a:ext cx="8046720" cy="1280160"/>
          </a:xfrm>
          <a:prstGeom prst="roundRect">
            <a:avLst>
              <a:gd name="adj" fmla="val 5714"/>
            </a:avLst>
          </a:prstGeom>
          <a:solidFill>
            <a:schemeClr val="tx1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822960" y="3246120"/>
            <a:ext cx="7498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持ってよし、売ってよし。</a:t>
            </a:r>
            <a:endParaRPr lang="en-US" sz="2200" dirty="0"/>
          </a:p>
        </p:txBody>
      </p:sp>
      <p:sp>
        <p:nvSpPr>
          <p:cNvPr id="14" name="Text 11"/>
          <p:cNvSpPr txBox="1"/>
          <p:nvPr/>
        </p:nvSpPr>
        <p:spPr>
          <a:xfrm>
            <a:off x="822960" y="3886200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資産性とインカムの両方を持つ、都市部の資産へ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1737360"/>
            <a:ext cx="7680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これから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23444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PART 4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3108960"/>
            <a:ext cx="7680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bg2"/>
                </a:solidFill>
              </a:rPr>
              <a:t>リスクとロードマップ、そして初心者の方へ</a:t>
            </a:r>
            <a:endParaRPr lang="en-US" sz="16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リスクと、その備え</a:t>
            </a:r>
            <a:endParaRPr lang="en-US" sz="2600" dirty="0"/>
          </a:p>
        </p:txBody>
      </p:sp>
      <p:sp>
        <p:nvSpPr>
          <p:cNvPr id="4" name="card"/>
          <p:cNvSpPr/>
          <p:nvPr/>
        </p:nvSpPr>
        <p:spPr>
          <a:xfrm>
            <a:off x="457200" y="1280160"/>
            <a:ext cx="8229600" cy="713232"/>
          </a:xfrm>
          <a:prstGeom prst="roundRect">
            <a:avLst>
              <a:gd name="adj" fmla="val 10256"/>
            </a:avLst>
          </a:prstGeom>
          <a:solidFill>
            <a:schemeClr val="bg2"/>
          </a:solidFill>
          <a:ln/>
        </p:spPr>
      </p:sp>
      <p:sp>
        <p:nvSpPr>
          <p:cNvPr id="5" name="Text 2"/>
          <p:cNvSpPr txBox="1"/>
          <p:nvPr/>
        </p:nvSpPr>
        <p:spPr>
          <a:xfrm>
            <a:off x="685800" y="1280160"/>
            <a:ext cx="2011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3"/>
                </a:solidFill>
              </a:rPr>
              <a:t>空室</a:t>
            </a:r>
            <a:endParaRPr lang="en-US" sz="1600" dirty="0"/>
          </a:p>
        </p:txBody>
      </p:sp>
      <p:sp>
        <p:nvSpPr>
          <p:cNvPr id="6" name="Text 3"/>
          <p:cNvSpPr txBox="1"/>
          <p:nvPr/>
        </p:nvSpPr>
        <p:spPr>
          <a:xfrm>
            <a:off x="2743200" y="1280160"/>
            <a:ext cx="57607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満室想定でなく、安い賃料でも回る物件を選ぶ</a:t>
            </a:r>
            <a:endParaRPr lang="en-US" sz="1400" dirty="0"/>
          </a:p>
        </p:txBody>
      </p:sp>
      <p:sp>
        <p:nvSpPr>
          <p:cNvPr id="7" name="card"/>
          <p:cNvSpPr/>
          <p:nvPr/>
        </p:nvSpPr>
        <p:spPr>
          <a:xfrm>
            <a:off x="457200" y="2103120"/>
            <a:ext cx="8229600" cy="713232"/>
          </a:xfrm>
          <a:prstGeom prst="roundRect">
            <a:avLst>
              <a:gd name="adj" fmla="val 10256"/>
            </a:avLst>
          </a:prstGeom>
          <a:solidFill>
            <a:schemeClr val="bg2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685800" y="2103120"/>
            <a:ext cx="2011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3"/>
                </a:solidFill>
              </a:rPr>
              <a:t>金利上昇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2743200" y="2103120"/>
            <a:ext cx="57607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耐用年数内で返済、現金を厚めに保有</a:t>
            </a:r>
            <a:endParaRPr lang="en-US" sz="1400" dirty="0"/>
          </a:p>
        </p:txBody>
      </p:sp>
      <p:sp>
        <p:nvSpPr>
          <p:cNvPr id="10" name="card"/>
          <p:cNvSpPr/>
          <p:nvPr/>
        </p:nvSpPr>
        <p:spPr>
          <a:xfrm>
            <a:off x="457200" y="2926080"/>
            <a:ext cx="8229600" cy="713232"/>
          </a:xfrm>
          <a:prstGeom prst="roundRect">
            <a:avLst>
              <a:gd name="adj" fmla="val 10256"/>
            </a:avLst>
          </a:prstGeom>
          <a:solidFill>
            <a:schemeClr val="bg2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685800" y="2926080"/>
            <a:ext cx="2011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3"/>
                </a:solidFill>
              </a:rPr>
              <a:t>建築費の高騰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2743200" y="2926080"/>
            <a:ext cx="57607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設計段階で積算し、予算に合わせて設計を見直す</a:t>
            </a:r>
            <a:endParaRPr lang="en-US" sz="1400" dirty="0"/>
          </a:p>
        </p:txBody>
      </p:sp>
      <p:sp>
        <p:nvSpPr>
          <p:cNvPr id="13" name="card"/>
          <p:cNvSpPr/>
          <p:nvPr/>
        </p:nvSpPr>
        <p:spPr>
          <a:xfrm>
            <a:off x="457200" y="3749040"/>
            <a:ext cx="8229600" cy="713232"/>
          </a:xfrm>
          <a:prstGeom prst="roundRect">
            <a:avLst>
              <a:gd name="adj" fmla="val 10256"/>
            </a:avLst>
          </a:prstGeom>
          <a:solidFill>
            <a:schemeClr val="bg2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685800" y="3749040"/>
            <a:ext cx="2011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3"/>
                </a:solidFill>
              </a:rPr>
              <a:t>出口</a:t>
            </a:r>
            <a:endParaRPr lang="en-US" sz="1600" dirty="0"/>
          </a:p>
        </p:txBody>
      </p:sp>
      <p:sp>
        <p:nvSpPr>
          <p:cNvPr id="15" name="Text 12"/>
          <p:cNvSpPr txBox="1"/>
          <p:nvPr/>
        </p:nvSpPr>
        <p:spPr>
          <a:xfrm>
            <a:off x="2743200" y="3749040"/>
            <a:ext cx="57607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積算が厚く、売っても銀行に説明できる物件を持つ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今後のロードマップ</a:t>
            </a:r>
            <a:endParaRPr lang="en-US" sz="2600" dirty="0"/>
          </a:p>
        </p:txBody>
      </p:sp>
      <p:sp>
        <p:nvSpPr>
          <p:cNvPr id="4" name="card"/>
          <p:cNvSpPr/>
          <p:nvPr/>
        </p:nvSpPr>
        <p:spPr>
          <a:xfrm>
            <a:off x="457200" y="1371600"/>
            <a:ext cx="2651760" cy="2743200"/>
          </a:xfrm>
          <a:prstGeom prst="roundRect">
            <a:avLst>
              <a:gd name="adj" fmla="val 2759"/>
            </a:avLst>
          </a:prstGeom>
          <a:solidFill>
            <a:schemeClr val="bg2"/>
          </a:solidFill>
          <a:ln/>
        </p:spPr>
      </p:sp>
      <p:sp>
        <p:nvSpPr>
          <p:cNvPr id="5" name="badge"/>
          <p:cNvSpPr/>
          <p:nvPr/>
        </p:nvSpPr>
        <p:spPr>
          <a:xfrm>
            <a:off x="685800" y="155448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685800" y="15544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1</a:t>
            </a:r>
            <a:endParaRPr lang="en-US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228600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2"/>
                </a:solidFill>
              </a:rPr>
              <a:t>いま〜2027年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685800" y="2834640"/>
            <a:ext cx="2286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関町南の設計・確認申請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新築用地の仕入れ継続</a:t>
            </a:r>
            <a:endParaRPr lang="en-US" sz="1400" dirty="0"/>
          </a:p>
        </p:txBody>
      </p:sp>
      <p:sp>
        <p:nvSpPr>
          <p:cNvPr id="9" name="card"/>
          <p:cNvSpPr/>
          <p:nvPr/>
        </p:nvSpPr>
        <p:spPr>
          <a:xfrm>
            <a:off x="3291840" y="1371600"/>
            <a:ext cx="2651760" cy="2743200"/>
          </a:xfrm>
          <a:prstGeom prst="roundRect">
            <a:avLst>
              <a:gd name="adj" fmla="val 2759"/>
            </a:avLst>
          </a:prstGeom>
          <a:solidFill>
            <a:schemeClr val="bg2"/>
          </a:solidFill>
          <a:ln/>
        </p:spPr>
      </p:sp>
      <p:sp>
        <p:nvSpPr>
          <p:cNvPr id="10" name="badge"/>
          <p:cNvSpPr/>
          <p:nvPr/>
        </p:nvSpPr>
        <p:spPr>
          <a:xfrm>
            <a:off x="3520440" y="155448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3520440" y="15544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2</a:t>
            </a:r>
            <a:endParaRPr lang="en-US" sz="1800" dirty="0"/>
          </a:p>
        </p:txBody>
      </p:sp>
      <p:sp>
        <p:nvSpPr>
          <p:cNvPr id="12" name="Text 9"/>
          <p:cNvSpPr txBox="1"/>
          <p:nvPr/>
        </p:nvSpPr>
        <p:spPr>
          <a:xfrm>
            <a:off x="3520440" y="228600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2"/>
                </a:solidFill>
              </a:rPr>
              <a:t>2027〜2028年</a:t>
            </a:r>
            <a:endParaRPr lang="en-US" sz="1700" dirty="0"/>
          </a:p>
        </p:txBody>
      </p:sp>
      <p:sp>
        <p:nvSpPr>
          <p:cNvPr id="13" name="Text 10"/>
          <p:cNvSpPr txBox="1"/>
          <p:nvPr/>
        </p:nvSpPr>
        <p:spPr>
          <a:xfrm>
            <a:off x="3520440" y="2834640"/>
            <a:ext cx="2286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着工・竣工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満室稼働へ</a:t>
            </a:r>
            <a:endParaRPr lang="en-US" sz="1400" dirty="0"/>
          </a:p>
        </p:txBody>
      </p:sp>
      <p:sp>
        <p:nvSpPr>
          <p:cNvPr id="14" name="card"/>
          <p:cNvSpPr/>
          <p:nvPr/>
        </p:nvSpPr>
        <p:spPr>
          <a:xfrm>
            <a:off x="6126480" y="1371600"/>
            <a:ext cx="2651760" cy="2743200"/>
          </a:xfrm>
          <a:prstGeom prst="roundRect">
            <a:avLst>
              <a:gd name="adj" fmla="val 2759"/>
            </a:avLst>
          </a:prstGeom>
          <a:solidFill>
            <a:schemeClr val="tx1"/>
          </a:solidFill>
          <a:ln/>
        </p:spPr>
      </p:sp>
      <p:sp>
        <p:nvSpPr>
          <p:cNvPr id="15" name="badge"/>
          <p:cNvSpPr/>
          <p:nvPr/>
        </p:nvSpPr>
        <p:spPr>
          <a:xfrm>
            <a:off x="6355080" y="155448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6355080" y="15544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3</a:t>
            </a:r>
            <a:endParaRPr lang="en-US" sz="1800" dirty="0"/>
          </a:p>
        </p:txBody>
      </p:sp>
      <p:sp>
        <p:nvSpPr>
          <p:cNvPr id="17" name="Text 14"/>
          <p:cNvSpPr txBox="1"/>
          <p:nvPr/>
        </p:nvSpPr>
        <p:spPr>
          <a:xfrm>
            <a:off x="6355080" y="228600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その先</a:t>
            </a:r>
            <a:endParaRPr lang="en-US" sz="1700" dirty="0"/>
          </a:p>
        </p:txBody>
      </p:sp>
      <p:sp>
        <p:nvSpPr>
          <p:cNvPr id="18" name="Text 15"/>
          <p:cNvSpPr txBox="1"/>
          <p:nvPr/>
        </p:nvSpPr>
        <p:spPr>
          <a:xfrm>
            <a:off x="6355080" y="2834640"/>
            <a:ext cx="2286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地方から都市部へ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資産を入れ替え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初心者の方へ：4年前の私にもできたこと</a:t>
            </a:r>
            <a:endParaRPr lang="en-US" sz="2600" dirty="0"/>
          </a:p>
        </p:txBody>
      </p:sp>
      <p:sp>
        <p:nvSpPr>
          <p:cNvPr id="4" name="card"/>
          <p:cNvSpPr/>
          <p:nvPr/>
        </p:nvSpPr>
        <p:spPr>
          <a:xfrm>
            <a:off x="457200" y="1280160"/>
            <a:ext cx="8229600" cy="960120"/>
          </a:xfrm>
          <a:prstGeom prst="roundRect">
            <a:avLst>
              <a:gd name="adj" fmla="val 7619"/>
            </a:avLst>
          </a:prstGeom>
          <a:solidFill>
            <a:schemeClr val="bg2"/>
          </a:solidFill>
          <a:ln/>
        </p:spPr>
      </p:sp>
      <p:sp>
        <p:nvSpPr>
          <p:cNvPr id="5" name="badge"/>
          <p:cNvSpPr/>
          <p:nvPr/>
        </p:nvSpPr>
        <p:spPr>
          <a:xfrm>
            <a:off x="685800" y="1463040"/>
            <a:ext cx="594360" cy="59436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685800" y="146304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1</a:t>
            </a:r>
            <a:endParaRPr lang="en-US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1554480" y="1280160"/>
            <a:ext cx="23774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条件を絞る</a:t>
            </a:r>
            <a:endParaRPr lang="en-US" sz="1900" dirty="0"/>
          </a:p>
        </p:txBody>
      </p:sp>
      <p:sp>
        <p:nvSpPr>
          <p:cNvPr id="8" name="Text 5"/>
          <p:cNvSpPr txBox="1"/>
          <p:nvPr/>
        </p:nvSpPr>
        <p:spPr>
          <a:xfrm>
            <a:off x="4023360" y="1280160"/>
            <a:ext cx="44805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積算・利回り・満室・耐用年数内。この4つだけを守る</a:t>
            </a:r>
            <a:endParaRPr lang="en-US" sz="1400" dirty="0"/>
          </a:p>
        </p:txBody>
      </p:sp>
      <p:sp>
        <p:nvSpPr>
          <p:cNvPr id="9" name="card"/>
          <p:cNvSpPr/>
          <p:nvPr/>
        </p:nvSpPr>
        <p:spPr>
          <a:xfrm>
            <a:off x="457200" y="2377440"/>
            <a:ext cx="8229600" cy="960120"/>
          </a:xfrm>
          <a:prstGeom prst="roundRect">
            <a:avLst>
              <a:gd name="adj" fmla="val 7619"/>
            </a:avLst>
          </a:prstGeom>
          <a:solidFill>
            <a:schemeClr val="bg2"/>
          </a:solidFill>
          <a:ln/>
        </p:spPr>
      </p:sp>
      <p:sp>
        <p:nvSpPr>
          <p:cNvPr id="10" name="badge"/>
          <p:cNvSpPr/>
          <p:nvPr/>
        </p:nvSpPr>
        <p:spPr>
          <a:xfrm>
            <a:off x="685800" y="2560320"/>
            <a:ext cx="594360" cy="59436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685800" y="256032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2</a:t>
            </a:r>
            <a:endParaRPr lang="en-US" sz="1800" dirty="0"/>
          </a:p>
        </p:txBody>
      </p:sp>
      <p:sp>
        <p:nvSpPr>
          <p:cNvPr id="12" name="Text 9"/>
          <p:cNvSpPr txBox="1"/>
          <p:nvPr/>
        </p:nvSpPr>
        <p:spPr>
          <a:xfrm>
            <a:off x="1554480" y="2377440"/>
            <a:ext cx="23774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数字で語る</a:t>
            </a:r>
            <a:endParaRPr lang="en-US" sz="1900" dirty="0"/>
          </a:p>
        </p:txBody>
      </p:sp>
      <p:sp>
        <p:nvSpPr>
          <p:cNvPr id="13" name="Text 10"/>
          <p:cNvSpPr txBox="1"/>
          <p:nvPr/>
        </p:nvSpPr>
        <p:spPr>
          <a:xfrm>
            <a:off x="4023360" y="2377440"/>
            <a:ext cx="44805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金融機関に、評価と収支を丁寧に説明する</a:t>
            </a:r>
            <a:endParaRPr lang="en-US" sz="1400" dirty="0"/>
          </a:p>
        </p:txBody>
      </p:sp>
      <p:sp>
        <p:nvSpPr>
          <p:cNvPr id="14" name="card"/>
          <p:cNvSpPr/>
          <p:nvPr/>
        </p:nvSpPr>
        <p:spPr>
          <a:xfrm>
            <a:off x="457200" y="3474720"/>
            <a:ext cx="8229600" cy="960120"/>
          </a:xfrm>
          <a:prstGeom prst="roundRect">
            <a:avLst>
              <a:gd name="adj" fmla="val 7619"/>
            </a:avLst>
          </a:prstGeom>
          <a:solidFill>
            <a:schemeClr val="bg2"/>
          </a:solidFill>
          <a:ln/>
        </p:spPr>
      </p:sp>
      <p:sp>
        <p:nvSpPr>
          <p:cNvPr id="15" name="badge"/>
          <p:cNvSpPr/>
          <p:nvPr/>
        </p:nvSpPr>
        <p:spPr>
          <a:xfrm>
            <a:off x="685800" y="3657600"/>
            <a:ext cx="594360" cy="59436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685800" y="365760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3</a:t>
            </a:r>
            <a:endParaRPr lang="en-US" sz="1800" dirty="0"/>
          </a:p>
        </p:txBody>
      </p:sp>
      <p:sp>
        <p:nvSpPr>
          <p:cNvPr id="17" name="Text 14"/>
          <p:cNvSpPr txBox="1"/>
          <p:nvPr/>
        </p:nvSpPr>
        <p:spPr>
          <a:xfrm>
            <a:off x="1554480" y="3474720"/>
            <a:ext cx="23774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現金を貯めて次へ</a:t>
            </a:r>
            <a:endParaRPr lang="en-US" sz="1900" dirty="0"/>
          </a:p>
        </p:txBody>
      </p:sp>
      <p:sp>
        <p:nvSpPr>
          <p:cNvPr id="18" name="Text 15"/>
          <p:cNvSpPr txBox="1"/>
          <p:nvPr/>
        </p:nvSpPr>
        <p:spPr>
          <a:xfrm>
            <a:off x="4023360" y="3474720"/>
            <a:ext cx="44805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インカムで種銭を作り、資産の質を高めていく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30</a:t>
            </a:fld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1188720"/>
            <a:ext cx="76809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お金がなくても、</a:t>
            </a:r>
            <a:endParaRPr lang="en-US" sz="4400" dirty="0"/>
          </a:p>
          <a:p>
            <a:pPr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戦い方はある。</a:t>
            </a:r>
            <a:endParaRPr lang="en-US" sz="44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301752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accent1"/>
                </a:solidFill>
              </a:rPr>
              <a:t>弱者の戦略 ― 地方で積み上げ、東京に戻る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402336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bg2"/>
                </a:solidFill>
              </a:rPr>
              <a:t>ご清聴ありがとうございました。ご質問をお願いします。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Kabukicho to Tokyo">
  <a:themeElements>
    <a:clrScheme name="Kabukicho to Tokyo">
      <a:dk1>
        <a:srgbClr val="1B1F2A"/>
      </a:dk1>
      <a:lt1>
        <a:srgbClr val="FFFFFF"/>
      </a:lt1>
      <a:dk2>
        <a:srgbClr val="2B3445"/>
      </a:dk2>
      <a:lt2>
        <a:srgbClr val="F1F2F4"/>
      </a:lt2>
      <a:accent1>
        <a:srgbClr val="E0A030"/>
      </a:accent1>
      <a:accent2>
        <a:srgbClr val="2E7D6B"/>
      </a:accent2>
      <a:accent3>
        <a:srgbClr val="C8553D"/>
      </a:accent3>
      <a:accent4>
        <a:srgbClr val="6B7A90"/>
      </a:accent4>
      <a:accent5>
        <a:srgbClr val="CFE3DC"/>
      </a:accent5>
      <a:accent6>
        <a:srgbClr val="F6E3BC"/>
      </a:accent6>
      <a:hlink>
        <a:srgbClr val="2E7D6B"/>
      </a:hlink>
      <a:folHlink>
        <a:srgbClr val="6B7A90"/>
      </a:folHlink>
    </a:clrScheme>
    <a:fontScheme name="Kabukicho to Tokyo">
      <a:majorFont>
        <a:latin typeface="Yu Gothi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Yu Gothi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31</Slides>
  <Notes>31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31</vt:i4>
      </vt:variant>
    </vt:vector>
  </HeadingPairs>
  <TitlesOfParts>
    <vt:vector size="3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4年で年間家賃収入1.5億円をつくった - 弱者の戦略</dc:title>
  <dc:subject>PptxGenJS Presentation</dc:subject>
  <dc:creator>今宮大介</dc:creator>
  <cp:lastModifiedBy>今宮大介</cp:lastModifiedBy>
  <cp:revision>1</cp:revision>
  <dcterms:created xsi:type="dcterms:W3CDTF">2026-10-23T14:08:25Z</dcterms:created>
  <dcterms:modified xsi:type="dcterms:W3CDTF">2026-10-23T14:08:25Z</dcterms:modified>
</cp:coreProperties>
</file>