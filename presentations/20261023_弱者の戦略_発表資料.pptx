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オープニング" id="{440afd35-48a9-414e-f534-cd1cda6d331f}">
          <p14:sldIdLst>
            <p14:sldId id="256"/>
            <p14:sldId id="257"/>
            <p14:sldId id="258"/>
          </p14:sldIdLst>
        </p14:section>
        <p14:section name="第1部 生い立ちと遠回り" id="{cfe60f51-a2d2-8c82-2660-80dd06b9b33a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第2部 弱者の戦略" id="{a13d5165-de56-ba9d-efac-4831d7d0bb80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第3部 東京に戻る" id="{f22d36b4-b343-aa4c-4483-4f25d8667c61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第4部 これから" id="{32bac378-72ce-86b3-ecc0-d1462edb6b1b}">
          <p14:sldIdLst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購入価格と担保評価（万円）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金額（万円）</c:v>
                </c:pt>
              </c:strCache>
            </c:strRef>
          </c:tx>
          <c:spPr>
            <a:solidFill>
              <a:srgbClr val="6B7A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A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0A03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購入価格</c:v>
                  </c:pt>
                  <c:pt idx="1">
                    <c:v>近隣事例評価</c:v>
                  </c:pt>
                  <c:pt idx="2">
                    <c:v>収益還元評価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25000</c:v>
                </c:pt>
                <c:pt idx="1">
                  <c:v>52683</c:v>
                </c:pt>
                <c:pt idx="2">
                  <c:v>70658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44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融資額 ÷ 購入価格（%）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融資比率（%）</c:v>
                </c:pt>
              </c:strCache>
            </c:strRef>
          </c:tx>
          <c:spPr>
            <a:solidFill>
              <a:srgbClr val="6B7A9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A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B7A9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B7A90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6B7A90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市原</c:v>
                  </c:pt>
                  <c:pt idx="1">
                    <c:v>鹿沼</c:v>
                  </c:pt>
                  <c:pt idx="2">
                    <c:v>美濃加茂</c:v>
                  </c:pt>
                  <c:pt idx="3">
                    <c:v>松山</c:v>
                  </c:pt>
                  <c:pt idx="4">
                    <c:v>池田</c:v>
                  </c:pt>
                  <c:pt idx="5">
                    <c:v>岐阜</c:v>
                  </c:pt>
                  <c:pt idx="6">
                    <c:v>可児</c:v>
                  </c:pt>
                  <c:pt idx="7">
                    <c:v>北方A</c:v>
                  </c:pt>
                  <c:pt idx="8">
                    <c:v>北方B</c:v>
                  </c:pt>
                  <c:pt idx="9">
                    <c:v>瑞穂</c:v>
                  </c:pt>
                  <c:pt idx="10">
                    <c:v>亀山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87.5</c:v>
                </c:pt>
                <c:pt idx="1">
                  <c:v>92.6</c:v>
                </c:pt>
                <c:pt idx="2">
                  <c:v>108.4</c:v>
                </c:pt>
                <c:pt idx="3">
                  <c:v>100</c:v>
                </c:pt>
                <c:pt idx="4">
                  <c:v>100</c:v>
                </c:pt>
                <c:pt idx="5">
                  <c:v>104.8</c:v>
                </c:pt>
                <c:pt idx="6">
                  <c:v>105.5</c:v>
                </c:pt>
                <c:pt idx="7">
                  <c:v>106.7</c:v>
                </c:pt>
                <c:pt idx="8">
                  <c:v>96</c:v>
                </c:pt>
                <c:pt idx="9">
                  <c:v>87.5</c:v>
                </c:pt>
                <c:pt idx="10">
                  <c:v>100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344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【導入 1分】今日は「お金も信用もない人間が、4年で年間家賃収入1.5億円まで来た道筋」を、失敗も含めて正直にお話しします。初心者の方が『これなら自分にもできるかも』と思える形で話します。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【2分】2021年末に買い始めて、現在の棟数に到達したのが2025年11月。1棟売却済みですが11棟として話します。数字は後でひとつずつ根拠を説明します。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歌舞伎町生まれ、歌舞伎町育ちの酒屋の息子です。曽祖父は戦後の歌舞伎町復興の実行委員として動き、歌舞伎町振興組合の発足や歌舞伎座の誘致に関わりました。実家はこの街のビルです。商売と街づくりを間近で見て育ち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【1分】歌舞伎町の祭りでは今も神輿を担いでいます。この街の人と商売に育ててもらったことが、人との縁で物件を買い進める今のスタイルにもつながっています。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大学卒業後は銀行、その後は総合商社のプラント営業で海外を飛び回りました。お金の流れと融資の考え方、交渉の基本はこの時代に学んでいます。その後、実家の事業をのれん分けしてコンビニ会社をスタート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分】一番増やしたときは14店舗。現在は7店舗まで集約しています。数字を見るほど、人手不足と過当競争で収益性が悪化していくのを肌で感じました。10年後の収益予想が全店舗赤字になった夜の怖さが、次の一歩の原動力になっ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コンビニの収益悪化を感じながら、再びいくつか事業にトライしました。エニタイムフィットネス、ブルーボトルコーヒー、八百屋、コーヒーショップ、コインランドリー。それぞれ学びがありましたが、最終的に残ったのはどれも『自分の時間と人手を食う』という共通点でした。（※ここは発表前にご自身の言葉に直してください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【2分】G's Academyでプログラミングを学び、コンビニのアルバイトスタッフをシェアするアプリProShiftを開発して、2019年のGlobal Geek Auditionで優勝しました。同期の仲間と作ったものです。数字と根拠で説明する経験が、のちの融資交渉にもつながっています。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【2分】コンビニもアプリも、人と時間を使う事業でした。不動産は、仕組みを作れば人手がほとんどいらない。しかも銀行が融資という形で背中を押してくれる。ここから『弱者の戦略』が始まります。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【3分】弱者とは、自己資金も属性も強くない人のことです。強者は都心の一等地を現金や大きな信用で買えますが、私たちはそうではない。だから別のルールで戦います。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【3分】この4つが揃う物件だけを集中して買ってきました。逆に、1つでも欠けたら買いません。築20年で利回り9〜10%の物件が多いです。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【4分】銀行は、物件を担保として見ます。積算価格が売買価格より高ければ、銀行から見て担保が十分あることになる。だから自己資金を多く求められにくい。家賃収入で返済できることが大前提です。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分】実際に融資をお願いしたときの事業計画書の数字です（概要）。購入価格2.5億円に対し、収益還元法の評価は約7.07億円、近隣売買事例からの評価は約5.27億円。評価が購入価格を大きく上回るため、頭金1,000万円で2.4億円の融資を受けました。※評価額は融資申込時の事業計画書の概算値で、実際とは一部異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耐用年数内で返済していくので、元金がしっかり減っていきます。満室で家賃が入り、積算が厚いので資産も見合う。結果として金融機関から見て『次も貸せる』決算書になっていきます。（※数値は各自の決算で確認の上で補足してください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分】2021年6月に、千葉県市原市の軽量鉄骨アパートを個人で購入。頭金500万円でした。同じ年の年末に入会して、翌2022年3月から地方RCを本格的に買い進めます。そして2025年11月の三重県亀山市で現在の棟数に到達し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分】これまでに購入した11物件です。ほぼ全てが築20年前後のRCで、利回りは8.5〜11.6%。融資は価格と同額か、それを超える物件が多いのが特徴です。市原の1棟目は売却済みで、現在は10棟、178室とテナント4で運営しています。瑞穂市は築39年ですが利回り30%の物件で、金利と期間は短め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これが弱者の戦略の核心です。購入価格に対する融資額の比率を並べました。100%を超える物件、つまり諸費用まで含めて融資が付いた物件が7つあります。物件の積算と収益力が評価され、自己資金をほとんど入れずに買えています。※比率は融資額÷購入価格（頭金控除後）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【3分】過去、MDさんと一緒に物件を購入して大きくしていった時期があります。MDさんが先に歩んだ道が、地方で積み上げる戦略の原型です。私はその先、地方から東京に戻るフェーズを今実行しています。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【2分】改めて現在地です。借入総額16億円というと大きく聞こえますが、家賃収入と担保評価で支えられている数字です。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【3分】ここが戦略の肝です。家賃から返済を引いた現金を、次の新築の頭金に回す。無理に借入を増やすのではなく、自分の現金を使って、より資産性の高い物件に進んでいきます。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【3分】地方は買いやすく、インカムも厚い。ただ、出口と資産性の面で都心には敵わない。持ってよし、売ってよしの資産を持ちたい。それが東京に戻る理由です。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【3分】西武新宿線の武蔵関駅から徒歩10分。土地は242㎡、約73坪。壁式RC造、地下1階・地上3階建てで、17戸の計画です。建物は設計着手済みで、設計は岐阜の希望社さんにお願いしています。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2026年10月に設計着手、2027年5月に設計完了の予定。その後、確認申請、ゼネコン選定を経て着工。工期は約10か月を想定し、竣工は2028年3月ごろを目標にしています。総事業費は4.2億円で進めていますが、積算で確定させてい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【3分】新築は地方中古と違い、判断を間違うと取り返しがつきません。だから自分の基準を持っています。区ごとのワンルーム条例も必ず照合し、抵触する場合は設計を変更します。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【3分】最終的には、地方の資産を都市部に入れ替えていきます。持ってよし、売ってよしの資産性と、インカムの収入の両方を持つのが当面のゴールです。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【4分】強い話ばかりしても信用されませんので、リスクもお話しします。空室、金利、建築費、出口。それぞれに備えを持っています。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【3分】2026〜2028年は関町南の新築を軸に、他の新築計画も進めていきます。地方は維持しつつ、徐々に都市部の比率を上げていきます。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【4分】私は2021年の年末、何も持っていない状態から始めました。特別な才能ではなく、物件の条件を絞り、数字で説明し、積み上げただけです。今日からできることを3つ挙げます。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【クロージング＋Q&amp;A】最後に一言。強い人と同じ戦い方をしなくていい。条件を絞って、数字で説明して、積み上げれば、4年で景色は変わります。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不動産投資 発表資料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4年で、年間家賃収入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1.5億円をつくった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弱者の戦略 ― 地方で積み上げ、東京に戻る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今宮 大介（株式会社mizunoya / 合同会社ベルフラワー）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まず結論：4年間の成果はこの4つ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37160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" y="1554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4年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4231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2021年に購入開始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2025年11月に現在の棟数へ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2542032" y="137160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679192" y="1554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11棟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2679192" y="24231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地方の高積算・高利回り物件が中心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4626864" y="137160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764024" y="1554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</a:rPr>
              <a:t>1.5億円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4764024" y="24231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年間家賃収入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711696" y="137160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848856" y="1554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16億円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6848856" y="24231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借入総額（法定耐用年数内で返済）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ポイントは「お金をかけずに買える物件」だけを集中して買ったこと。それが「弱者の戦略」です。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今日の流れ（約60分）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457200" y="132588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4" name="badge"/>
          <p:cNvSpPr/>
          <p:nvPr/>
        </p:nvSpPr>
        <p:spPr>
          <a:xfrm>
            <a:off x="640080" y="1435608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4356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4173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歌舞伎町から不動産まで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4173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なぜ遠回りしたのか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57200" y="219456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9" name="badge"/>
          <p:cNvSpPr/>
          <p:nvPr/>
        </p:nvSpPr>
        <p:spPr>
          <a:xfrm>
            <a:off x="640080" y="2304288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3042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286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弱者の戦略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2860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お金をかけずに買い、インカムで返す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4" name="badge"/>
          <p:cNvSpPr/>
          <p:nvPr/>
        </p:nvSpPr>
        <p:spPr>
          <a:xfrm>
            <a:off x="640080" y="3172968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172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3154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東京に戻る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31546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練馬区関町南の新築RCマンション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9" name="badge"/>
          <p:cNvSpPr/>
          <p:nvPr/>
        </p:nvSpPr>
        <p:spPr>
          <a:xfrm>
            <a:off x="640080" y="4041648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0416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023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これから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66344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資産の入れ替えとロードマップ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歌舞伎町から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不動産まで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PART 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089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遠回りの20年が、そのまま戦略の土台になっています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人生のスタートは、新宿・歌舞伎町の酒屋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280160"/>
            <a:ext cx="3291840" cy="3200400"/>
          </a:xfrm>
          <a:prstGeom prst="roundRect">
            <a:avLst>
              <a:gd name="adj" fmla="val 2286"/>
            </a:avLst>
          </a:prstGeom>
          <a:solidFill>
            <a:schemeClr val="tx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85800" y="15544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環境は選べない。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だが未来は選べる。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0175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歌舞伎町生まれ・歌舞伎町育ち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実家は酒屋</a:t>
            </a:r>
            <a:endParaRPr lang="en-US" sz="1400" dirty="0"/>
          </a:p>
        </p:txBody>
      </p:sp>
      <p:pic>
        <p:nvPicPr>
          <p:cNvPr id="7" name="photo family building" descr="/tmp/claude-0/-home-user-avatars1/ff7ac518-1ad5-5c32-bb06-c962a98e323e/scratchpad/p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977640" y="1280160"/>
            <a:ext cx="2331720" cy="2514600"/>
          </a:xfrm>
          <a:prstGeom prst="rect">
            <a:avLst/>
          </a:prstGeom>
        </p:spPr>
      </p:pic>
      <p:pic>
        <p:nvPicPr>
          <p:cNvPr id="8" name="photo great-grandfather" descr="/tmp/claude-0/-home-user-avatars1/ff7ac518-1ad5-5c32-bb06-c962a98e323e/images/3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1280160"/>
            <a:ext cx="2194560" cy="25146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977640" y="38862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実家のビル（歌舞伎町さくら通り）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6492240" y="38862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曽祖父（復興協力会の実行委員）。歌舞伎町振興組合の発足、歌舞伎座の誘致に関わる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いまも、街の祭りで神輿を担ぐ</a:t>
            </a:r>
            <a:endParaRPr lang="en-US" sz="2600" dirty="0"/>
          </a:p>
        </p:txBody>
      </p:sp>
      <p:pic>
        <p:nvPicPr>
          <p:cNvPr id="4" name="photo festival group" descr="/tmp/claude-0/-home-user-avatars1/ff7ac518-1ad5-5c32-bb06-c962a98e323e/images/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4023360" cy="2743200"/>
          </a:xfrm>
          <a:prstGeom prst="rect">
            <a:avLst/>
          </a:prstGeom>
        </p:spPr>
      </p:pic>
      <p:pic>
        <p:nvPicPr>
          <p:cNvPr id="5" name="photo festival sakura-dori" descr="/tmp/claude-0/-home-user-avatars1/ff7ac518-1ad5-5c32-bb06-c962a98e323e/images/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280160"/>
            <a:ext cx="4023360" cy="27432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歌舞伎町 さくら通りで。商売も街も、人の縁で動いている。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銀行・商社、そして実家のコンビニ会社へ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371600"/>
            <a:ext cx="2651760" cy="29260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5" name="badge"/>
          <p:cNvSpPr/>
          <p:nvPr/>
        </p:nvSpPr>
        <p:spPr>
          <a:xfrm>
            <a:off x="640080" y="15544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20代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774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銀行・商社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プラント営業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200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海外を飛び回る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融資と契約の基礎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3291840" y="1371600"/>
            <a:ext cx="2651760" cy="29260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10" name="badge"/>
          <p:cNvSpPr/>
          <p:nvPr/>
        </p:nvSpPr>
        <p:spPr>
          <a:xfrm>
            <a:off x="3474720" y="15544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47472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30代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474720" y="23774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コンビニ会社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のれん分けで独立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474720" y="3200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最大14店舗まで拡大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6126480" y="1371600"/>
            <a:ext cx="2651760" cy="29260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15" name="badge"/>
          <p:cNvSpPr/>
          <p:nvPr/>
        </p:nvSpPr>
        <p:spPr>
          <a:xfrm>
            <a:off x="6309360" y="15544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0936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40代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09360" y="23774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新規事業の模索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309360" y="3200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アプリ開発へ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そして不動産へ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コンビニ最大14店舗。そして危機感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801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14店舗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488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最大時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274320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→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3383280" y="12801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</a:rPr>
              <a:t>7店舗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3383280" y="21488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現在（集約）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5760720" y="1188720"/>
            <a:ext cx="2926080" cy="320040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89320" y="13716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本音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989320" y="1783080"/>
            <a:ext cx="2514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人手不足で社員が倒れていく。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10年後の収益予想は、全店舗赤字。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眠れなかったあの夜の恐怖が、原動力になった。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1089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人が足りない → 利益が出ない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自分が張り付かないと回らない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「人に頼らない収益」が欲しい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そこから、いくつもの事業に挑戦した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371600"/>
            <a:ext cx="1508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457200" y="13716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エニタイム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フィットネス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2103120" y="1371600"/>
            <a:ext cx="1508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2103120" y="13716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ブルーボトル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コーヒー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749040" y="1371600"/>
            <a:ext cx="1508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749040" y="13716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八百屋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394960" y="1371600"/>
            <a:ext cx="1508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394960" y="13716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コーヒー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ショップ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7040880" y="1371600"/>
            <a:ext cx="1508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040880" y="13716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コイン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ランドリー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挑戦から見えてきた「欲しい事業」の条件</a:t>
            </a:r>
            <a:endParaRPr lang="en-US" sz="1800" dirty="0"/>
          </a:p>
        </p:txBody>
      </p:sp>
      <p:sp>
        <p:nvSpPr>
          <p:cNvPr id="15" name="badge"/>
          <p:cNvSpPr/>
          <p:nvPr/>
        </p:nvSpPr>
        <p:spPr>
          <a:xfrm>
            <a:off x="457200" y="34747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5720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429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自分が張り付かなくても回る</a:t>
            </a:r>
            <a:endParaRPr lang="en-US" sz="1400" dirty="0"/>
          </a:p>
        </p:txBody>
      </p:sp>
      <p:sp>
        <p:nvSpPr>
          <p:cNvPr id="18" name="badge"/>
          <p:cNvSpPr/>
          <p:nvPr/>
        </p:nvSpPr>
        <p:spPr>
          <a:xfrm>
            <a:off x="3246120" y="34747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24612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794760" y="3429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数字で説明でき、融資が使える</a:t>
            </a:r>
            <a:endParaRPr lang="en-US" sz="1400" dirty="0"/>
          </a:p>
        </p:txBody>
      </p:sp>
      <p:sp>
        <p:nvSpPr>
          <p:cNvPr id="21" name="badge"/>
          <p:cNvSpPr/>
          <p:nvPr/>
        </p:nvSpPr>
        <p:spPr>
          <a:xfrm>
            <a:off x="6035040" y="34747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03504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29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小さく始めて、積み上げられる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アプリ開発で、投資家ピッチに優勝した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28016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tx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優勝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3317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Global Geek Audition vol.13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（G's ACADEMY TOKYO / 2019年）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2004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ProShift：現場の人手不足を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アプリで解決するサービス</a:t>
            </a:r>
            <a:endParaRPr lang="en-US" sz="1400" dirty="0"/>
          </a:p>
        </p:txBody>
      </p:sp>
      <p:pic>
        <p:nvPicPr>
          <p:cNvPr id="8" name="photo GGA winners" descr="/tmp/claude-0/-home-user-avatars1/ff7ac518-1ad5-5c32-bb06-c962a98e323e/scratchpad/p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1280160"/>
            <a:ext cx="3931920" cy="24231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754880" y="38404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自分の課題を自分で形にし、投資家に数字と根拠で説明した経験が、のちの金融機関への説明力につながった。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不動産と出会い、人生が動き始めた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371600"/>
            <a:ext cx="393192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5544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人手の事業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1031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店舗・アプリ・飲食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6517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自分と社員の時間が必要</a:t>
            </a:r>
            <a:endParaRPr lang="en-US" sz="1600" dirty="0"/>
          </a:p>
        </p:txBody>
      </p:sp>
      <p:sp>
        <p:nvSpPr>
          <p:cNvPr id="8" name="card"/>
          <p:cNvSpPr/>
          <p:nvPr/>
        </p:nvSpPr>
        <p:spPr>
          <a:xfrm>
            <a:off x="4754880" y="1371600"/>
            <a:ext cx="393192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029200" y="15544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不動産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029200" y="21031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賃貸アパート・マンション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029200" y="26517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仕組みが回れば自分は不要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融資が使える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→ 2021年6月、最初の1棟（千葉県市原市の軽量鉄骨アパート・頭金500万円）を購入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弱者の戦略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PART 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089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お金をかけずに買い、インカムで返し、現金を貯める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「弱者の戦略」とは何か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280160"/>
            <a:ext cx="393192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強者の戦い方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103120"/>
            <a:ext cx="3383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都心の一等地を買う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自己資金・属性が厚い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利回りは低くても気にしない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754880" y="1280160"/>
            <a:ext cx="3931920" cy="3108960"/>
          </a:xfrm>
          <a:prstGeom prst="roundRect">
            <a:avLst>
              <a:gd name="adj" fmla="val 2353"/>
            </a:avLst>
          </a:prstGeom>
          <a:solidFill>
            <a:schemeClr val="accent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29200" y="1463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弱者の戦い方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5029200" y="2103120"/>
            <a:ext cx="3383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地方で、積算が売買価格を上回る物件を買う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高利回りで満室、インカムで返済する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法定耐用年数内の融資を引く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買う物件の条件は、この4つだけ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280160"/>
            <a:ext cx="39319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5" name="badge"/>
          <p:cNvSpPr/>
          <p:nvPr/>
        </p:nvSpPr>
        <p:spPr>
          <a:xfrm>
            <a:off x="685800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積算 ≧ 売買価格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2057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担保評価が購入価格を上回る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754880" y="1280160"/>
            <a:ext cx="39319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0" name="badge"/>
          <p:cNvSpPr/>
          <p:nvPr/>
        </p:nvSpPr>
        <p:spPr>
          <a:xfrm>
            <a:off x="4983480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9834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80644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高利回り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806440" y="2057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築20年で9〜10%が中心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457200" y="2926080"/>
            <a:ext cx="39319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5" name="badge"/>
          <p:cNvSpPr/>
          <p:nvPr/>
        </p:nvSpPr>
        <p:spPr>
          <a:xfrm>
            <a:off x="685800" y="33375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85800" y="3337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508760" y="3200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満室で稼働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508760" y="37033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家賃がきちんと入っている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4754880" y="2926080"/>
            <a:ext cx="39319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0" name="badge"/>
          <p:cNvSpPr/>
          <p:nvPr/>
        </p:nvSpPr>
        <p:spPr>
          <a:xfrm>
            <a:off x="4983480" y="33375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983480" y="3337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806440" y="3200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耐用年数内融資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5806440" y="37033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法定耐用年数の範囲で返済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なぜ、お金をかけずに買えるのか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554480"/>
            <a:ext cx="1828800" cy="1371600"/>
          </a:xfrm>
          <a:prstGeom prst="roundRect">
            <a:avLst>
              <a:gd name="adj" fmla="val 5333"/>
            </a:avLst>
          </a:prstGeom>
          <a:solidFill>
            <a:schemeClr val="accent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457200" y="155448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積算価格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が高い物件を買う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2286000" y="20116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▶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2606040" y="1554480"/>
            <a:ext cx="1828800" cy="1371600"/>
          </a:xfrm>
          <a:prstGeom prst="roundRect">
            <a:avLst>
              <a:gd name="adj" fmla="val 5333"/>
            </a:avLst>
          </a:prstGeom>
          <a:solidFill>
            <a:schemeClr val="accent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606040" y="155448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銀行から見て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担保が十分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434840" y="20116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▶</a:t>
            </a:r>
            <a:endParaRPr lang="en-US" sz="1800" dirty="0"/>
          </a:p>
        </p:txBody>
      </p:sp>
      <p:sp>
        <p:nvSpPr>
          <p:cNvPr id="10" name="card"/>
          <p:cNvSpPr/>
          <p:nvPr/>
        </p:nvSpPr>
        <p:spPr>
          <a:xfrm>
            <a:off x="4754880" y="1554480"/>
            <a:ext cx="1828800" cy="1371600"/>
          </a:xfrm>
          <a:prstGeom prst="roundRect">
            <a:avLst>
              <a:gd name="adj" fmla="val 5333"/>
            </a:avLst>
          </a:prstGeom>
          <a:solidFill>
            <a:schemeClr val="accent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754880" y="155448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自己資金を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抑えて融資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20116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▶</a:t>
            </a:r>
            <a:endParaRPr lang="en-US" sz="1800" dirty="0"/>
          </a:p>
        </p:txBody>
      </p:sp>
      <p:sp>
        <p:nvSpPr>
          <p:cNvPr id="13" name="card"/>
          <p:cNvSpPr/>
          <p:nvPr/>
        </p:nvSpPr>
        <p:spPr>
          <a:xfrm>
            <a:off x="6903720" y="1554480"/>
            <a:ext cx="1828800" cy="1371600"/>
          </a:xfrm>
          <a:prstGeom prst="roundRect">
            <a:avLst>
              <a:gd name="adj" fmla="val 5333"/>
            </a:avLst>
          </a:prstGeom>
          <a:solidFill>
            <a:schemeClr val="accent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903720" y="155448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家賃収入で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返済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457200" y="3291840"/>
            <a:ext cx="8229600" cy="1188720"/>
          </a:xfrm>
          <a:prstGeom prst="roundRect">
            <a:avLst>
              <a:gd name="adj" fmla="val 6154"/>
            </a:avLst>
          </a:prstGeom>
          <a:solidFill>
            <a:schemeClr val="tx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31520" y="32918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お金を借りることが目的ではない。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「物件の価値」と「家賃収入」で返せる範囲だけ借りる。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事例：岐阜県北方町のRC7階建マンション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49377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"/>
          <p:cNvSpPr/>
          <p:nvPr/>
        </p:nvSpPr>
        <p:spPr>
          <a:xfrm>
            <a:off x="5577840" y="1280160"/>
            <a:ext cx="3108960" cy="320040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5806440" y="1417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物件概要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806440" y="1828800"/>
            <a:ext cx="2743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RC7階建・築22年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24戸＋テナント4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駐車場58台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年間家賃 2,897万円（利回り11.6%）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融資 2.4億円（頭金1,000万円）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※融資申込時の事業計画書より（概算値）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決算書が「いい内容」で回る理由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371600"/>
            <a:ext cx="26517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5" name="badge"/>
          <p:cNvSpPr/>
          <p:nvPr/>
        </p:nvSpPr>
        <p:spPr>
          <a:xfrm>
            <a:off x="685800" y="15544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満室の家賃収入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697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売上が安定して入る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3291840" y="1371600"/>
            <a:ext cx="26517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0" name="badge"/>
          <p:cNvSpPr/>
          <p:nvPr/>
        </p:nvSpPr>
        <p:spPr>
          <a:xfrm>
            <a:off x="3520440" y="15544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204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耐用年数内の返済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2697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元金が確実に減る</a:t>
            </a:r>
            <a:endParaRPr lang="en-US" sz="1300" dirty="0"/>
          </a:p>
        </p:txBody>
      </p:sp>
      <p:sp>
        <p:nvSpPr>
          <p:cNvPr id="14" name="card"/>
          <p:cNvSpPr/>
          <p:nvPr/>
        </p:nvSpPr>
        <p:spPr>
          <a:xfrm>
            <a:off x="6126480" y="1371600"/>
            <a:ext cx="26517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5" name="badge"/>
          <p:cNvSpPr/>
          <p:nvPr/>
        </p:nvSpPr>
        <p:spPr>
          <a:xfrm>
            <a:off x="6355080" y="15544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5508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積算の厚い資産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355080" y="2697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担保に余裕がある</a:t>
            </a:r>
            <a:endParaRPr lang="en-US" sz="1300" dirty="0"/>
          </a:p>
        </p:txBody>
      </p:sp>
      <p:sp>
        <p:nvSpPr>
          <p:cNvPr id="19" name="card"/>
          <p:cNvSpPr/>
          <p:nvPr/>
        </p:nvSpPr>
        <p:spPr>
          <a:xfrm>
            <a:off x="457200" y="3474720"/>
            <a:ext cx="8229600" cy="1005840"/>
          </a:xfrm>
          <a:prstGeom prst="roundRect">
            <a:avLst>
              <a:gd name="adj" fmla="val 7273"/>
            </a:avLst>
          </a:prstGeom>
          <a:solidFill>
            <a:schemeClr val="accent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31520" y="347472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決算書がよいと、次の融資が通る。次の融資が通ると、物件が増える。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4年間の道のり：2021年〜2025年11月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1097280" y="2148840"/>
            <a:ext cx="69494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5" name="badge"/>
          <p:cNvSpPr/>
          <p:nvPr/>
        </p:nvSpPr>
        <p:spPr>
          <a:xfrm>
            <a:off x="1371600" y="1874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37160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280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2021年6月</a:t>
            </a:r>
            <a:endParaRPr lang="en-US" sz="1600" dirty="0"/>
          </a:p>
        </p:txBody>
      </p:sp>
      <p:sp>
        <p:nvSpPr>
          <p:cNvPr id="8" name="card"/>
          <p:cNvSpPr/>
          <p:nvPr/>
        </p:nvSpPr>
        <p:spPr>
          <a:xfrm>
            <a:off x="457200" y="2697480"/>
            <a:ext cx="2377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28346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最初の1棟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4290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千葉県市原市のアパート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（個人・頭金500万円）</a:t>
            </a:r>
            <a:endParaRPr lang="en-US" sz="1300" dirty="0"/>
          </a:p>
        </p:txBody>
      </p:sp>
      <p:sp>
        <p:nvSpPr>
          <p:cNvPr id="11" name="badge"/>
          <p:cNvSpPr/>
          <p:nvPr/>
        </p:nvSpPr>
        <p:spPr>
          <a:xfrm>
            <a:off x="4206240" y="1874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20624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291840" y="1280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2021年末〜2025年</a:t>
            </a:r>
            <a:endParaRPr lang="en-US" sz="1600" dirty="0"/>
          </a:p>
        </p:txBody>
      </p:sp>
      <p:sp>
        <p:nvSpPr>
          <p:cNvPr id="14" name="card"/>
          <p:cNvSpPr/>
          <p:nvPr/>
        </p:nvSpPr>
        <p:spPr>
          <a:xfrm>
            <a:off x="3291840" y="2697480"/>
            <a:ext cx="2377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429000" y="28346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地方RCに集中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429000" y="34290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岐阜・栃木・愛媛・三重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積算と利回りを重視</a:t>
            </a:r>
            <a:endParaRPr lang="en-US" sz="1300" dirty="0"/>
          </a:p>
        </p:txBody>
      </p:sp>
      <p:sp>
        <p:nvSpPr>
          <p:cNvPr id="17" name="badge"/>
          <p:cNvSpPr/>
          <p:nvPr/>
        </p:nvSpPr>
        <p:spPr>
          <a:xfrm>
            <a:off x="7040880" y="18745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04088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126480" y="1280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2025年11月</a:t>
            </a:r>
            <a:endParaRPr lang="en-US" sz="1600" dirty="0"/>
          </a:p>
        </p:txBody>
      </p:sp>
      <p:sp>
        <p:nvSpPr>
          <p:cNvPr id="20" name="card"/>
          <p:cNvSpPr/>
          <p:nvPr/>
        </p:nvSpPr>
        <p:spPr>
          <a:xfrm>
            <a:off x="6126480" y="2697480"/>
            <a:ext cx="2377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263640" y="28346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現在の棟数に到達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6263640" y="34290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三重県亀山市で10棟目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（購入累計11棟）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購入した物件の一覧（11物件）</a:t>
            </a:r>
            <a:endParaRPr lang="en-US" sz="2600" dirty="0"/>
          </a:p>
        </p:txBody>
      </p:sp>
      <p:graphicFrame>
        <p:nvGraphicFramePr>
          <p:cNvPr id="20" name="property lis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640080"/>
                <a:gridCol w="1691640"/>
                <a:gridCol w="1097280"/>
                <a:gridCol w="594360"/>
                <a:gridCol w="777240"/>
                <a:gridCol w="594360"/>
                <a:gridCol w="868680"/>
                <a:gridCol w="1645920"/>
              </a:tblGrid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No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購入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所在地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構造・築年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戸数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価格(万円)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利回り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融資(万円)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金利 / 期間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A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A9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A9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2021/6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6B7A9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千葉県市原市（売却済）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6B7A9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軽量鉄骨 築27年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A9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8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6B7A9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4,000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6B7A9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11.6%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6B7A9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3,500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6B7A9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1.8→2.2% / 23年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2022/3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栃木県鹿沼市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RC 築19年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30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27,000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10.4%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25,000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0.75→1.3% / 28年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3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2022/10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岐阜県美濃加茂市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RC 築18年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12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9,500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9.0%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10,300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1.5% / 29年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4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2023/3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愛媛県松山市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RC 築20年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8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5,000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9.0%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5,000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1.2→1.5% / 27年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5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2023/8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岐阜県池田町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RC 築20年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12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8,400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9.75%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8,400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1.3% / 27年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6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2023/10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岐阜県岐阜市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RC 築23年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18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10,500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10.3%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11,000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1.2% / 27年+3年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7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2023/11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岐阜県可児市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RC 築19年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16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12,800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8.5%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13,500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1.3% / 28年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8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2024/12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岐阜県北方町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RC 築23年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15,000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11.0%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16,000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1.4% / 25年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2024/12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岐阜県北方町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RC 築23年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24+4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25,000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11.6%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24,000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1.2% / 25年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2024/12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岐阜県瑞穂市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RC 築39年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23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4,000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30%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3,500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3.5% / 15年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11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2025/11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三重県亀山市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RC 築19年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15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15,300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8.9%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15,300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1.5% / 29年+1年</a:t>
                      </a:r>
                      <a:endParaRPr lang="en-US" sz="10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現在：178室＋テナント4／年間家賃収入 14,415万円（市原売却後）。融資額は頭金控除後。金融機関名は非公開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11物件中7物件が、フルローン以上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54864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"/>
          <p:cNvSpPr/>
          <p:nvPr/>
        </p:nvSpPr>
        <p:spPr>
          <a:xfrm>
            <a:off x="6126480" y="128016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6263640" y="132588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7/11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7543800" y="132588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物件が融資100%以上</a:t>
            </a:r>
            <a:endParaRPr lang="en-US" sz="1100" dirty="0"/>
          </a:p>
        </p:txBody>
      </p:sp>
      <p:sp>
        <p:nvSpPr>
          <p:cNvPr id="8" name="card"/>
          <p:cNvSpPr/>
          <p:nvPr/>
        </p:nvSpPr>
        <p:spPr>
          <a:xfrm>
            <a:off x="6126480" y="233172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263640" y="23774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1.2〜1.5%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543800" y="23774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9物件の金利</a:t>
            </a:r>
            <a:endParaRPr lang="en-US" sz="1100" dirty="0"/>
          </a:p>
        </p:txBody>
      </p:sp>
      <p:sp>
        <p:nvSpPr>
          <p:cNvPr id="11" name="card"/>
          <p:cNvSpPr/>
          <p:nvPr/>
        </p:nvSpPr>
        <p:spPr>
          <a:xfrm>
            <a:off x="6126480" y="338328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263640" y="342900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25〜29年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7543800" y="34290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融資期間が中心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※比率は頭金控除後の融資額÷購入価格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MDさんと一緒に、大きくしていった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28016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MDさんの戦略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10312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地方の高積算・高利回りで買う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インカムで返済し、現金を残す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融資を使って規模を拡大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663440" y="128016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tx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937760" y="14630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その先を走る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210312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地方で作った現金を原資にする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東京の土地から新築で建てる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資産を都市部に入れ替える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現在の数字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46304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tx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" y="160020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11棟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4688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保有棟数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2542032" y="146304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tx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679192" y="160020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1.5億円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2679192" y="24688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年間家賃収入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4626864" y="146304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tx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764024" y="160020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16億円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4764024" y="24688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借入総額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711696" y="146304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tx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848856" y="160020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9.5%前後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6848856" y="24688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平均利回り（9〜10%、築20年が中心）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※保有棟数は直近1棟売却後も11棟として表記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インカムで現金を貯め、次の頭金にする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55448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457200" y="16916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高利回りの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地方物件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743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満室で家賃収入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2286000" y="21945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▶</a:t>
            </a:r>
            <a:endParaRPr lang="en-US" sz="1800" dirty="0"/>
          </a:p>
        </p:txBody>
      </p:sp>
      <p:sp>
        <p:nvSpPr>
          <p:cNvPr id="8" name="card"/>
          <p:cNvSpPr/>
          <p:nvPr/>
        </p:nvSpPr>
        <p:spPr>
          <a:xfrm>
            <a:off x="2606040" y="155448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606040" y="16916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返済して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現金が残る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2606040" y="2743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ベースの収入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434840" y="21945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▶</a:t>
            </a:r>
            <a:endParaRPr lang="en-US" sz="1800" dirty="0"/>
          </a:p>
        </p:txBody>
      </p:sp>
      <p:sp>
        <p:nvSpPr>
          <p:cNvPr id="12" name="card"/>
          <p:cNvSpPr/>
          <p:nvPr/>
        </p:nvSpPr>
        <p:spPr>
          <a:xfrm>
            <a:off x="4754880" y="155448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4880" y="16916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現金が貯まる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4754880" y="2743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頭金の原資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0" y="21945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▶</a:t>
            </a:r>
            <a:endParaRPr lang="en-US" sz="1800" dirty="0"/>
          </a:p>
        </p:txBody>
      </p:sp>
      <p:sp>
        <p:nvSpPr>
          <p:cNvPr id="16" name="card"/>
          <p:cNvSpPr/>
          <p:nvPr/>
        </p:nvSpPr>
        <p:spPr>
          <a:xfrm>
            <a:off x="6903720" y="155448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accent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903720" y="16916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都心の新築へ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903720" y="2743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資産性の高い物件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弱者は、地方で「種銭」を作る。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東京に戻る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PART 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089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地方で作った現金で、都心の新築RCに挑戦する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なぜ、地方から東京に戻るのか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1828800" y="1280160"/>
            <a:ext cx="333756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828800" y="12801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地方の中古</a:t>
            </a:r>
            <a:endParaRPr lang="en-US" sz="1600" dirty="0"/>
          </a:p>
        </p:txBody>
      </p:sp>
      <p:sp>
        <p:nvSpPr>
          <p:cNvPr id="6" name="card"/>
          <p:cNvSpPr/>
          <p:nvPr/>
        </p:nvSpPr>
        <p:spPr>
          <a:xfrm>
            <a:off x="5257800" y="1280160"/>
            <a:ext cx="333756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257800" y="12801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東京の新築</a:t>
            </a:r>
            <a:endParaRPr lang="en-US" sz="1600" dirty="0"/>
          </a:p>
        </p:txBody>
      </p:sp>
      <p:sp>
        <p:nvSpPr>
          <p:cNvPr id="8" name="card"/>
          <p:cNvSpPr/>
          <p:nvPr/>
        </p:nvSpPr>
        <p:spPr>
          <a:xfrm>
            <a:off x="457200" y="1828800"/>
            <a:ext cx="12801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57200" y="182880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強み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1828800" y="1828800"/>
            <a:ext cx="33375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828800" y="1828800"/>
            <a:ext cx="3337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高利回り・高積算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買いやすい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257800" y="1828800"/>
            <a:ext cx="33375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257800" y="1828800"/>
            <a:ext cx="3337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資産性が高い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売りやすい・貸しやすい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457200" y="2880360"/>
            <a:ext cx="12801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288036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弱み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1828800" y="2880360"/>
            <a:ext cx="33375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828800" y="2880360"/>
            <a:ext cx="3337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出口が読みにくい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人口減少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5257800" y="2880360"/>
            <a:ext cx="33375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257800" y="2880360"/>
            <a:ext cx="3337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利回りは低め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土地が高い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457200" y="3931920"/>
            <a:ext cx="12801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57200" y="393192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役割</a:t>
            </a:r>
            <a:endParaRPr lang="en-US" sz="1400" dirty="0"/>
          </a:p>
        </p:txBody>
      </p:sp>
      <p:sp>
        <p:nvSpPr>
          <p:cNvPr id="22" name="card"/>
          <p:cNvSpPr/>
          <p:nvPr/>
        </p:nvSpPr>
        <p:spPr>
          <a:xfrm>
            <a:off x="1828800" y="3931920"/>
            <a:ext cx="33375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828800" y="3931920"/>
            <a:ext cx="3337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インカムで種銭づくり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5257800" y="3931920"/>
            <a:ext cx="33375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257800" y="3931920"/>
            <a:ext cx="3337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資産の質を高める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練馬区関町南の新築RCマンション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28016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tx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17戸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468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壁式RC造 地下1階・地上3階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9260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総事業費 約4.2億円（未確定）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840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東京都練馬区関町南4丁目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754880" y="13258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最寄駅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897880" y="13258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西武新宿線 武蔵関駅 徒歩10分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754880" y="196596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土地面積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897880" y="19659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242.21㎡（約73.3坪）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754880" y="26060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延床面積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897880" y="26060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617.84㎡（約186.9坪）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32461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用途地域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897880" y="32461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近隣商業 / 第一種低層住居専用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38862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住戸構成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897880" y="38862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1K・1LDK・2LDK（17戸）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計画の進め方：竣工は2028年3月ごろを想定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1097280" y="2011680"/>
            <a:ext cx="69494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5" name="badge"/>
          <p:cNvSpPr/>
          <p:nvPr/>
        </p:nvSpPr>
        <p:spPr>
          <a:xfrm>
            <a:off x="1097280" y="1737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9728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2026年10月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4688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設計着手</a:t>
            </a:r>
            <a:endParaRPr lang="en-US" sz="1400" dirty="0"/>
          </a:p>
        </p:txBody>
      </p:sp>
      <p:sp>
        <p:nvSpPr>
          <p:cNvPr id="9" name="badge"/>
          <p:cNvSpPr/>
          <p:nvPr/>
        </p:nvSpPr>
        <p:spPr>
          <a:xfrm>
            <a:off x="3246120" y="1737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24612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60604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2027年5月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606040" y="24688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設計完了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確認申請へ</a:t>
            </a:r>
            <a:endParaRPr lang="en-US" sz="1400" dirty="0"/>
          </a:p>
        </p:txBody>
      </p:sp>
      <p:sp>
        <p:nvSpPr>
          <p:cNvPr id="13" name="badge"/>
          <p:cNvSpPr/>
          <p:nvPr/>
        </p:nvSpPr>
        <p:spPr>
          <a:xfrm>
            <a:off x="5394960" y="1737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39496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2027年中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754880" y="24688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ゼネコン選定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着工</a:t>
            </a:r>
            <a:endParaRPr lang="en-US" sz="1400" dirty="0"/>
          </a:p>
        </p:txBody>
      </p:sp>
      <p:sp>
        <p:nvSpPr>
          <p:cNvPr id="17" name="badge"/>
          <p:cNvSpPr/>
          <p:nvPr/>
        </p:nvSpPr>
        <p:spPr>
          <a:xfrm>
            <a:off x="7543800" y="173736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54380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90372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2028年3月ごろ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903720" y="24688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竣工・募集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457200" y="3474720"/>
            <a:ext cx="8229600" cy="1005840"/>
          </a:xfrm>
          <a:prstGeom prst="roundRect">
            <a:avLst>
              <a:gd name="adj" fmla="val 7273"/>
            </a:avLst>
          </a:prstGeom>
          <a:solidFill>
            <a:schemeClr val="accent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31520" y="347472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総事業費 約4.2億円は暫定。設計が固まった段階で積算を取り、収支を確定させます。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新築を始めるときの、私の判断基準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28016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0080" y="1417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住戸面積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828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15㎡以上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3291840" y="128016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474720" y="1417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構造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474720" y="1828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木造3階を基本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（RCは立地次第）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6126480" y="128016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309360" y="1417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有効率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309360" y="1828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80%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457200" y="292608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0080" y="3063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利回り目安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3474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木造は8.5%以上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（16号線内側）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3291840" y="292608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474720" y="3063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規制確認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3474720" y="3474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区のワンルーム条例・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指導要綱に必ず照合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6126480" y="292608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309360" y="3063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建築費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3474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木造 坪70万円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（解体・諸費用は別）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資産の入れ替え：地方から都市部へ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21945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146304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地方の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高利回り物件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2743200" y="19202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▶</a:t>
            </a:r>
            <a:endParaRPr lang="en-US" sz="2200" dirty="0"/>
          </a:p>
        </p:txBody>
      </p:sp>
      <p:sp>
        <p:nvSpPr>
          <p:cNvPr id="7" name="card"/>
          <p:cNvSpPr/>
          <p:nvPr/>
        </p:nvSpPr>
        <p:spPr>
          <a:xfrm>
            <a:off x="3566160" y="1463040"/>
            <a:ext cx="2194560" cy="1371600"/>
          </a:xfrm>
          <a:prstGeom prst="roundRect">
            <a:avLst>
              <a:gd name="adj" fmla="val 5333"/>
            </a:avLst>
          </a:prstGeom>
          <a:solidFill>
            <a:schemeClr val="accent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566160" y="146304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現金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（種銭）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19202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▶</a:t>
            </a:r>
            <a:endParaRPr lang="en-US" sz="2200" dirty="0"/>
          </a:p>
        </p:txBody>
      </p:sp>
      <p:sp>
        <p:nvSpPr>
          <p:cNvPr id="10" name="card"/>
          <p:cNvSpPr/>
          <p:nvPr/>
        </p:nvSpPr>
        <p:spPr>
          <a:xfrm>
            <a:off x="6400800" y="1463040"/>
            <a:ext cx="2194560" cy="1371600"/>
          </a:xfrm>
          <a:prstGeom prst="roundRect">
            <a:avLst>
              <a:gd name="adj" fmla="val 5333"/>
            </a:avLst>
          </a:prstGeom>
          <a:solidFill>
            <a:schemeClr val="accent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0" y="146304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都心の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新築RC・AP</a:t>
            </a:r>
            <a:endParaRPr lang="en-US" sz="1700" dirty="0"/>
          </a:p>
        </p:txBody>
      </p:sp>
      <p:sp>
        <p:nvSpPr>
          <p:cNvPr id="12" name="card"/>
          <p:cNvSpPr/>
          <p:nvPr/>
        </p:nvSpPr>
        <p:spPr>
          <a:xfrm>
            <a:off x="548640" y="3200400"/>
            <a:ext cx="8046720" cy="1280160"/>
          </a:xfrm>
          <a:prstGeom prst="roundRect">
            <a:avLst>
              <a:gd name="adj" fmla="val 5714"/>
            </a:avLst>
          </a:prstGeom>
          <a:solidFill>
            <a:schemeClr val="tx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2960" y="324612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持ってよし、売ってよし。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3886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資産性とインカムの両方を持つ、都市部の資産へ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これから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PART 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089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リスクとロードマップ、そして初心者の方へ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リスクと、その備え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280160"/>
            <a:ext cx="822960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85800" y="128016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空室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2743200" y="1280160"/>
            <a:ext cx="576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満室想定でなく、安い賃料でも回る物件を選ぶ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57200" y="2103120"/>
            <a:ext cx="822960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210312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金利上昇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2743200" y="2103120"/>
            <a:ext cx="576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耐用年数内で返済、現金を厚めに保有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457200" y="2926080"/>
            <a:ext cx="822960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292608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建築費の高騰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743200" y="2926080"/>
            <a:ext cx="576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設計段階で積算し、予算に合わせて設計を見直す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457200" y="3749040"/>
            <a:ext cx="822960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85800" y="374904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出口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743200" y="3749040"/>
            <a:ext cx="576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積算が厚く、売っても銀行に説明できる物件を持つ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今後のロードマップ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37160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5" name="badge"/>
          <p:cNvSpPr/>
          <p:nvPr/>
        </p:nvSpPr>
        <p:spPr>
          <a:xfrm>
            <a:off x="685800" y="15544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86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いま〜2027年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8346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関町南の設計・確認申請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新築用地の仕入れ継続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3291840" y="137160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10" name="badge"/>
          <p:cNvSpPr/>
          <p:nvPr/>
        </p:nvSpPr>
        <p:spPr>
          <a:xfrm>
            <a:off x="3520440" y="15544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204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2286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2027〜2028年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28346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着工・竣工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満室稼働へ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6126480" y="137160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tx1"/>
          </a:solidFill>
          <a:ln/>
        </p:spPr>
      </p:sp>
      <p:sp>
        <p:nvSpPr>
          <p:cNvPr id="15" name="badge"/>
          <p:cNvSpPr/>
          <p:nvPr/>
        </p:nvSpPr>
        <p:spPr>
          <a:xfrm>
            <a:off x="6355080" y="15544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5508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286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その先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355080" y="28346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地方から都市部へ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資産を入れ替え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初心者の方へ：4年前の私にもできたこと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280160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5" name="badge"/>
          <p:cNvSpPr/>
          <p:nvPr/>
        </p:nvSpPr>
        <p:spPr>
          <a:xfrm>
            <a:off x="685800" y="146304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14630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28016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条件を絞る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28016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積算・利回り・満室・耐用年数内。この4つだけを守る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57200" y="2377440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0" name="badge"/>
          <p:cNvSpPr/>
          <p:nvPr/>
        </p:nvSpPr>
        <p:spPr>
          <a:xfrm>
            <a:off x="685800" y="256032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25603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554480" y="237744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数字で語る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4023360" y="237744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金融機関に、評価と収支を丁寧に説明する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457200" y="3474720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5" name="badge"/>
          <p:cNvSpPr/>
          <p:nvPr/>
        </p:nvSpPr>
        <p:spPr>
          <a:xfrm>
            <a:off x="685800" y="365760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85800" y="3657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554480" y="347472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現金を貯めて次へ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347472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インカムで種銭を作り、資産の質を高めていく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お金がなくても、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戦い方はある。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弱者の戦略 ― 地方で積み上げ、東京に戻る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ご清聴ありがとうございました。ご質問をお願いします。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bukicho to Tokyo">
  <a:themeElements>
    <a:clrScheme name="Kabukicho to Tokyo">
      <a:dk1>
        <a:srgbClr val="1B1F2A"/>
      </a:dk1>
      <a:lt1>
        <a:srgbClr val="FFFFFF"/>
      </a:lt1>
      <a:dk2>
        <a:srgbClr val="2B3445"/>
      </a:dk2>
      <a:lt2>
        <a:srgbClr val="F1F2F4"/>
      </a:lt2>
      <a:accent1>
        <a:srgbClr val="E0A030"/>
      </a:accent1>
      <a:accent2>
        <a:srgbClr val="2E7D6B"/>
      </a:accent2>
      <a:accent3>
        <a:srgbClr val="C8553D"/>
      </a:accent3>
      <a:accent4>
        <a:srgbClr val="6B7A90"/>
      </a:accent4>
      <a:accent5>
        <a:srgbClr val="CFE3DC"/>
      </a:accent5>
      <a:accent6>
        <a:srgbClr val="F6E3BC"/>
      </a:accent6>
      <a:hlink>
        <a:srgbClr val="2E7D6B"/>
      </a:hlink>
      <a:folHlink>
        <a:srgbClr val="6B7A90"/>
      </a:folHlink>
    </a:clrScheme>
    <a:fontScheme name="Kabukicho to Tokyo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4年で年間家賃収入1.5億円をつくった - 弱者の戦略</dc:title>
  <dc:subject>PptxGenJS Presentation</dc:subject>
  <dc:creator>今宮大介</dc:creator>
  <cp:lastModifiedBy>今宮大介</cp:lastModifiedBy>
  <cp:revision>1</cp:revision>
  <dcterms:created xsi:type="dcterms:W3CDTF">2026-10-23T14:30:29Z</dcterms:created>
  <dcterms:modified xsi:type="dcterms:W3CDTF">2026-10-23T14:30:29Z</dcterms:modified>
</cp:coreProperties>
</file>